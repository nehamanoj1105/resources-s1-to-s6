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3" r:id="rId3"/>
    <p:sldId id="285" r:id="rId4"/>
    <p:sldId id="287" r:id="rId5"/>
    <p:sldId id="274" r:id="rId6"/>
    <p:sldId id="286" r:id="rId7"/>
    <p:sldId id="275"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88" r:id="rId23"/>
    <p:sldId id="289" r:id="rId24"/>
    <p:sldId id="283" r:id="rId25"/>
    <p:sldId id="284" r:id="rId26"/>
    <p:sldId id="29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4" y="60"/>
      </p:cViewPr>
      <p:guideLst/>
    </p:cSldViewPr>
  </p:slideViewPr>
  <p:notesTextViewPr>
    <p:cViewPr>
      <p:scale>
        <a:sx n="1" d="1"/>
        <a:sy n="1" d="1"/>
      </p:scale>
      <p:origin x="0" y="0"/>
    </p:cViewPr>
  </p:notesTextViewPr>
  <p:sorterViewPr>
    <p:cViewPr>
      <p:scale>
        <a:sx n="100" d="100"/>
        <a:sy n="100" d="100"/>
      </p:scale>
      <p:origin x="0" y="-384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7B869-1AB4-4D0A-8883-E1F359F7AD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36BA00-B8CB-4F7A-9703-82E754E0D7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ED4E4C-87D8-4B6E-AC99-59D284A37373}"/>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5" name="Footer Placeholder 4">
            <a:extLst>
              <a:ext uri="{FF2B5EF4-FFF2-40B4-BE49-F238E27FC236}">
                <a16:creationId xmlns:a16="http://schemas.microsoft.com/office/drawing/2014/main" id="{68DE80BE-1561-4E19-84DC-54E913856A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A31F0A-DB03-4F30-86E8-0BA12B7F8954}"/>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2651865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0B96D-4AA9-410C-8C6E-0BE86848F7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69218D-FB96-416F-A24D-88A86BF655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73D5AB-73BF-4DF6-8142-FEA4A8B154E5}"/>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5" name="Footer Placeholder 4">
            <a:extLst>
              <a:ext uri="{FF2B5EF4-FFF2-40B4-BE49-F238E27FC236}">
                <a16:creationId xmlns:a16="http://schemas.microsoft.com/office/drawing/2014/main" id="{5FDBDBFD-E692-48AF-866A-31827986C2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9CDA64-7843-43BA-BFC2-F5C244A5B94E}"/>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1260084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DED6C-19F0-40F0-A7FB-E9721C341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C299E5-256F-47B5-9EE4-FEB523FD89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CE0E29-E8CE-4DD1-BE9B-5BAC812430B4}"/>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5" name="Footer Placeholder 4">
            <a:extLst>
              <a:ext uri="{FF2B5EF4-FFF2-40B4-BE49-F238E27FC236}">
                <a16:creationId xmlns:a16="http://schemas.microsoft.com/office/drawing/2014/main" id="{16B9C8C7-F53B-41A4-B65E-841BC796EA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BA1044-D98C-41AA-A11D-C9D7C36A33DB}"/>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3223786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E6ADA-929D-400A-9611-72727ADFFF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5E5862-C089-4798-99F7-9FC78F8047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D67EAA-5BB5-44EE-BE6B-941ECAA6CC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6C2182-8CEB-4C7F-A4D9-6624D7E10258}"/>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6" name="Footer Placeholder 5">
            <a:extLst>
              <a:ext uri="{FF2B5EF4-FFF2-40B4-BE49-F238E27FC236}">
                <a16:creationId xmlns:a16="http://schemas.microsoft.com/office/drawing/2014/main" id="{161B88CC-04DA-420B-8154-761393421F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90D9A6-99F1-4B28-A5D9-CD692BA75C79}"/>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2467281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92BB0-2F50-4D4C-A979-B58D2B5B23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FFA8D0-551E-4E95-8B99-649CADC0D9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975819-5B8C-455D-A11B-7E586F1FF9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7426F7-4359-4DC0-99F9-8C84687434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7FE294-9717-4B01-8257-EC5865CD69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9A10ED-C3ED-431E-8072-EDCFB98683DF}"/>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8" name="Footer Placeholder 7">
            <a:extLst>
              <a:ext uri="{FF2B5EF4-FFF2-40B4-BE49-F238E27FC236}">
                <a16:creationId xmlns:a16="http://schemas.microsoft.com/office/drawing/2014/main" id="{E5A7B953-00EE-4E7C-AEFF-FBF6CEC9F9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B12C59-06FF-435D-B1D1-8F9567E54CFA}"/>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2877903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5BFD7-AA5E-43EE-9F76-09981F3228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ECDC71-A945-4E15-9A8B-71766AD00FB9}"/>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4" name="Footer Placeholder 3">
            <a:extLst>
              <a:ext uri="{FF2B5EF4-FFF2-40B4-BE49-F238E27FC236}">
                <a16:creationId xmlns:a16="http://schemas.microsoft.com/office/drawing/2014/main" id="{F5DBE08D-D1F4-4B11-9C86-920B1C5574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F19418-D9AD-40F2-9B51-EE75C3BF9D34}"/>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1924282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D4377F-D562-46E1-8687-4091068B1C26}"/>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3" name="Footer Placeholder 2">
            <a:extLst>
              <a:ext uri="{FF2B5EF4-FFF2-40B4-BE49-F238E27FC236}">
                <a16:creationId xmlns:a16="http://schemas.microsoft.com/office/drawing/2014/main" id="{ED523B82-748C-4E0E-8D03-4557CB097B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48BAAA-EFD5-47F8-88FD-5939210297ED}"/>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2570391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148FF-A958-4EF3-945F-A2627FF4BC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DA8F81-163B-4C93-91CD-8493C4039A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D6C2AC-D32B-4C4A-9611-FAAEE45BE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1A509A-BBDE-45A2-82BC-67F00A5DAA8D}"/>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6" name="Footer Placeholder 5">
            <a:extLst>
              <a:ext uri="{FF2B5EF4-FFF2-40B4-BE49-F238E27FC236}">
                <a16:creationId xmlns:a16="http://schemas.microsoft.com/office/drawing/2014/main" id="{EB6E7B7C-233B-415C-AFBA-EAE8FF8401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0FDABE-7D20-4AEC-8F13-34C87549AB5E}"/>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388325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C4D9-4D45-4856-AA62-98E316477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2904B3-AE49-4666-BC45-25A631BCAF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4E9C80-07CE-4396-8448-AD7063A48F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98D1CF-883A-4413-9B6E-6F73BEA5F6E4}"/>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6" name="Footer Placeholder 5">
            <a:extLst>
              <a:ext uri="{FF2B5EF4-FFF2-40B4-BE49-F238E27FC236}">
                <a16:creationId xmlns:a16="http://schemas.microsoft.com/office/drawing/2014/main" id="{68972395-561A-4BB6-A55D-D6DB73B39F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D18D92-89ED-40F2-9C3B-151845BC9E30}"/>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2708073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CEAA-488D-4FB0-8627-2926C2E51E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A76026-BCE5-4185-BEA6-0CCDB30254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69C408-2E6C-4B5E-A03C-DC4AB7E9E278}"/>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5" name="Footer Placeholder 4">
            <a:extLst>
              <a:ext uri="{FF2B5EF4-FFF2-40B4-BE49-F238E27FC236}">
                <a16:creationId xmlns:a16="http://schemas.microsoft.com/office/drawing/2014/main" id="{A6654BB2-51C8-4BCC-B625-DB1D9E3776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5F5E02-3C37-4B55-91EE-3AD45EB6179D}"/>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263316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46180B-F50A-4556-A2B7-3A22A5A913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64A348-CDAD-474C-B548-F54DFF9A26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9EF5FA-0056-4103-9A36-61267206544A}"/>
              </a:ext>
            </a:extLst>
          </p:cNvPr>
          <p:cNvSpPr>
            <a:spLocks noGrp="1"/>
          </p:cNvSpPr>
          <p:nvPr>
            <p:ph type="dt" sz="half" idx="10"/>
          </p:nvPr>
        </p:nvSpPr>
        <p:spPr/>
        <p:txBody>
          <a:bodyPr/>
          <a:lstStyle/>
          <a:p>
            <a:fld id="{4EDFF39D-7276-4B34-A696-E14A9C90F743}" type="datetimeFigureOut">
              <a:rPr lang="en-IN" smtClean="0"/>
              <a:t>06-05-2024</a:t>
            </a:fld>
            <a:endParaRPr lang="en-IN"/>
          </a:p>
        </p:txBody>
      </p:sp>
      <p:sp>
        <p:nvSpPr>
          <p:cNvPr id="5" name="Footer Placeholder 4">
            <a:extLst>
              <a:ext uri="{FF2B5EF4-FFF2-40B4-BE49-F238E27FC236}">
                <a16:creationId xmlns:a16="http://schemas.microsoft.com/office/drawing/2014/main" id="{39BB0A4A-6787-41B2-B260-C86A622330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F74BDD-9A02-498F-A412-F2D444F9EE61}"/>
              </a:ext>
            </a:extLst>
          </p:cNvPr>
          <p:cNvSpPr>
            <a:spLocks noGrp="1"/>
          </p:cNvSpPr>
          <p:nvPr>
            <p:ph type="sldNum" sz="quarter" idx="12"/>
          </p:nvPr>
        </p:nvSpPr>
        <p:spPr/>
        <p:txBody>
          <a:bodyPr/>
          <a:lstStyle/>
          <a:p>
            <a:fld id="{46B52982-19C4-41DC-9E6B-F804D061298F}" type="slidenum">
              <a:rPr lang="en-IN" smtClean="0"/>
              <a:t>‹#›</a:t>
            </a:fld>
            <a:endParaRPr lang="en-IN"/>
          </a:p>
        </p:txBody>
      </p:sp>
    </p:spTree>
    <p:extLst>
      <p:ext uri="{BB962C8B-B14F-4D97-AF65-F5344CB8AC3E}">
        <p14:creationId xmlns:p14="http://schemas.microsoft.com/office/powerpoint/2010/main" val="849693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E53F0-BFCB-43D9-9EEA-479AF9D802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08B6FB-E99B-4E93-9B15-DA655D5291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1DD1AF-9EDF-4444-A802-F27ED8B26B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FF39D-7276-4B34-A696-E14A9C90F743}" type="datetimeFigureOut">
              <a:rPr lang="en-IN" smtClean="0"/>
              <a:t>06-05-2024</a:t>
            </a:fld>
            <a:endParaRPr lang="en-IN"/>
          </a:p>
        </p:txBody>
      </p:sp>
      <p:sp>
        <p:nvSpPr>
          <p:cNvPr id="5" name="Footer Placeholder 4">
            <a:extLst>
              <a:ext uri="{FF2B5EF4-FFF2-40B4-BE49-F238E27FC236}">
                <a16:creationId xmlns:a16="http://schemas.microsoft.com/office/drawing/2014/main" id="{0A619F54-9FEE-4DFC-A6E8-BEAE71D40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F69D1F-7689-4EFF-9960-EC502525C5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B52982-19C4-41DC-9E6B-F804D061298F}" type="slidenum">
              <a:rPr lang="en-IN" smtClean="0"/>
              <a:t>‹#›</a:t>
            </a:fld>
            <a:endParaRPr lang="en-IN"/>
          </a:p>
        </p:txBody>
      </p:sp>
    </p:spTree>
    <p:extLst>
      <p:ext uri="{BB962C8B-B14F-4D97-AF65-F5344CB8AC3E}">
        <p14:creationId xmlns:p14="http://schemas.microsoft.com/office/powerpoint/2010/main" val="1513424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en.wikipedia.org/wiki/File:80486dx2-large.jp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en.wikipedia.org/wiki/8-bit" TargetMode="External"/><Relationship Id="rId2" Type="http://schemas.openxmlformats.org/officeDocument/2006/relationships/hyperlink" Target="http://en.wikipedia.org/wiki/Intel_8008"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677B4-2CB2-CE16-A467-8F095F129613}"/>
              </a:ext>
            </a:extLst>
          </p:cNvPr>
          <p:cNvSpPr>
            <a:spLocks noGrp="1"/>
          </p:cNvSpPr>
          <p:nvPr>
            <p:ph type="ctrTitle"/>
          </p:nvPr>
        </p:nvSpPr>
        <p:spPr/>
        <p:txBody>
          <a:bodyPr/>
          <a:lstStyle/>
          <a:p>
            <a:r>
              <a:rPr lang="en-GB" dirty="0"/>
              <a:t>8085 </a:t>
            </a:r>
            <a:endParaRPr lang="en-IN" dirty="0"/>
          </a:p>
        </p:txBody>
      </p:sp>
      <p:sp>
        <p:nvSpPr>
          <p:cNvPr id="3" name="Subtitle 2">
            <a:extLst>
              <a:ext uri="{FF2B5EF4-FFF2-40B4-BE49-F238E27FC236}">
                <a16:creationId xmlns:a16="http://schemas.microsoft.com/office/drawing/2014/main" id="{CC7DA90F-C1B2-05CB-C59C-1D38DE82F7E9}"/>
              </a:ext>
            </a:extLst>
          </p:cNvPr>
          <p:cNvSpPr>
            <a:spLocks noGrp="1"/>
          </p:cNvSpPr>
          <p:nvPr>
            <p:ph type="subTitle" idx="1"/>
          </p:nvPr>
        </p:nvSpPr>
        <p:spPr/>
        <p:txBody>
          <a:bodyPr/>
          <a:lstStyle/>
          <a:p>
            <a:r>
              <a:rPr lang="en-GB" dirty="0"/>
              <a:t>Microprocessor</a:t>
            </a:r>
            <a:endParaRPr lang="en-IN" dirty="0"/>
          </a:p>
        </p:txBody>
      </p:sp>
    </p:spTree>
    <p:extLst>
      <p:ext uri="{BB962C8B-B14F-4D97-AF65-F5344CB8AC3E}">
        <p14:creationId xmlns:p14="http://schemas.microsoft.com/office/powerpoint/2010/main" val="4255632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AE7C-696C-C57C-42A6-6E9107E0BE18}"/>
              </a:ext>
            </a:extLst>
          </p:cNvPr>
          <p:cNvSpPr>
            <a:spLocks noGrp="1"/>
          </p:cNvSpPr>
          <p:nvPr>
            <p:ph type="title"/>
          </p:nvPr>
        </p:nvSpPr>
        <p:spPr/>
        <p:txBody>
          <a:bodyPr/>
          <a:lstStyle/>
          <a:p>
            <a:r>
              <a:rPr lang="en-GB" dirty="0"/>
              <a:t>Microprocessor</a:t>
            </a:r>
            <a:endParaRPr lang="en-IN" dirty="0"/>
          </a:p>
        </p:txBody>
      </p:sp>
      <p:sp>
        <p:nvSpPr>
          <p:cNvPr id="3" name="Content Placeholder 2">
            <a:extLst>
              <a:ext uri="{FF2B5EF4-FFF2-40B4-BE49-F238E27FC236}">
                <a16:creationId xmlns:a16="http://schemas.microsoft.com/office/drawing/2014/main" id="{86BE2AF8-C729-0196-C120-4CE83EB1387D}"/>
              </a:ext>
            </a:extLst>
          </p:cNvPr>
          <p:cNvSpPr>
            <a:spLocks noGrp="1"/>
          </p:cNvSpPr>
          <p:nvPr>
            <p:ph idx="1"/>
          </p:nvPr>
        </p:nvSpPr>
        <p:spPr/>
        <p:txBody>
          <a:bodyPr>
            <a:normAutofit fontScale="92500" lnSpcReduction="10000"/>
          </a:bodyPr>
          <a:lstStyle/>
          <a:p>
            <a:r>
              <a:rPr lang="en-GB" dirty="0"/>
              <a:t>A silicon chip that contains a CPU. </a:t>
            </a:r>
          </a:p>
          <a:p>
            <a:r>
              <a:rPr lang="en-GB" dirty="0"/>
              <a:t>The terms microprocessor and CPU are used interchangeably. </a:t>
            </a:r>
          </a:p>
          <a:p>
            <a:r>
              <a:rPr lang="en-GB" dirty="0"/>
              <a:t>A microprocessor (sometimes abbreviated µP) is a digital electronic component with miniaturized transistors on a single semiconductor integrated circuit (IC). </a:t>
            </a:r>
          </a:p>
          <a:p>
            <a:r>
              <a:rPr lang="en-GB" dirty="0"/>
              <a:t>One or more microprocessors typically serve as a central processing unit (CPU) in a computer system or handheld device</a:t>
            </a:r>
          </a:p>
          <a:p>
            <a:r>
              <a:rPr lang="en-GB" dirty="0"/>
              <a:t>At the heart of all personal computers and most working stations sits a microprocessor. </a:t>
            </a:r>
          </a:p>
          <a:p>
            <a:r>
              <a:rPr lang="en-GB" dirty="0"/>
              <a:t>Microprocessors also control the logic of almost all digital devices, from clock radios to fuel-injection systems for automobiles</a:t>
            </a:r>
            <a:endParaRPr lang="en-IN" dirty="0"/>
          </a:p>
        </p:txBody>
      </p:sp>
      <p:pic>
        <p:nvPicPr>
          <p:cNvPr id="4" name="Picture 3" descr="Die of an Intel 80486DX2 microprocessor (actual size: 12×6.75 mm) in its packaging">
            <a:hlinkClick r:id="rId2" tooltip="Die of an Intel 80486DX2 microprocessor (actual size: 12×6.75 mm) in its packaging"/>
            <a:extLst>
              <a:ext uri="{FF2B5EF4-FFF2-40B4-BE49-F238E27FC236}">
                <a16:creationId xmlns:a16="http://schemas.microsoft.com/office/drawing/2014/main" id="{29E36649-2FFD-01BA-EBE2-C275810A4F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5639" y="131084"/>
            <a:ext cx="4091448" cy="207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794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70FF-3FF0-832C-51ED-B99E451219E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C9E8CCE-DCC9-ADB1-52AF-F1A767AEEE32}"/>
              </a:ext>
            </a:extLst>
          </p:cNvPr>
          <p:cNvSpPr>
            <a:spLocks noGrp="1"/>
          </p:cNvSpPr>
          <p:nvPr>
            <p:ph idx="1"/>
          </p:nvPr>
        </p:nvSpPr>
        <p:spPr/>
        <p:txBody>
          <a:bodyPr>
            <a:normAutofit fontScale="92500" lnSpcReduction="10000"/>
          </a:bodyPr>
          <a:lstStyle/>
          <a:p>
            <a:pPr>
              <a:lnSpc>
                <a:spcPct val="90000"/>
              </a:lnSpc>
            </a:pPr>
            <a:r>
              <a:rPr lang="en-US" altLang="en-US" dirty="0"/>
              <a:t>Microprocessor is a programmable device</a:t>
            </a:r>
          </a:p>
          <a:p>
            <a:pPr>
              <a:lnSpc>
                <a:spcPct val="90000"/>
              </a:lnSpc>
            </a:pPr>
            <a:r>
              <a:rPr lang="en-US" altLang="en-US" dirty="0"/>
              <a:t>It can be instructed to perform given tasks with in its capability.</a:t>
            </a:r>
          </a:p>
          <a:p>
            <a:pPr>
              <a:lnSpc>
                <a:spcPct val="90000"/>
              </a:lnSpc>
            </a:pPr>
            <a:r>
              <a:rPr lang="en-US" altLang="en-US" dirty="0"/>
              <a:t>The programmer selects instruction from the list and determines the sequence of execution for a given task.</a:t>
            </a:r>
          </a:p>
          <a:p>
            <a:pPr>
              <a:lnSpc>
                <a:spcPct val="90000"/>
              </a:lnSpc>
            </a:pPr>
            <a:r>
              <a:rPr lang="en-US" altLang="en-US" dirty="0"/>
              <a:t>It takes input from the input device and process the input as it behaves like a CPU and gives the output.</a:t>
            </a:r>
          </a:p>
          <a:p>
            <a:pPr>
              <a:lnSpc>
                <a:spcPct val="90000"/>
              </a:lnSpc>
            </a:pPr>
            <a:r>
              <a:rPr lang="en-US" altLang="en-US" dirty="0"/>
              <a:t>Microprocessor can be divided into three segments</a:t>
            </a:r>
          </a:p>
          <a:p>
            <a:pPr marL="0" indent="0">
              <a:lnSpc>
                <a:spcPct val="90000"/>
              </a:lnSpc>
              <a:buNone/>
            </a:pPr>
            <a:r>
              <a:rPr lang="en-US" altLang="en-US" dirty="0"/>
              <a:t>1)ALU</a:t>
            </a:r>
          </a:p>
          <a:p>
            <a:pPr marL="0" indent="0">
              <a:lnSpc>
                <a:spcPct val="90000"/>
              </a:lnSpc>
              <a:buNone/>
            </a:pPr>
            <a:r>
              <a:rPr lang="en-US" altLang="en-US" dirty="0"/>
              <a:t>2)Register array</a:t>
            </a:r>
          </a:p>
          <a:p>
            <a:pPr marL="0" indent="0">
              <a:lnSpc>
                <a:spcPct val="90000"/>
              </a:lnSpc>
              <a:buNone/>
            </a:pPr>
            <a:r>
              <a:rPr lang="en-US" altLang="en-US" dirty="0"/>
              <a:t>3)Control unit</a:t>
            </a:r>
          </a:p>
          <a:p>
            <a:pPr>
              <a:lnSpc>
                <a:spcPct val="90000"/>
              </a:lnSpc>
            </a:pPr>
            <a:endParaRPr lang="en-US" altLang="en-US" dirty="0"/>
          </a:p>
          <a:p>
            <a:endParaRPr lang="en-IN" dirty="0"/>
          </a:p>
        </p:txBody>
      </p:sp>
    </p:spTree>
    <p:extLst>
      <p:ext uri="{BB962C8B-B14F-4D97-AF65-F5344CB8AC3E}">
        <p14:creationId xmlns:p14="http://schemas.microsoft.com/office/powerpoint/2010/main" val="3079131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E1E7B-4B49-90F4-9BEF-B8FEDF75180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8AC437BB-8CAB-BC21-8831-7C1D1757136C}"/>
              </a:ext>
            </a:extLst>
          </p:cNvPr>
          <p:cNvSpPr>
            <a:spLocks noGrp="1"/>
          </p:cNvSpPr>
          <p:nvPr>
            <p:ph idx="1"/>
          </p:nvPr>
        </p:nvSpPr>
        <p:spPr/>
        <p:txBody>
          <a:bodyPr/>
          <a:lstStyle/>
          <a:p>
            <a:endParaRPr lang="en-IN" dirty="0"/>
          </a:p>
        </p:txBody>
      </p:sp>
      <p:sp>
        <p:nvSpPr>
          <p:cNvPr id="4" name="Flowchart: Process 3">
            <a:extLst>
              <a:ext uri="{FF2B5EF4-FFF2-40B4-BE49-F238E27FC236}">
                <a16:creationId xmlns:a16="http://schemas.microsoft.com/office/drawing/2014/main" id="{FE043A1E-D1EE-8AD2-0272-A50ADB08F01C}"/>
              </a:ext>
            </a:extLst>
          </p:cNvPr>
          <p:cNvSpPr/>
          <p:nvPr/>
        </p:nvSpPr>
        <p:spPr>
          <a:xfrm>
            <a:off x="2286000" y="2300748"/>
            <a:ext cx="4085303" cy="3701846"/>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    ALU                               Register Array</a:t>
            </a:r>
          </a:p>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r>
              <a:rPr lang="en-GB" dirty="0">
                <a:solidFill>
                  <a:schemeClr val="tx1"/>
                </a:solidFill>
              </a:rPr>
              <a:t>Control</a:t>
            </a:r>
            <a:endParaRPr lang="en-IN" dirty="0">
              <a:solidFill>
                <a:schemeClr val="tx1"/>
              </a:solidFill>
            </a:endParaRPr>
          </a:p>
        </p:txBody>
      </p:sp>
      <p:cxnSp>
        <p:nvCxnSpPr>
          <p:cNvPr id="6" name="Straight Connector 5">
            <a:extLst>
              <a:ext uri="{FF2B5EF4-FFF2-40B4-BE49-F238E27FC236}">
                <a16:creationId xmlns:a16="http://schemas.microsoft.com/office/drawing/2014/main" id="{1B7F05E6-B38D-9481-C555-1CF01EADD717}"/>
              </a:ext>
            </a:extLst>
          </p:cNvPr>
          <p:cNvCxnSpPr>
            <a:cxnSpLocks/>
          </p:cNvCxnSpPr>
          <p:nvPr/>
        </p:nvCxnSpPr>
        <p:spPr>
          <a:xfrm>
            <a:off x="4262284" y="2300748"/>
            <a:ext cx="0" cy="2300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429B8E-8B9B-4DE0-AFAD-D8294788FEDF}"/>
              </a:ext>
            </a:extLst>
          </p:cNvPr>
          <p:cNvCxnSpPr/>
          <p:nvPr/>
        </p:nvCxnSpPr>
        <p:spPr>
          <a:xfrm>
            <a:off x="2286000" y="4601497"/>
            <a:ext cx="4085303"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Flowchart: Process 9">
            <a:extLst>
              <a:ext uri="{FF2B5EF4-FFF2-40B4-BE49-F238E27FC236}">
                <a16:creationId xmlns:a16="http://schemas.microsoft.com/office/drawing/2014/main" id="{A127F63B-88C5-9C06-903A-838127962209}"/>
              </a:ext>
            </a:extLst>
          </p:cNvPr>
          <p:cNvSpPr/>
          <p:nvPr/>
        </p:nvSpPr>
        <p:spPr>
          <a:xfrm>
            <a:off x="7095202" y="2027898"/>
            <a:ext cx="3229897" cy="1401097"/>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Input/Output</a:t>
            </a:r>
            <a:endParaRPr lang="en-IN" dirty="0"/>
          </a:p>
        </p:txBody>
      </p:sp>
      <p:sp>
        <p:nvSpPr>
          <p:cNvPr id="12" name="Flowchart: Process 11">
            <a:extLst>
              <a:ext uri="{FF2B5EF4-FFF2-40B4-BE49-F238E27FC236}">
                <a16:creationId xmlns:a16="http://schemas.microsoft.com/office/drawing/2014/main" id="{8D0E4313-B6CD-B547-905E-DD9357416E81}"/>
              </a:ext>
            </a:extLst>
          </p:cNvPr>
          <p:cNvSpPr/>
          <p:nvPr/>
        </p:nvSpPr>
        <p:spPr>
          <a:xfrm>
            <a:off x="7247603" y="4775866"/>
            <a:ext cx="3229897" cy="1401097"/>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Memory (RAM/ ROM)</a:t>
            </a:r>
            <a:endParaRPr lang="en-IN" dirty="0">
              <a:solidFill>
                <a:schemeClr val="tx1"/>
              </a:solidFill>
            </a:endParaRPr>
          </a:p>
        </p:txBody>
      </p:sp>
      <p:sp>
        <p:nvSpPr>
          <p:cNvPr id="13" name="Arrow: Quad 12">
            <a:extLst>
              <a:ext uri="{FF2B5EF4-FFF2-40B4-BE49-F238E27FC236}">
                <a16:creationId xmlns:a16="http://schemas.microsoft.com/office/drawing/2014/main" id="{747EF080-AF72-6C0E-B9E4-0D2363C9D2EB}"/>
              </a:ext>
            </a:extLst>
          </p:cNvPr>
          <p:cNvSpPr/>
          <p:nvPr/>
        </p:nvSpPr>
        <p:spPr>
          <a:xfrm>
            <a:off x="6371303" y="3429000"/>
            <a:ext cx="4677697" cy="1346861"/>
          </a:xfrm>
          <a:prstGeom prst="quad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SYSTEM BUS</a:t>
            </a:r>
            <a:endParaRPr lang="en-IN" dirty="0"/>
          </a:p>
        </p:txBody>
      </p:sp>
    </p:spTree>
    <p:extLst>
      <p:ext uri="{BB962C8B-B14F-4D97-AF65-F5344CB8AC3E}">
        <p14:creationId xmlns:p14="http://schemas.microsoft.com/office/powerpoint/2010/main" val="4124714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F1C2-04F4-A96E-F228-37307E2DC9B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C6F2346-8421-CEA0-F09F-02BD3778DC7D}"/>
              </a:ext>
            </a:extLst>
          </p:cNvPr>
          <p:cNvSpPr>
            <a:spLocks noGrp="1"/>
          </p:cNvSpPr>
          <p:nvPr>
            <p:ph idx="1"/>
          </p:nvPr>
        </p:nvSpPr>
        <p:spPr/>
        <p:txBody>
          <a:bodyPr>
            <a:normAutofit/>
          </a:bodyPr>
          <a:lstStyle/>
          <a:p>
            <a:pPr marL="0" indent="0">
              <a:buNone/>
            </a:pPr>
            <a:r>
              <a:rPr lang="en-GB" dirty="0"/>
              <a:t>Three basic characteristics differentiate microprocessors: </a:t>
            </a:r>
          </a:p>
          <a:p>
            <a:pPr marL="0" indent="0">
              <a:buNone/>
            </a:pPr>
            <a:r>
              <a:rPr lang="en-GB" dirty="0"/>
              <a:t>• </a:t>
            </a:r>
            <a:r>
              <a:rPr lang="en-GB" b="1" dirty="0"/>
              <a:t>Instruction set</a:t>
            </a:r>
            <a:r>
              <a:rPr lang="en-GB" dirty="0"/>
              <a:t>: The set of instructions that the microprocessor can execute. </a:t>
            </a:r>
            <a:r>
              <a:rPr lang="en-GB" dirty="0" err="1"/>
              <a:t>Eg.</a:t>
            </a:r>
            <a:r>
              <a:rPr lang="en-GB" dirty="0"/>
              <a:t> RISC or CISC </a:t>
            </a:r>
          </a:p>
          <a:p>
            <a:pPr marL="0" indent="0">
              <a:buNone/>
            </a:pPr>
            <a:r>
              <a:rPr lang="en-GB" dirty="0"/>
              <a:t>• </a:t>
            </a:r>
            <a:r>
              <a:rPr lang="en-GB" b="1" dirty="0"/>
              <a:t>Bandwidth</a:t>
            </a:r>
            <a:r>
              <a:rPr lang="en-GB" dirty="0"/>
              <a:t>: The number of bits processed in a single instruction. </a:t>
            </a:r>
          </a:p>
          <a:p>
            <a:pPr marL="0" indent="0">
              <a:buNone/>
            </a:pPr>
            <a:r>
              <a:rPr lang="en-GB" dirty="0"/>
              <a:t>• </a:t>
            </a:r>
            <a:r>
              <a:rPr lang="en-GB" b="1" dirty="0"/>
              <a:t>Clock speed</a:t>
            </a:r>
            <a:r>
              <a:rPr lang="en-GB" dirty="0"/>
              <a:t>: Given in megahertz (MHz), the clock speed determines how many instructions per second the processor can execute.</a:t>
            </a:r>
          </a:p>
          <a:p>
            <a:pPr marL="0" indent="0">
              <a:buNone/>
            </a:pPr>
            <a:endParaRPr lang="en-GB" dirty="0"/>
          </a:p>
        </p:txBody>
      </p:sp>
    </p:spTree>
    <p:extLst>
      <p:ext uri="{BB962C8B-B14F-4D97-AF65-F5344CB8AC3E}">
        <p14:creationId xmlns:p14="http://schemas.microsoft.com/office/powerpoint/2010/main" val="3030872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E117-38D8-3960-5B4F-5D28A8CA5E07}"/>
              </a:ext>
            </a:extLst>
          </p:cNvPr>
          <p:cNvSpPr>
            <a:spLocks noGrp="1"/>
          </p:cNvSpPr>
          <p:nvPr>
            <p:ph type="title"/>
          </p:nvPr>
        </p:nvSpPr>
        <p:spPr/>
        <p:txBody>
          <a:bodyPr/>
          <a:lstStyle/>
          <a:p>
            <a:r>
              <a:rPr lang="en-GB" dirty="0"/>
              <a:t>History of 8085</a:t>
            </a:r>
            <a:endParaRPr lang="en-IN" dirty="0"/>
          </a:p>
        </p:txBody>
      </p:sp>
      <p:sp>
        <p:nvSpPr>
          <p:cNvPr id="3" name="Content Placeholder 2">
            <a:extLst>
              <a:ext uri="{FF2B5EF4-FFF2-40B4-BE49-F238E27FC236}">
                <a16:creationId xmlns:a16="http://schemas.microsoft.com/office/drawing/2014/main" id="{4AD834C6-E008-720E-841D-5B74E837884B}"/>
              </a:ext>
            </a:extLst>
          </p:cNvPr>
          <p:cNvSpPr>
            <a:spLocks noGrp="1"/>
          </p:cNvSpPr>
          <p:nvPr>
            <p:ph idx="1"/>
          </p:nvPr>
        </p:nvSpPr>
        <p:spPr/>
        <p:txBody>
          <a:bodyPr/>
          <a:lstStyle/>
          <a:p>
            <a:r>
              <a:rPr lang="en-US" altLang="en-US" dirty="0"/>
              <a:t>Intel's 4004 is considered the first microprocessor (1971) .</a:t>
            </a:r>
          </a:p>
          <a:p>
            <a:r>
              <a:rPr lang="en-US" altLang="en-US" dirty="0"/>
              <a:t>It was later followed in 1972 by the </a:t>
            </a:r>
            <a:r>
              <a:rPr lang="en-US" altLang="en-US" dirty="0">
                <a:hlinkClick r:id="rId2" tooltip="Intel 8008"/>
              </a:rPr>
              <a:t>8008</a:t>
            </a:r>
            <a:r>
              <a:rPr lang="en-US" altLang="en-US" dirty="0"/>
              <a:t>, the world's first </a:t>
            </a:r>
            <a:r>
              <a:rPr lang="en-US" altLang="en-US" dirty="0">
                <a:hlinkClick r:id="rId3" tooltip="8-bit"/>
              </a:rPr>
              <a:t>8-bit</a:t>
            </a:r>
            <a:r>
              <a:rPr lang="en-US" altLang="en-US" dirty="0"/>
              <a:t> microprocessor.</a:t>
            </a:r>
          </a:p>
          <a:p>
            <a:r>
              <a:rPr lang="en-US" altLang="en-US" dirty="0"/>
              <a:t>Then 8080 microprocessor evolved in 1974.</a:t>
            </a:r>
          </a:p>
          <a:p>
            <a:r>
              <a:rPr lang="en-US" altLang="en-US" dirty="0"/>
              <a:t>Then comes 8085 in the year 1976</a:t>
            </a:r>
          </a:p>
          <a:p>
            <a:endParaRPr lang="en-US" altLang="en-US" dirty="0"/>
          </a:p>
          <a:p>
            <a:pPr>
              <a:buFont typeface="Wingdings" panose="05000000000000000000" pitchFamily="2" charset="2"/>
              <a:buNone/>
            </a:pPr>
            <a:endParaRPr lang="en-US" altLang="en-US" dirty="0"/>
          </a:p>
          <a:p>
            <a:endParaRPr lang="en-IN" dirty="0"/>
          </a:p>
        </p:txBody>
      </p:sp>
    </p:spTree>
    <p:extLst>
      <p:ext uri="{BB962C8B-B14F-4D97-AF65-F5344CB8AC3E}">
        <p14:creationId xmlns:p14="http://schemas.microsoft.com/office/powerpoint/2010/main" val="265177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0A6D-81B0-F7FC-D022-202064BC5341}"/>
              </a:ext>
            </a:extLst>
          </p:cNvPr>
          <p:cNvSpPr>
            <a:spLocks noGrp="1"/>
          </p:cNvSpPr>
          <p:nvPr>
            <p:ph type="title"/>
          </p:nvPr>
        </p:nvSpPr>
        <p:spPr/>
        <p:txBody>
          <a:bodyPr/>
          <a:lstStyle/>
          <a:p>
            <a:r>
              <a:rPr lang="en-GB" dirty="0"/>
              <a:t>Salient features of 8085</a:t>
            </a:r>
            <a:endParaRPr lang="en-IN" dirty="0"/>
          </a:p>
        </p:txBody>
      </p:sp>
      <p:sp>
        <p:nvSpPr>
          <p:cNvPr id="3" name="Content Placeholder 2">
            <a:extLst>
              <a:ext uri="{FF2B5EF4-FFF2-40B4-BE49-F238E27FC236}">
                <a16:creationId xmlns:a16="http://schemas.microsoft.com/office/drawing/2014/main" id="{CF484E1C-CCFC-16B4-ADBD-6C810F4079CF}"/>
              </a:ext>
            </a:extLst>
          </p:cNvPr>
          <p:cNvSpPr>
            <a:spLocks noGrp="1"/>
          </p:cNvSpPr>
          <p:nvPr>
            <p:ph idx="1"/>
          </p:nvPr>
        </p:nvSpPr>
        <p:spPr/>
        <p:txBody>
          <a:bodyPr>
            <a:normAutofit fontScale="85000" lnSpcReduction="20000"/>
          </a:bodyPr>
          <a:lstStyle/>
          <a:p>
            <a:pPr marL="0" indent="0">
              <a:buNone/>
            </a:pPr>
            <a:r>
              <a:rPr lang="en-GB" dirty="0"/>
              <a:t>• It is a 8-bit microprocessor. </a:t>
            </a:r>
          </a:p>
          <a:p>
            <a:pPr marL="0" indent="0">
              <a:buNone/>
            </a:pPr>
            <a:r>
              <a:rPr lang="en-GB" dirty="0"/>
              <a:t>• It is manufactured with N-MOS technology. </a:t>
            </a:r>
          </a:p>
          <a:p>
            <a:pPr marL="0" indent="0">
              <a:buNone/>
            </a:pPr>
            <a:r>
              <a:rPr lang="en-GB" dirty="0"/>
              <a:t>• It has a 16-bit address bus and hence can address up to 2</a:t>
            </a:r>
            <a:r>
              <a:rPr lang="en-GB" baseline="30000" dirty="0"/>
              <a:t>16</a:t>
            </a:r>
            <a:r>
              <a:rPr lang="en-GB" dirty="0"/>
              <a:t> = 65536 bytes (64KB) memory locations through A0-A15. </a:t>
            </a:r>
          </a:p>
          <a:p>
            <a:pPr marL="0" indent="0">
              <a:buNone/>
            </a:pPr>
            <a:r>
              <a:rPr lang="en-GB" dirty="0"/>
              <a:t>• The first 8 lines of the address bus and 8 lines of the data bus are multiplexed AD0 – AD7. • Data bus is a group of 8 lines D0 – D7. </a:t>
            </a:r>
          </a:p>
          <a:p>
            <a:pPr marL="0" indent="0">
              <a:buNone/>
            </a:pPr>
            <a:r>
              <a:rPr lang="en-GB" dirty="0"/>
              <a:t>• It supports external interrupt request. </a:t>
            </a:r>
          </a:p>
          <a:p>
            <a:pPr marL="0" indent="0">
              <a:buNone/>
            </a:pPr>
            <a:r>
              <a:rPr lang="en-GB" dirty="0"/>
              <a:t>• A 16 bit program counter (PC) </a:t>
            </a:r>
          </a:p>
          <a:p>
            <a:pPr marL="0" indent="0">
              <a:buNone/>
            </a:pPr>
            <a:r>
              <a:rPr lang="en-GB" dirty="0"/>
              <a:t>• A 16 bit stack pointer (SP) </a:t>
            </a:r>
          </a:p>
          <a:p>
            <a:pPr marL="0" indent="0">
              <a:buNone/>
            </a:pPr>
            <a:r>
              <a:rPr lang="en-GB" dirty="0"/>
              <a:t>• Six 8-bit general purpose register arranged in pairs: BC, DE, HL. </a:t>
            </a:r>
          </a:p>
          <a:p>
            <a:pPr marL="0" indent="0">
              <a:buNone/>
            </a:pPr>
            <a:r>
              <a:rPr lang="en-GB" dirty="0"/>
              <a:t>• It requires a signal +5V power supply and operates at 5 MHZ clock speed. </a:t>
            </a:r>
          </a:p>
          <a:p>
            <a:pPr marL="0" indent="0">
              <a:buNone/>
            </a:pPr>
            <a:r>
              <a:rPr lang="en-GB" dirty="0"/>
              <a:t>• It is enclosed with 40 pins DIP (Dual in line package).</a:t>
            </a:r>
            <a:endParaRPr lang="en-IN" dirty="0"/>
          </a:p>
        </p:txBody>
      </p:sp>
    </p:spTree>
    <p:extLst>
      <p:ext uri="{BB962C8B-B14F-4D97-AF65-F5344CB8AC3E}">
        <p14:creationId xmlns:p14="http://schemas.microsoft.com/office/powerpoint/2010/main" val="2085355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B0983B-F32F-4C51-8C85-EC74166C5205}"/>
              </a:ext>
            </a:extLst>
          </p:cNvPr>
          <p:cNvSpPr txBox="1"/>
          <p:nvPr/>
        </p:nvSpPr>
        <p:spPr>
          <a:xfrm>
            <a:off x="3739661" y="49237"/>
            <a:ext cx="4712677"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Internal Architecture of 8085</a:t>
            </a:r>
            <a:endParaRPr lang="en-IN" sz="2800" b="1" dirty="0">
              <a:latin typeface="Times New Roman" panose="02020603050405020304" pitchFamily="18" charset="0"/>
              <a:cs typeface="Times New Roman" panose="02020603050405020304" pitchFamily="18" charset="0"/>
            </a:endParaRPr>
          </a:p>
        </p:txBody>
      </p:sp>
      <p:pic>
        <p:nvPicPr>
          <p:cNvPr id="1026" name="Picture 2" descr="8085 architecture">
            <a:extLst>
              <a:ext uri="{FF2B5EF4-FFF2-40B4-BE49-F238E27FC236}">
                <a16:creationId xmlns:a16="http://schemas.microsoft.com/office/drawing/2014/main" id="{D26991FC-787F-5D89-5950-3F5A015EC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89" t="2285" r="15877" b="4704"/>
          <a:stretch/>
        </p:blipFill>
        <p:spPr bwMode="auto">
          <a:xfrm>
            <a:off x="1106129" y="572457"/>
            <a:ext cx="9763432" cy="5735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71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34EAA3-D9B1-4598-AEC1-1CB93D152986}"/>
              </a:ext>
            </a:extLst>
          </p:cNvPr>
          <p:cNvSpPr txBox="1"/>
          <p:nvPr/>
        </p:nvSpPr>
        <p:spPr>
          <a:xfrm>
            <a:off x="1010529" y="1546753"/>
            <a:ext cx="10170941" cy="4119333"/>
          </a:xfrm>
          <a:prstGeom prst="rect">
            <a:avLst/>
          </a:prstGeom>
          <a:noFill/>
        </p:spPr>
        <p:txBody>
          <a:bodyPr wrap="square">
            <a:spAutoFit/>
          </a:bodyPr>
          <a:lstStyle/>
          <a:p>
            <a:pPr algn="just">
              <a:lnSpc>
                <a:spcPct val="115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The internal architecture of the 8085 microprocessor determines how and what operations can be performed with the data operations are,</a:t>
            </a: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Store 8-bit data.</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Perform arithmetic and logical operations.</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Test for conditions.</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Sequence the execution of instructions.</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Store data temporarily in read write memory called stack.</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960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0003B7-EF02-472C-BD12-A2E34BCA199F}"/>
              </a:ext>
            </a:extLst>
          </p:cNvPr>
          <p:cNvSpPr txBox="1"/>
          <p:nvPr/>
        </p:nvSpPr>
        <p:spPr>
          <a:xfrm>
            <a:off x="848747" y="1830672"/>
            <a:ext cx="10494499" cy="3837333"/>
          </a:xfrm>
          <a:prstGeom prst="rect">
            <a:avLst/>
          </a:prstGeom>
          <a:noFill/>
        </p:spPr>
        <p:txBody>
          <a:bodyPr wrap="square">
            <a:spAutoFit/>
          </a:bodyPr>
          <a:lstStyle/>
          <a:p>
            <a:pPr marL="285750" indent="-28575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8085 has 6 general purpose registers to store 8-bit data during program execution. </a:t>
            </a:r>
          </a:p>
          <a:p>
            <a:pPr marL="285750" indent="-28575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These 6 registers are identified as B, C, D, E, H and L. </a:t>
            </a:r>
          </a:p>
          <a:p>
            <a:pPr marL="285750" indent="-28575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They can be combined as register pairs BC, DE and HL to perform some 16-bit operations. </a:t>
            </a:r>
          </a:p>
          <a:p>
            <a:pPr marL="285750" indent="-28575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These registers are programmable. It can use to load or transfer data from the registers by using instructions.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73EE5F0-C28E-452B-8C7B-AD4AADF00E42}"/>
              </a:ext>
            </a:extLst>
          </p:cNvPr>
          <p:cNvSpPr txBox="1"/>
          <p:nvPr/>
        </p:nvSpPr>
        <p:spPr>
          <a:xfrm>
            <a:off x="5165771" y="924524"/>
            <a:ext cx="1860453" cy="584775"/>
          </a:xfrm>
          <a:prstGeom prst="rect">
            <a:avLst/>
          </a:prstGeom>
          <a:noFill/>
        </p:spPr>
        <p:txBody>
          <a:bodyPr wrap="square">
            <a:spAutoFit/>
          </a:bodyPr>
          <a:lstStyle/>
          <a:p>
            <a:r>
              <a:rPr lang="en-IN" sz="3200" b="1" dirty="0">
                <a:latin typeface="Times New Roman" panose="02020603050405020304" pitchFamily="18" charset="0"/>
                <a:ea typeface="Calibri" panose="020F0502020204030204" pitchFamily="34" charset="0"/>
                <a:cs typeface="Times New Roman" panose="02020603050405020304" pitchFamily="18" charset="0"/>
              </a:rPr>
              <a:t>Registers</a:t>
            </a:r>
            <a:r>
              <a:rPr lang="en-IN"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 </a:t>
            </a:r>
            <a:endParaRPr lang="en-IN" sz="3200" b="1" dirty="0">
              <a:solidFill>
                <a:srgbClr val="FF0000"/>
              </a:solidFill>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A568931E-C090-469B-C7CF-DC32285069F5}"/>
              </a:ext>
            </a:extLst>
          </p:cNvPr>
          <p:cNvPicPr>
            <a:picLocks noChangeAspect="1"/>
          </p:cNvPicPr>
          <p:nvPr/>
        </p:nvPicPr>
        <p:blipFill rotWithShape="1">
          <a:blip r:embed="rId2"/>
          <a:srcRect t="23932"/>
          <a:stretch/>
        </p:blipFill>
        <p:spPr>
          <a:xfrm>
            <a:off x="5762625" y="5500203"/>
            <a:ext cx="6429375" cy="1347649"/>
          </a:xfrm>
          <a:prstGeom prst="rect">
            <a:avLst/>
          </a:prstGeom>
        </p:spPr>
      </p:pic>
    </p:spTree>
    <p:extLst>
      <p:ext uri="{BB962C8B-B14F-4D97-AF65-F5344CB8AC3E}">
        <p14:creationId xmlns:p14="http://schemas.microsoft.com/office/powerpoint/2010/main" val="3207099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8AC120-9599-44BF-A8B3-47E2F48D73DC}"/>
              </a:ext>
            </a:extLst>
          </p:cNvPr>
          <p:cNvSpPr txBox="1"/>
          <p:nvPr/>
        </p:nvSpPr>
        <p:spPr>
          <a:xfrm>
            <a:off x="858130" y="1941400"/>
            <a:ext cx="10213144" cy="3444404"/>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accumulator (A) is an 8-bit register that is part of ALU. </a:t>
            </a:r>
          </a:p>
          <a:p>
            <a:pPr marL="457200" indent="-45720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It is used to store 8-bit data and to perform ALU operations. </a:t>
            </a:r>
          </a:p>
          <a:p>
            <a:pPr marL="457200" indent="-45720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result of an operation is stored in Accumulator. </a:t>
            </a:r>
          </a:p>
          <a:p>
            <a:pPr marL="457200" indent="-45720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Accumulator is identified as register A. </a:t>
            </a:r>
          </a:p>
          <a:p>
            <a:pPr marL="457200" indent="-457200" algn="just">
              <a:lnSpc>
                <a:spcPct val="115000"/>
              </a:lnSpc>
              <a:spcAft>
                <a:spcPts val="800"/>
              </a:spcAft>
              <a:buFont typeface="Wingdings" panose="05000000000000000000" pitchFamily="2" charset="2"/>
              <a:buChar char="Ø"/>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data on which operations is to be performed is operand. One of the operands must be Accumulator.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276B77B-65F4-4B1A-A7EF-E00B0E49906C}"/>
              </a:ext>
            </a:extLst>
          </p:cNvPr>
          <p:cNvSpPr txBox="1"/>
          <p:nvPr/>
        </p:nvSpPr>
        <p:spPr>
          <a:xfrm>
            <a:off x="4891454" y="778970"/>
            <a:ext cx="2409092" cy="523220"/>
          </a:xfrm>
          <a:prstGeom prst="rect">
            <a:avLst/>
          </a:prstGeom>
          <a:noFill/>
        </p:spPr>
        <p:txBody>
          <a:bodyPr wrap="square">
            <a:spAutoFit/>
          </a:bodyPr>
          <a:lstStyle/>
          <a:p>
            <a:r>
              <a:rPr lang="en-IN" sz="2800" dirty="0">
                <a:latin typeface="Times New Roman" panose="02020603050405020304" pitchFamily="18" charset="0"/>
                <a:ea typeface="Calibri" panose="020F0502020204030204" pitchFamily="34" charset="0"/>
                <a:cs typeface="Times New Roman" panose="02020603050405020304" pitchFamily="18" charset="0"/>
              </a:rPr>
              <a:t>Accumulator </a:t>
            </a:r>
            <a:endParaRPr lang="en-IN" sz="2800" dirty="0"/>
          </a:p>
        </p:txBody>
      </p:sp>
    </p:spTree>
    <p:extLst>
      <p:ext uri="{BB962C8B-B14F-4D97-AF65-F5344CB8AC3E}">
        <p14:creationId xmlns:p14="http://schemas.microsoft.com/office/powerpoint/2010/main" val="175554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B858BD-C487-4DCB-9F27-9A16A0B477AB}"/>
              </a:ext>
            </a:extLst>
          </p:cNvPr>
          <p:cNvSpPr txBox="1"/>
          <p:nvPr/>
        </p:nvSpPr>
        <p:spPr>
          <a:xfrm>
            <a:off x="637735" y="1622731"/>
            <a:ext cx="10916530" cy="4427109"/>
          </a:xfrm>
          <a:prstGeom prst="rect">
            <a:avLst/>
          </a:prstGeom>
          <a:noFill/>
        </p:spPr>
        <p:txBody>
          <a:bodyPr wrap="square">
            <a:spAutoFit/>
          </a:bodyPr>
          <a:lstStyle/>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16-bit register deals with sequencing the execution of instructions.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register is a memory pointer. Memory locations have 16-bit address.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microprocessor uses this register to sequence the execution of the instructions.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function of the program counter is to point to the memory address from which the next byte is to be fetched.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When a byte is being fetched, the program counter is automatically incremented by one to point to the next memory location.</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9B334042-6006-4A86-A440-58428A052D91}"/>
              </a:ext>
            </a:extLst>
          </p:cNvPr>
          <p:cNvSpPr txBox="1"/>
          <p:nvPr/>
        </p:nvSpPr>
        <p:spPr>
          <a:xfrm>
            <a:off x="3948918" y="515772"/>
            <a:ext cx="4294163" cy="584775"/>
          </a:xfrm>
          <a:prstGeom prst="rect">
            <a:avLst/>
          </a:prstGeom>
          <a:noFill/>
        </p:spPr>
        <p:txBody>
          <a:bodyPr wrap="square">
            <a:spAutoFit/>
          </a:bodyPr>
          <a:lstStyle/>
          <a:p>
            <a:r>
              <a:rPr lang="en-US" sz="3200" b="1" dirty="0">
                <a:latin typeface="Times New Roman" panose="02020603050405020304" pitchFamily="18" charset="0"/>
                <a:ea typeface="Times New Roman" panose="02020603050405020304" pitchFamily="18" charset="0"/>
              </a:rPr>
              <a:t>Program Counter (PC) </a:t>
            </a:r>
            <a:endParaRPr lang="en-IN" sz="3200" b="1" dirty="0"/>
          </a:p>
        </p:txBody>
      </p:sp>
    </p:spTree>
    <p:extLst>
      <p:ext uri="{BB962C8B-B14F-4D97-AF65-F5344CB8AC3E}">
        <p14:creationId xmlns:p14="http://schemas.microsoft.com/office/powerpoint/2010/main" val="229166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43A022-46A3-4789-B05E-8C1475832C1F}"/>
              </a:ext>
            </a:extLst>
          </p:cNvPr>
          <p:cNvSpPr txBox="1"/>
          <p:nvPr/>
        </p:nvSpPr>
        <p:spPr>
          <a:xfrm>
            <a:off x="1125414" y="2150068"/>
            <a:ext cx="10016197" cy="2735364"/>
          </a:xfrm>
          <a:prstGeom prst="rect">
            <a:avLst/>
          </a:prstGeom>
          <a:noFill/>
        </p:spPr>
        <p:txBody>
          <a:bodyPr wrap="square">
            <a:spAutoFit/>
          </a:bodyPr>
          <a:lstStyle/>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stack pointer is also a 16-bit register, used as a memory pointer.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It points to a memory location in R/W memory, called stack.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beginning of the stack is defined by loading 16- bit address in the stack pointer.</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26697F03-981D-49A2-9613-B5F19E9DCA10}"/>
              </a:ext>
            </a:extLst>
          </p:cNvPr>
          <p:cNvSpPr txBox="1"/>
          <p:nvPr/>
        </p:nvSpPr>
        <p:spPr>
          <a:xfrm>
            <a:off x="4406118" y="835241"/>
            <a:ext cx="3379763"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Stack Pointer (SP) </a:t>
            </a:r>
            <a:endParaRPr lang="en-IN" sz="3200" dirty="0"/>
          </a:p>
        </p:txBody>
      </p:sp>
    </p:spTree>
    <p:extLst>
      <p:ext uri="{BB962C8B-B14F-4D97-AF65-F5344CB8AC3E}">
        <p14:creationId xmlns:p14="http://schemas.microsoft.com/office/powerpoint/2010/main" val="409155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E7C8DE-6841-4C64-A8B6-CDB4AFCC3C6E}"/>
                  </a:ext>
                </a:extLst>
              </p:cNvPr>
              <p:cNvSpPr txBox="1"/>
              <p:nvPr/>
            </p:nvSpPr>
            <p:spPr>
              <a:xfrm>
                <a:off x="1214509" y="2112760"/>
                <a:ext cx="9762979" cy="3183372"/>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This unit synchronizes all the microprocessor operations with the clock and generates the control signal necessary for communication between the microprocessor and peripherals.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The control signals are similar to a sync pulse in an oscilloscope. The </a:t>
                </a:r>
                <a14:m>
                  <m:oMath xmlns:m="http://schemas.openxmlformats.org/officeDocument/2006/math">
                    <m:bar>
                      <m:barPr>
                        <m:pos m:val="top"/>
                        <m:ctrlPr>
                          <a:rPr lang="en-IN" sz="2800" i="1">
                            <a:effectLst/>
                            <a:latin typeface="Cambria Math" panose="02040503050406030204" pitchFamily="18" charset="0"/>
                            <a:ea typeface="Times New Roman" panose="02020603050405020304" pitchFamily="18" charset="0"/>
                          </a:rPr>
                        </m:ctrlPr>
                      </m:barPr>
                      <m:e>
                        <m:r>
                          <a:rPr lang="en-US" sz="2800" i="1">
                            <a:effectLst/>
                            <a:latin typeface="Cambria Math" panose="02040503050406030204" pitchFamily="18" charset="0"/>
                            <a:ea typeface="Times New Roman" panose="02020603050405020304" pitchFamily="18" charset="0"/>
                          </a:rPr>
                          <m:t>𝑅𝐷</m:t>
                        </m:r>
                      </m:e>
                    </m:bar>
                  </m:oMath>
                </a14:m>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and </a:t>
                </a:r>
                <a14:m>
                  <m:oMath xmlns:m="http://schemas.openxmlformats.org/officeDocument/2006/math">
                    <m:bar>
                      <m:barPr>
                        <m:pos m:val="top"/>
                        <m:ctrlPr>
                          <a:rPr lang="en-IN" sz="2800" i="1">
                            <a:effectLst/>
                            <a:latin typeface="Cambria Math" panose="02040503050406030204" pitchFamily="18" charset="0"/>
                            <a:ea typeface="Times New Roman" panose="02020603050405020304" pitchFamily="18" charset="0"/>
                          </a:rPr>
                        </m:ctrlPr>
                      </m:barPr>
                      <m:e>
                        <m:r>
                          <a:rPr lang="en-US" sz="2800" i="1">
                            <a:effectLst/>
                            <a:latin typeface="Cambria Math" panose="02040503050406030204" pitchFamily="18" charset="0"/>
                            <a:ea typeface="Times New Roman" panose="02020603050405020304" pitchFamily="18" charset="0"/>
                          </a:rPr>
                          <m:t>𝑊𝑅</m:t>
                        </m:r>
                      </m:e>
                    </m:bar>
                  </m:oMath>
                </a14:m>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signals are sync pulses indicating the availability of data on the data bus.</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BFE7C8DE-6841-4C64-A8B6-CDB4AFCC3C6E}"/>
                  </a:ext>
                </a:extLst>
              </p:cNvPr>
              <p:cNvSpPr txBox="1">
                <a:spLocks noRot="1" noChangeAspect="1" noMove="1" noResize="1" noEditPoints="1" noAdjustHandles="1" noChangeArrowheads="1" noChangeShapeType="1" noTextEdit="1"/>
              </p:cNvSpPr>
              <p:nvPr/>
            </p:nvSpPr>
            <p:spPr>
              <a:xfrm>
                <a:off x="1214509" y="2112760"/>
                <a:ext cx="9762979" cy="3183372"/>
              </a:xfrm>
              <a:prstGeom prst="rect">
                <a:avLst/>
              </a:prstGeom>
              <a:blipFill>
                <a:blip r:embed="rId2"/>
                <a:stretch>
                  <a:fillRect l="-1061" t="-1341" r="-1248" b="-4406"/>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07801B4F-F606-46AC-8633-1B2F67B3B45E}"/>
              </a:ext>
            </a:extLst>
          </p:cNvPr>
          <p:cNvSpPr txBox="1"/>
          <p:nvPr/>
        </p:nvSpPr>
        <p:spPr>
          <a:xfrm>
            <a:off x="3850442" y="778972"/>
            <a:ext cx="4491111"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Timing and control unit </a:t>
            </a:r>
            <a:endParaRPr lang="en-IN" sz="3200" dirty="0"/>
          </a:p>
        </p:txBody>
      </p:sp>
    </p:spTree>
    <p:extLst>
      <p:ext uri="{BB962C8B-B14F-4D97-AF65-F5344CB8AC3E}">
        <p14:creationId xmlns:p14="http://schemas.microsoft.com/office/powerpoint/2010/main" val="44377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468BA-740C-4CBA-AF32-2A0D4EB18EB4}"/>
              </a:ext>
            </a:extLst>
          </p:cNvPr>
          <p:cNvSpPr txBox="1"/>
          <p:nvPr/>
        </p:nvSpPr>
        <p:spPr>
          <a:xfrm>
            <a:off x="1073833" y="1919442"/>
            <a:ext cx="10044333" cy="3828997"/>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instruction register and decoder are part of the ALU.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When an instruction is fetched from the memory it is loaded in to the instruction register.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decoder decodes the instruction and establishes the sequence of events to follow.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instruction register is not programmable and cannot be accessed by any instruction.</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1DC93FB5-9A23-4364-B70C-C999EF16A5D4}"/>
              </a:ext>
            </a:extLst>
          </p:cNvPr>
          <p:cNvSpPr txBox="1"/>
          <p:nvPr/>
        </p:nvSpPr>
        <p:spPr>
          <a:xfrm>
            <a:off x="3140026" y="793038"/>
            <a:ext cx="5911948"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Instruction register and Decoder </a:t>
            </a:r>
            <a:endParaRPr lang="en-IN" sz="3200" dirty="0"/>
          </a:p>
        </p:txBody>
      </p:sp>
    </p:spTree>
    <p:extLst>
      <p:ext uri="{BB962C8B-B14F-4D97-AF65-F5344CB8AC3E}">
        <p14:creationId xmlns:p14="http://schemas.microsoft.com/office/powerpoint/2010/main" val="3408013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D49B1B-EE2D-4B79-8F3B-76E58A915AB4}"/>
              </a:ext>
            </a:extLst>
          </p:cNvPr>
          <p:cNvSpPr txBox="1"/>
          <p:nvPr/>
        </p:nvSpPr>
        <p:spPr>
          <a:xfrm>
            <a:off x="947225" y="2186728"/>
            <a:ext cx="10297550" cy="3128292"/>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There are two additional registers called temporary registers W and Z, which are included in the register array along with programmable registers namely B, C, D, E, H, L, SP and PC.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These registers are used to hold 8-bit data during the execution of instructions. However, they are used internally by microprocessor, they are available to the program.</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2F65D806-3CB6-4982-BA16-7B8D67CFB795}"/>
              </a:ext>
            </a:extLst>
          </p:cNvPr>
          <p:cNvSpPr txBox="1"/>
          <p:nvPr/>
        </p:nvSpPr>
        <p:spPr>
          <a:xfrm>
            <a:off x="4659337" y="961850"/>
            <a:ext cx="2873326"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Register Array </a:t>
            </a:r>
            <a:endParaRPr lang="en-IN" sz="3200" dirty="0"/>
          </a:p>
        </p:txBody>
      </p:sp>
    </p:spTree>
    <p:extLst>
      <p:ext uri="{BB962C8B-B14F-4D97-AF65-F5344CB8AC3E}">
        <p14:creationId xmlns:p14="http://schemas.microsoft.com/office/powerpoint/2010/main" val="241334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96F8BB-AD9A-4948-9F9C-1352A4506CB4}"/>
              </a:ext>
            </a:extLst>
          </p:cNvPr>
          <p:cNvSpPr txBox="1"/>
          <p:nvPr/>
        </p:nvSpPr>
        <p:spPr>
          <a:xfrm>
            <a:off x="914397" y="1768580"/>
            <a:ext cx="10363201" cy="3828997"/>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unit is used to select a register out of all the available registers.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unit behaves as Multiplexer (MUX) when data going from the register to the internal data bus.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It behaves as Demultiplexer(DEMUX) when data is coming to a register from the internal data bus of the processor.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register select will behave as the function of selection lines at the Mux / </a:t>
            </a:r>
            <a:r>
              <a:rPr lang="en-US" sz="2800" dirty="0" err="1">
                <a:effectLst/>
                <a:latin typeface="Times New Roman" panose="02020603050405020304" pitchFamily="18" charset="0"/>
                <a:ea typeface="Times New Roman" panose="02020603050405020304" pitchFamily="18" charset="0"/>
              </a:rPr>
              <a:t>Demux</a:t>
            </a:r>
            <a:r>
              <a:rPr lang="en-US" sz="2800" dirty="0">
                <a:effectLst/>
                <a:latin typeface="Times New Roman" panose="02020603050405020304" pitchFamily="18" charset="0"/>
                <a:ea typeface="Times New Roman" panose="02020603050405020304" pitchFamily="18" charset="0"/>
              </a:rPr>
              <a:t>.</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A7D8B920-C0F1-43EC-9965-BD67690640A2}"/>
              </a:ext>
            </a:extLst>
          </p:cNvPr>
          <p:cNvSpPr txBox="1"/>
          <p:nvPr/>
        </p:nvSpPr>
        <p:spPr>
          <a:xfrm>
            <a:off x="4159932" y="778970"/>
            <a:ext cx="3872133"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MUX / DEMUX unit </a:t>
            </a:r>
            <a:endParaRPr lang="en-IN" sz="3200" dirty="0"/>
          </a:p>
        </p:txBody>
      </p:sp>
    </p:spTree>
    <p:extLst>
      <p:ext uri="{BB962C8B-B14F-4D97-AF65-F5344CB8AC3E}">
        <p14:creationId xmlns:p14="http://schemas.microsoft.com/office/powerpoint/2010/main" val="43673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8ACD99-31F4-489A-8861-218470FF2F7B}"/>
              </a:ext>
            </a:extLst>
          </p:cNvPr>
          <p:cNvSpPr txBox="1"/>
          <p:nvPr/>
        </p:nvSpPr>
        <p:spPr>
          <a:xfrm>
            <a:off x="1059765" y="2229945"/>
            <a:ext cx="10072468" cy="2735364"/>
          </a:xfrm>
          <a:prstGeom prst="rect">
            <a:avLst/>
          </a:prstGeom>
          <a:noFill/>
        </p:spPr>
        <p:txBody>
          <a:bodyPr wrap="square">
            <a:spAutoFit/>
          </a:bodyPr>
          <a:lstStyle/>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is an 8-bit unidirectional buffer.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It is used to drive external high order address bus (A15 – A8).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It is also used to tri-state the high order address bus under certain conditions such as reset, hold, halt and when address lines are not in use.</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7341A07F-C581-4925-B339-59D5EE1075C4}"/>
              </a:ext>
            </a:extLst>
          </p:cNvPr>
          <p:cNvSpPr txBox="1"/>
          <p:nvPr/>
        </p:nvSpPr>
        <p:spPr>
          <a:xfrm>
            <a:off x="4610099" y="764903"/>
            <a:ext cx="2971801"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Address Buffer </a:t>
            </a:r>
            <a:endParaRPr lang="en-IN" sz="3200" dirty="0"/>
          </a:p>
        </p:txBody>
      </p:sp>
    </p:spTree>
    <p:extLst>
      <p:ext uri="{BB962C8B-B14F-4D97-AF65-F5344CB8AC3E}">
        <p14:creationId xmlns:p14="http://schemas.microsoft.com/office/powerpoint/2010/main" val="409052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D95CF-DADE-406B-B4F6-EEEF0835DFDC}"/>
              </a:ext>
            </a:extLst>
          </p:cNvPr>
          <p:cNvSpPr txBox="1"/>
          <p:nvPr/>
        </p:nvSpPr>
        <p:spPr>
          <a:xfrm>
            <a:off x="1031631" y="2342486"/>
            <a:ext cx="10128738" cy="2735364"/>
          </a:xfrm>
          <a:prstGeom prst="rect">
            <a:avLst/>
          </a:prstGeom>
          <a:noFill/>
        </p:spPr>
        <p:txBody>
          <a:bodyPr wrap="square">
            <a:spAutoFit/>
          </a:bodyPr>
          <a:lstStyle/>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is an 8-bit bi-directional buffer.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It is used to drive multiplexed address/data bus. i.e., low order address bus (A</a:t>
            </a:r>
            <a:r>
              <a:rPr lang="en-US" sz="2800" baseline="-25000" dirty="0">
                <a:effectLst/>
                <a:latin typeface="Times New Roman" panose="02020603050405020304" pitchFamily="18" charset="0"/>
                <a:ea typeface="Times New Roman" panose="02020603050405020304" pitchFamily="18" charset="0"/>
              </a:rPr>
              <a:t>7</a:t>
            </a:r>
            <a:r>
              <a:rPr lang="en-US" sz="2800" dirty="0">
                <a:effectLst/>
                <a:latin typeface="Times New Roman" panose="02020603050405020304" pitchFamily="18" charset="0"/>
                <a:ea typeface="Times New Roman" panose="02020603050405020304" pitchFamily="18" charset="0"/>
              </a:rPr>
              <a:t>-A</a:t>
            </a:r>
            <a:r>
              <a:rPr lang="en-US" sz="2800" baseline="-25000" dirty="0">
                <a:effectLst/>
                <a:latin typeface="Times New Roman" panose="02020603050405020304" pitchFamily="18" charset="0"/>
                <a:ea typeface="Times New Roman" panose="02020603050405020304" pitchFamily="18" charset="0"/>
              </a:rPr>
              <a:t>0</a:t>
            </a:r>
            <a:r>
              <a:rPr lang="en-US" sz="2800" dirty="0">
                <a:effectLst/>
                <a:latin typeface="Times New Roman" panose="02020603050405020304" pitchFamily="18" charset="0"/>
                <a:ea typeface="Times New Roman" panose="02020603050405020304" pitchFamily="18" charset="0"/>
              </a:rPr>
              <a:t>) and data bus (D</a:t>
            </a:r>
            <a:r>
              <a:rPr lang="en-US" sz="2800" baseline="-25000" dirty="0">
                <a:effectLst/>
                <a:latin typeface="Times New Roman" panose="02020603050405020304" pitchFamily="18" charset="0"/>
                <a:ea typeface="Times New Roman" panose="02020603050405020304" pitchFamily="18" charset="0"/>
              </a:rPr>
              <a:t>7</a:t>
            </a:r>
            <a:r>
              <a:rPr lang="en-US" sz="2800" dirty="0">
                <a:effectLst/>
                <a:latin typeface="Times New Roman" panose="02020603050405020304" pitchFamily="18" charset="0"/>
                <a:ea typeface="Times New Roman" panose="02020603050405020304" pitchFamily="18" charset="0"/>
              </a:rPr>
              <a:t>-D</a:t>
            </a:r>
            <a:r>
              <a:rPr lang="en-US" sz="2800" baseline="-25000" dirty="0">
                <a:effectLst/>
                <a:latin typeface="Times New Roman" panose="02020603050405020304" pitchFamily="18" charset="0"/>
                <a:ea typeface="Times New Roman" panose="02020603050405020304" pitchFamily="18" charset="0"/>
              </a:rPr>
              <a:t>0</a:t>
            </a:r>
            <a:r>
              <a:rPr lang="en-US" sz="2800" dirty="0">
                <a:effectLst/>
                <a:latin typeface="Times New Roman" panose="02020603050405020304" pitchFamily="18" charset="0"/>
                <a:ea typeface="Times New Roman" panose="02020603050405020304" pitchFamily="18" charset="0"/>
              </a:rPr>
              <a:t>). </a:t>
            </a:r>
          </a:p>
          <a:p>
            <a:pPr marL="285750" indent="-28575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It is also to tri-state the multiplexed address/data bus under certain conditions such as reset, hold, halt and when the bus is not in use.</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E77F4B19-653B-46CC-8AD0-5BE4E554D9C9}"/>
              </a:ext>
            </a:extLst>
          </p:cNvPr>
          <p:cNvSpPr txBox="1"/>
          <p:nvPr/>
        </p:nvSpPr>
        <p:spPr>
          <a:xfrm>
            <a:off x="4307645" y="1074393"/>
            <a:ext cx="3576710" cy="523220"/>
          </a:xfrm>
          <a:prstGeom prst="rect">
            <a:avLst/>
          </a:prstGeom>
          <a:noFill/>
        </p:spPr>
        <p:txBody>
          <a:bodyPr wrap="square">
            <a:spAutoFit/>
          </a:bodyPr>
          <a:lstStyle/>
          <a:p>
            <a:r>
              <a:rPr lang="en-US" sz="2800" dirty="0">
                <a:latin typeface="Times New Roman" panose="02020603050405020304" pitchFamily="18" charset="0"/>
                <a:ea typeface="Times New Roman" panose="02020603050405020304" pitchFamily="18" charset="0"/>
              </a:rPr>
              <a:t>Address / Data Buffer </a:t>
            </a:r>
            <a:endParaRPr lang="en-IN" sz="2800" dirty="0"/>
          </a:p>
        </p:txBody>
      </p:sp>
    </p:spTree>
    <p:extLst>
      <p:ext uri="{BB962C8B-B14F-4D97-AF65-F5344CB8AC3E}">
        <p14:creationId xmlns:p14="http://schemas.microsoft.com/office/powerpoint/2010/main" val="9084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E4EF06-D565-4902-92A1-BFFC820D4218}"/>
              </a:ext>
            </a:extLst>
          </p:cNvPr>
          <p:cNvSpPr txBox="1"/>
          <p:nvPr/>
        </p:nvSpPr>
        <p:spPr>
          <a:xfrm>
            <a:off x="1742048" y="2659430"/>
            <a:ext cx="8707901" cy="1539139"/>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This 16-bit register is used to increment or decrement the contents of program counter or stack pointer as part of execution of instructions related to them.</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C5202CD4-03F3-4148-A98A-6D2FF32032D2}"/>
              </a:ext>
            </a:extLst>
          </p:cNvPr>
          <p:cNvSpPr txBox="1"/>
          <p:nvPr/>
        </p:nvSpPr>
        <p:spPr>
          <a:xfrm>
            <a:off x="2470636" y="1186933"/>
            <a:ext cx="7250723" cy="584775"/>
          </a:xfrm>
          <a:prstGeom prst="rect">
            <a:avLst/>
          </a:prstGeom>
          <a:noFill/>
        </p:spPr>
        <p:txBody>
          <a:bodyPr wrap="square">
            <a:spAutoFit/>
          </a:bodyPr>
          <a:lstStyle/>
          <a:p>
            <a:r>
              <a:rPr lang="en-US" sz="3200" dirty="0" err="1">
                <a:latin typeface="Times New Roman" panose="02020603050405020304" pitchFamily="18" charset="0"/>
                <a:ea typeface="Times New Roman" panose="02020603050405020304" pitchFamily="18" charset="0"/>
              </a:rPr>
              <a:t>Incrementer</a:t>
            </a:r>
            <a:r>
              <a:rPr lang="en-US" sz="3200" dirty="0">
                <a:latin typeface="Times New Roman" panose="02020603050405020304" pitchFamily="18" charset="0"/>
                <a:ea typeface="Times New Roman" panose="02020603050405020304" pitchFamily="18" charset="0"/>
              </a:rPr>
              <a:t>/</a:t>
            </a:r>
            <a:r>
              <a:rPr lang="en-US" sz="3200" dirty="0" err="1">
                <a:latin typeface="Times New Roman" panose="02020603050405020304" pitchFamily="18" charset="0"/>
                <a:ea typeface="Times New Roman" panose="02020603050405020304" pitchFamily="18" charset="0"/>
              </a:rPr>
              <a:t>Decrementer</a:t>
            </a:r>
            <a:r>
              <a:rPr lang="en-US" sz="3200" dirty="0">
                <a:latin typeface="Times New Roman" panose="02020603050405020304" pitchFamily="18" charset="0"/>
                <a:ea typeface="Times New Roman" panose="02020603050405020304" pitchFamily="18" charset="0"/>
              </a:rPr>
              <a:t> address latch </a:t>
            </a:r>
            <a:endParaRPr lang="en-IN" sz="3200" dirty="0"/>
          </a:p>
        </p:txBody>
      </p:sp>
    </p:spTree>
    <p:extLst>
      <p:ext uri="{BB962C8B-B14F-4D97-AF65-F5344CB8AC3E}">
        <p14:creationId xmlns:p14="http://schemas.microsoft.com/office/powerpoint/2010/main" val="25781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F140CA-7C50-48E2-91F3-0E0E88FC9E2B}"/>
              </a:ext>
            </a:extLst>
          </p:cNvPr>
          <p:cNvSpPr txBox="1"/>
          <p:nvPr/>
        </p:nvSpPr>
        <p:spPr>
          <a:xfrm>
            <a:off x="970671" y="1100600"/>
            <a:ext cx="10325686" cy="3726405"/>
          </a:xfrm>
          <a:prstGeom prst="rect">
            <a:avLst/>
          </a:prstGeom>
          <a:noFill/>
        </p:spPr>
        <p:txBody>
          <a:bodyPr wrap="square">
            <a:spAutoFit/>
          </a:bodyPr>
          <a:lstStyle/>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 ALU includes five flip-flops, which are set (or) reset after an operation according to data condition of the result in the accumulator and other registers.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They are called Zero (Z), Carry (CY), Sign (S), Parity (P) and Auxiliary Carry (AC) flags. </a:t>
            </a:r>
          </a:p>
          <a:p>
            <a:pPr marL="457200" indent="-457200" algn="just">
              <a:lnSpc>
                <a:spcPct val="115000"/>
              </a:lnSpc>
              <a:spcAft>
                <a:spcPts val="800"/>
              </a:spcAft>
              <a:buFont typeface="Wingdings" panose="05000000000000000000" pitchFamily="2" charset="2"/>
              <a:buChar char="Ø"/>
            </a:pPr>
            <a:r>
              <a:rPr lang="en-US" sz="2800" dirty="0">
                <a:effectLst/>
                <a:latin typeface="Times New Roman" panose="02020603050405020304" pitchFamily="18" charset="0"/>
                <a:ea typeface="Times New Roman" panose="02020603050405020304" pitchFamily="18" charset="0"/>
              </a:rPr>
              <a:t>Their bit positions in the flag register are shown in Fig. The microprocessor uses these flags to test data</a:t>
            </a:r>
            <a:r>
              <a:rPr lang="en-US" sz="2800" spc="-8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conditions.</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F8F8A3E7-3A1E-44C5-95DF-9BE59BDF9AE7}"/>
              </a:ext>
            </a:extLst>
          </p:cNvPr>
          <p:cNvSpPr txBox="1"/>
          <p:nvPr/>
        </p:nvSpPr>
        <p:spPr>
          <a:xfrm>
            <a:off x="4877386" y="345905"/>
            <a:ext cx="2437228" cy="584775"/>
          </a:xfrm>
          <a:prstGeom prst="rect">
            <a:avLst/>
          </a:prstGeom>
          <a:noFill/>
        </p:spPr>
        <p:txBody>
          <a:bodyPr wrap="square">
            <a:spAutoFit/>
          </a:bodyPr>
          <a:lstStyle/>
          <a:p>
            <a:r>
              <a:rPr lang="en-US" sz="3200" dirty="0">
                <a:latin typeface="Times New Roman" panose="02020603050405020304" pitchFamily="18" charset="0"/>
                <a:ea typeface="Times New Roman" panose="02020603050405020304" pitchFamily="18" charset="0"/>
              </a:rPr>
              <a:t>Flag register </a:t>
            </a:r>
            <a:endParaRPr lang="en-IN" sz="3200" dirty="0"/>
          </a:p>
        </p:txBody>
      </p:sp>
      <p:pic>
        <p:nvPicPr>
          <p:cNvPr id="6" name="image5.png">
            <a:extLst>
              <a:ext uri="{FF2B5EF4-FFF2-40B4-BE49-F238E27FC236}">
                <a16:creationId xmlns:a16="http://schemas.microsoft.com/office/drawing/2014/main" id="{615AD548-925F-4238-BB4B-F98D0B98774D}"/>
              </a:ext>
            </a:extLst>
          </p:cNvPr>
          <p:cNvPicPr/>
          <p:nvPr/>
        </p:nvPicPr>
        <p:blipFill>
          <a:blip r:embed="rId2" cstate="print"/>
          <a:stretch>
            <a:fillRect/>
          </a:stretch>
        </p:blipFill>
        <p:spPr>
          <a:xfrm>
            <a:off x="2980006" y="4996925"/>
            <a:ext cx="6231987" cy="1361672"/>
          </a:xfrm>
          <a:prstGeom prst="rect">
            <a:avLst/>
          </a:prstGeom>
        </p:spPr>
      </p:pic>
    </p:spTree>
    <p:extLst>
      <p:ext uri="{BB962C8B-B14F-4D97-AF65-F5344CB8AC3E}">
        <p14:creationId xmlns:p14="http://schemas.microsoft.com/office/powerpoint/2010/main" val="1210925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DE4CC-BE6A-BB75-2CE3-481F218C43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355056-07EE-ABB2-53E2-C3E48EE75D78}"/>
              </a:ext>
            </a:extLst>
          </p:cNvPr>
          <p:cNvSpPr>
            <a:spLocks noGrp="1"/>
          </p:cNvSpPr>
          <p:nvPr>
            <p:ph idx="1"/>
          </p:nvPr>
        </p:nvSpPr>
        <p:spPr/>
        <p:txBody>
          <a:bodyPr>
            <a:normAutofit/>
          </a:bodyPr>
          <a:lstStyle/>
          <a:p>
            <a:r>
              <a:rPr lang="en-GB" sz="2400" b="1" i="0" dirty="0">
                <a:effectLst/>
                <a:highlight>
                  <a:srgbClr val="FFFFFF"/>
                </a:highlight>
                <a:latin typeface="Times New Roman" panose="02020603050405020304" pitchFamily="18" charset="0"/>
                <a:cs typeface="Times New Roman" panose="02020603050405020304" pitchFamily="18" charset="0"/>
              </a:rPr>
              <a:t>Sign Flag (S) –</a:t>
            </a:r>
            <a:r>
              <a:rPr lang="en-GB" sz="2400" b="0" i="0" dirty="0">
                <a:effectLst/>
                <a:highlight>
                  <a:srgbClr val="FFFFFF"/>
                </a:highlight>
                <a:latin typeface="Times New Roman" panose="02020603050405020304" pitchFamily="18" charset="0"/>
                <a:cs typeface="Times New Roman" panose="02020603050405020304" pitchFamily="18" charset="0"/>
              </a:rPr>
              <a:t> After any operation if the MSB (B(7)) of the result is 1, it indicates the number is negative and the sign flag becomes set, i.e. 1. If the MSB is 0, it indicates the number is positive and the sign flag becomes reset i.e. 0. </a:t>
            </a:r>
          </a:p>
          <a:p>
            <a:r>
              <a:rPr lang="en-GB" sz="2400" b="1" i="0" dirty="0">
                <a:effectLst/>
                <a:highlight>
                  <a:srgbClr val="FFFFFF"/>
                </a:highlight>
                <a:latin typeface="Times New Roman" panose="02020603050405020304" pitchFamily="18" charset="0"/>
                <a:cs typeface="Times New Roman" panose="02020603050405020304" pitchFamily="18" charset="0"/>
              </a:rPr>
              <a:t>Zero Flag (Z) –</a:t>
            </a:r>
            <a:r>
              <a:rPr lang="en-GB" sz="2400" b="0" i="0" dirty="0">
                <a:effectLst/>
                <a:highlight>
                  <a:srgbClr val="FFFFFF"/>
                </a:highlight>
                <a:latin typeface="Times New Roman" panose="02020603050405020304" pitchFamily="18" charset="0"/>
                <a:cs typeface="Times New Roman" panose="02020603050405020304" pitchFamily="18" charset="0"/>
              </a:rPr>
              <a:t> After any arithmetical or logical operation if the result is 0 (00)H, the zero flag becomes set i.e. 1, otherwise it gets reset i.e. 0.</a:t>
            </a:r>
            <a:endParaRPr lang="en-GB" sz="2400" dirty="0">
              <a:highlight>
                <a:srgbClr val="FFFFFF"/>
              </a:highlight>
              <a:latin typeface="Times New Roman" panose="02020603050405020304" pitchFamily="18" charset="0"/>
              <a:cs typeface="Times New Roman" panose="02020603050405020304" pitchFamily="18" charset="0"/>
            </a:endParaRPr>
          </a:p>
          <a:p>
            <a:r>
              <a:rPr lang="en-GB" sz="2400" b="1" i="0" dirty="0">
                <a:effectLst/>
                <a:highlight>
                  <a:srgbClr val="FFFFFF"/>
                </a:highlight>
                <a:latin typeface="Times New Roman" panose="02020603050405020304" pitchFamily="18" charset="0"/>
                <a:cs typeface="Times New Roman" panose="02020603050405020304" pitchFamily="18" charset="0"/>
              </a:rPr>
              <a:t>Auxiliary Carry Flag (AC) –</a:t>
            </a:r>
            <a:r>
              <a:rPr lang="en-GB" sz="2400" b="0" i="0" dirty="0">
                <a:effectLst/>
                <a:highlight>
                  <a:srgbClr val="FFFFFF"/>
                </a:highlight>
                <a:latin typeface="Times New Roman" panose="02020603050405020304" pitchFamily="18" charset="0"/>
                <a:cs typeface="Times New Roman" panose="02020603050405020304" pitchFamily="18" charset="0"/>
              </a:rPr>
              <a:t> This flag is used in the BCD number system(0-9). If after any arithmetic or logical operation D(3) generates any carry and passes it on to D(4) this flag becomes set i.e. 1, otherwise, it becomes reset i.e. 0. This is the only flag register that is not accessible by the programmer. AC is set to 1 if carry out from bit 3 on addition or borrows into bit 3 on subtraction happens. </a:t>
            </a:r>
            <a:r>
              <a:rPr lang="en-GB" sz="2400" dirty="0">
                <a:highlight>
                  <a:srgbClr val="FFFFFF"/>
                </a:highlight>
                <a:latin typeface="Times New Roman" panose="02020603050405020304" pitchFamily="18" charset="0"/>
                <a:cs typeface="Times New Roman" panose="02020603050405020304" pitchFamily="18" charset="0"/>
              </a:rPr>
              <a:t>O</a:t>
            </a:r>
            <a:r>
              <a:rPr lang="en-GB" sz="2400" b="0" i="0" dirty="0">
                <a:effectLst/>
                <a:highlight>
                  <a:srgbClr val="FFFFFF"/>
                </a:highlight>
                <a:latin typeface="Times New Roman" panose="02020603050405020304" pitchFamily="18" charset="0"/>
                <a:cs typeface="Times New Roman" panose="02020603050405020304" pitchFamily="18" charset="0"/>
              </a:rPr>
              <a:t>therwise it is set to 0.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463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7600C-262C-F3FE-2870-DE08DAD04A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1637AF-4C21-86DE-F171-4BD30E3E4DD5}"/>
              </a:ext>
            </a:extLst>
          </p:cNvPr>
          <p:cNvSpPr>
            <a:spLocks noGrp="1"/>
          </p:cNvSpPr>
          <p:nvPr>
            <p:ph idx="1"/>
          </p:nvPr>
        </p:nvSpPr>
        <p:spPr/>
        <p:txBody>
          <a:bodyPr>
            <a:normAutofit lnSpcReduction="10000"/>
          </a:bodyPr>
          <a:lstStyle/>
          <a:p>
            <a:r>
              <a:rPr lang="en-GB"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Parity Flag (P) –</a:t>
            </a:r>
            <a:r>
              <a:rPr lang="en-GB"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If after any arithmetic or logical operation the result has even parity, an even number of 1 bits, the parity register becomes set i.e. 1, otherwise it becomes reset i.e. 0. </a:t>
            </a:r>
          </a:p>
          <a:p>
            <a:r>
              <a:rPr lang="en-GB"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Carry Flag (CY) –</a:t>
            </a:r>
            <a:r>
              <a:rPr lang="en-GB"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Carry is generated when performing n bit operations and the result is more than n bits, then this flag becomes set i.e. 1, otherwise, it becomes reset i.e. 0. During subtraction (A-B), if A&gt;B it becomes reset, and if (A&lt;B) it becomes set. Carry flag is also called the borrow flag. 1-carry out from MSB bit on addition or borrow into MSB bit on subtraction 0-no carry out or borrow into MSB bit</a:t>
            </a:r>
            <a:r>
              <a:rPr lang="en-GB" sz="2400" b="0" i="0">
                <a:solidFill>
                  <a:srgbClr val="273239"/>
                </a:solidFill>
                <a:effectLst/>
                <a:highlight>
                  <a:srgbClr val="FFFFFF"/>
                </a:highlight>
                <a:latin typeface="Times New Roman" panose="02020603050405020304" pitchFamily="18" charset="0"/>
                <a:cs typeface="Times New Roman" panose="02020603050405020304" pitchFamily="18" charset="0"/>
              </a:rPr>
              <a:t>. </a:t>
            </a:r>
          </a:p>
          <a:p>
            <a:pPr marL="0" indent="0">
              <a:buNone/>
            </a:pPr>
            <a:endParaRPr lang="en-GB" sz="24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marL="457200" lvl="1" indent="0">
              <a:buNone/>
            </a:pPr>
            <a:r>
              <a:rPr lang="en-GB" dirty="0">
                <a:solidFill>
                  <a:srgbClr val="273239"/>
                </a:solidFill>
                <a:highlight>
                  <a:srgbClr val="FFFFFF"/>
                </a:highlight>
                <a:latin typeface="Times New Roman" panose="02020603050405020304" pitchFamily="18" charset="0"/>
                <a:cs typeface="Times New Roman" panose="02020603050405020304" pitchFamily="18" charset="0"/>
              </a:rPr>
              <a:t>Among the 5 flags AC flag is used internally for BCD arithmetic. From the rest four flags, Z and CY are the most commonly used flags.</a:t>
            </a:r>
            <a:endParaRPr lang="en-GB"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754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F1DE-D432-2582-6ED6-8478C0C31847}"/>
              </a:ext>
            </a:extLst>
          </p:cNvPr>
          <p:cNvSpPr>
            <a:spLocks noGrp="1"/>
          </p:cNvSpPr>
          <p:nvPr>
            <p:ph type="title"/>
          </p:nvPr>
        </p:nvSpPr>
        <p:spPr/>
        <p:txBody>
          <a:bodyPr/>
          <a:lstStyle/>
          <a:p>
            <a:r>
              <a:rPr lang="en-GB" dirty="0"/>
              <a:t>Interrupts</a:t>
            </a:r>
            <a:endParaRPr lang="en-IN" dirty="0"/>
          </a:p>
        </p:txBody>
      </p:sp>
      <p:sp>
        <p:nvSpPr>
          <p:cNvPr id="3" name="Content Placeholder 2">
            <a:extLst>
              <a:ext uri="{FF2B5EF4-FFF2-40B4-BE49-F238E27FC236}">
                <a16:creationId xmlns:a16="http://schemas.microsoft.com/office/drawing/2014/main" id="{EFB6434E-0A86-D425-2FC0-BFEAFCA82EEE}"/>
              </a:ext>
            </a:extLst>
          </p:cNvPr>
          <p:cNvSpPr>
            <a:spLocks noGrp="1"/>
          </p:cNvSpPr>
          <p:nvPr>
            <p:ph idx="1"/>
          </p:nvPr>
        </p:nvSpPr>
        <p:spPr/>
        <p:txBody>
          <a:bodyPr>
            <a:normAutofit/>
          </a:bodyPr>
          <a:lstStyle/>
          <a:p>
            <a:pPr marL="0" indent="0" algn="just" fontAlgn="base">
              <a:buNone/>
            </a:pPr>
            <a:r>
              <a:rPr lang="en-GB" sz="3100" b="0" i="0" dirty="0">
                <a:solidFill>
                  <a:srgbClr val="273239"/>
                </a:solidFill>
                <a:effectLst/>
                <a:highlight>
                  <a:srgbClr val="FFFFFF"/>
                </a:highlight>
                <a:latin typeface="Times New Roman" panose="02020603050405020304" pitchFamily="18" charset="0"/>
              </a:rPr>
              <a:t>A</a:t>
            </a:r>
            <a:r>
              <a:rPr lang="en-GB" sz="3100" dirty="0">
                <a:latin typeface="Times New Roman" panose="02020603050405020304" pitchFamily="18" charset="0"/>
              </a:rPr>
              <a:t>n interrupt is a signal that temporarily suspends the normal execution of a program and redirects the control to a specific interrupt service routine (ISR). </a:t>
            </a:r>
          </a:p>
          <a:p>
            <a:pPr marL="0" indent="0" algn="just" fontAlgn="base">
              <a:buNone/>
            </a:pPr>
            <a:r>
              <a:rPr lang="en-GB" sz="3100" dirty="0">
                <a:latin typeface="Times New Roman" panose="02020603050405020304" pitchFamily="18" charset="0"/>
              </a:rPr>
              <a:t>Interrupts allow the microprocessor to respond to external events, such as user input, system events, or hardware signals, without the need for constant polling</a:t>
            </a:r>
          </a:p>
          <a:p>
            <a:pPr algn="l" fontAlgn="base"/>
            <a:endParaRPr lang="en-GB" sz="2600" dirty="0">
              <a:latin typeface="Times New Roman" panose="02020603050405020304" pitchFamily="18" charset="0"/>
            </a:endParaRPr>
          </a:p>
          <a:p>
            <a:pPr algn="l" fontAlgn="base"/>
            <a:endParaRPr lang="en-GB" sz="2600" dirty="0">
              <a:latin typeface="Times New Roman" panose="02020603050405020304" pitchFamily="18" charset="0"/>
            </a:endParaRPr>
          </a:p>
          <a:p>
            <a:endParaRPr lang="en-IN" dirty="0"/>
          </a:p>
        </p:txBody>
      </p:sp>
    </p:spTree>
    <p:extLst>
      <p:ext uri="{BB962C8B-B14F-4D97-AF65-F5344CB8AC3E}">
        <p14:creationId xmlns:p14="http://schemas.microsoft.com/office/powerpoint/2010/main" val="1382891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5FE6-E09A-83C5-B0E3-8D9B75557308}"/>
              </a:ext>
            </a:extLst>
          </p:cNvPr>
          <p:cNvSpPr>
            <a:spLocks noGrp="1"/>
          </p:cNvSpPr>
          <p:nvPr>
            <p:ph type="title"/>
          </p:nvPr>
        </p:nvSpPr>
        <p:spPr/>
        <p:txBody>
          <a:bodyPr/>
          <a:lstStyle/>
          <a:p>
            <a:endParaRPr lang="en-IN" dirty="0"/>
          </a:p>
        </p:txBody>
      </p:sp>
      <p:sp>
        <p:nvSpPr>
          <p:cNvPr id="4" name="Content Placeholder 3">
            <a:extLst>
              <a:ext uri="{FF2B5EF4-FFF2-40B4-BE49-F238E27FC236}">
                <a16:creationId xmlns:a16="http://schemas.microsoft.com/office/drawing/2014/main" id="{FADE53EE-8DA6-24EB-159C-9A1C13455972}"/>
              </a:ext>
            </a:extLst>
          </p:cNvPr>
          <p:cNvSpPr>
            <a:spLocks noGrp="1"/>
          </p:cNvSpPr>
          <p:nvPr>
            <p:ph idx="1"/>
          </p:nvPr>
        </p:nvSpPr>
        <p:spPr/>
        <p:txBody>
          <a:bodyPr>
            <a:normAutofit fontScale="92500"/>
          </a:bodyPr>
          <a:lstStyle/>
          <a:p>
            <a:pPr algn="l" fontAlgn="base"/>
            <a:r>
              <a:rPr lang="en-GB" sz="2400" b="1" i="0" dirty="0">
                <a:effectLst/>
                <a:highlight>
                  <a:srgbClr val="FFFFFF"/>
                </a:highlight>
                <a:latin typeface="Times New Roman" panose="02020603050405020304" pitchFamily="18" charset="0"/>
                <a:cs typeface="Times New Roman" panose="02020603050405020304" pitchFamily="18" charset="0"/>
              </a:rPr>
              <a:t>There are five interrupt signals in the 8085 microprocessor:</a:t>
            </a:r>
            <a:endParaRPr lang="en-GB" sz="2400" b="0" i="0" dirty="0">
              <a:effectLst/>
              <a:highlight>
                <a:srgbClr val="FFFFFF"/>
              </a:highlight>
              <a:latin typeface="Times New Roman" panose="02020603050405020304" pitchFamily="18" charset="0"/>
              <a:cs typeface="Times New Roman" panose="02020603050405020304" pitchFamily="18" charset="0"/>
            </a:endParaRPr>
          </a:p>
          <a:p>
            <a:pPr algn="l" fontAlgn="base">
              <a:buFont typeface="+mj-lt"/>
              <a:buAutoNum type="arabicPeriod"/>
            </a:pPr>
            <a:r>
              <a:rPr lang="en-GB" sz="2400" b="1" i="0" dirty="0">
                <a:effectLst/>
                <a:highlight>
                  <a:srgbClr val="FFFFFF"/>
                </a:highlight>
                <a:latin typeface="Times New Roman" panose="02020603050405020304" pitchFamily="18" charset="0"/>
                <a:cs typeface="Times New Roman" panose="02020603050405020304" pitchFamily="18" charset="0"/>
              </a:rPr>
              <a:t>TRAP:</a:t>
            </a:r>
            <a:r>
              <a:rPr lang="en-GB" sz="2400" b="0" i="0" dirty="0">
                <a:effectLst/>
                <a:highlight>
                  <a:srgbClr val="FFFFFF"/>
                </a:highlight>
                <a:latin typeface="Times New Roman" panose="02020603050405020304" pitchFamily="18" charset="0"/>
                <a:cs typeface="Times New Roman" panose="02020603050405020304" pitchFamily="18" charset="0"/>
              </a:rPr>
              <a:t> The TRAP interrupt is a non-maskable interrupt that is generated by an external device, such as a power failure or a hardware malfunction. The TRAP interrupt has the highest priority and cannot be disabled.</a:t>
            </a:r>
          </a:p>
          <a:p>
            <a:pPr algn="l" fontAlgn="base">
              <a:buFont typeface="+mj-lt"/>
              <a:buAutoNum type="arabicPeriod"/>
            </a:pPr>
            <a:r>
              <a:rPr lang="en-GB" sz="2400" b="1" i="0" dirty="0">
                <a:effectLst/>
                <a:highlight>
                  <a:srgbClr val="FFFFFF"/>
                </a:highlight>
                <a:latin typeface="Times New Roman" panose="02020603050405020304" pitchFamily="18" charset="0"/>
                <a:cs typeface="Times New Roman" panose="02020603050405020304" pitchFamily="18" charset="0"/>
              </a:rPr>
              <a:t>RST 7.5: </a:t>
            </a:r>
            <a:r>
              <a:rPr lang="en-GB" sz="2400" b="0" i="0" dirty="0">
                <a:effectLst/>
                <a:highlight>
                  <a:srgbClr val="FFFFFF"/>
                </a:highlight>
                <a:latin typeface="Times New Roman" panose="02020603050405020304" pitchFamily="18" charset="0"/>
                <a:cs typeface="Times New Roman" panose="02020603050405020304" pitchFamily="18" charset="0"/>
              </a:rPr>
              <a:t>The RST 7.5 interrupt is a maskable interrupt that is generated by a software instruction. It has the second highest priority.</a:t>
            </a:r>
          </a:p>
          <a:p>
            <a:pPr algn="l" fontAlgn="base">
              <a:buFont typeface="+mj-lt"/>
              <a:buAutoNum type="arabicPeriod"/>
            </a:pPr>
            <a:r>
              <a:rPr lang="en-GB" sz="2400" b="1" i="0" dirty="0">
                <a:effectLst/>
                <a:highlight>
                  <a:srgbClr val="FFFFFF"/>
                </a:highlight>
                <a:latin typeface="Times New Roman" panose="02020603050405020304" pitchFamily="18" charset="0"/>
                <a:cs typeface="Times New Roman" panose="02020603050405020304" pitchFamily="18" charset="0"/>
              </a:rPr>
              <a:t>RST 6.5:</a:t>
            </a:r>
            <a:r>
              <a:rPr lang="en-GB" sz="2400" b="0" i="0" dirty="0">
                <a:effectLst/>
                <a:highlight>
                  <a:srgbClr val="FFFFFF"/>
                </a:highlight>
                <a:latin typeface="Times New Roman" panose="02020603050405020304" pitchFamily="18" charset="0"/>
                <a:cs typeface="Times New Roman" panose="02020603050405020304" pitchFamily="18" charset="0"/>
              </a:rPr>
              <a:t> The RST 6.5 interrupt is a maskable interrupt that is generated by a software instruction. It has the third highest priority.</a:t>
            </a:r>
          </a:p>
          <a:p>
            <a:pPr algn="l" fontAlgn="base">
              <a:buFont typeface="+mj-lt"/>
              <a:buAutoNum type="arabicPeriod"/>
            </a:pPr>
            <a:r>
              <a:rPr lang="en-GB" sz="2400" b="1" i="0" dirty="0">
                <a:effectLst/>
                <a:highlight>
                  <a:srgbClr val="FFFFFF"/>
                </a:highlight>
                <a:latin typeface="Times New Roman" panose="02020603050405020304" pitchFamily="18" charset="0"/>
                <a:cs typeface="Times New Roman" panose="02020603050405020304" pitchFamily="18" charset="0"/>
              </a:rPr>
              <a:t>RST 5.5: </a:t>
            </a:r>
            <a:r>
              <a:rPr lang="en-GB" sz="2400" b="0" i="0" dirty="0">
                <a:effectLst/>
                <a:highlight>
                  <a:srgbClr val="FFFFFF"/>
                </a:highlight>
                <a:latin typeface="Times New Roman" panose="02020603050405020304" pitchFamily="18" charset="0"/>
                <a:cs typeface="Times New Roman" panose="02020603050405020304" pitchFamily="18" charset="0"/>
              </a:rPr>
              <a:t>The RST 5.5 interrupt is a maskable interrupt that is generated by a software instruction. It has the fourth highest priority.</a:t>
            </a:r>
          </a:p>
          <a:p>
            <a:pPr algn="l" fontAlgn="base">
              <a:buFont typeface="+mj-lt"/>
              <a:buAutoNum type="arabicPeriod"/>
            </a:pPr>
            <a:r>
              <a:rPr lang="en-GB" sz="2400" b="1" i="0" dirty="0">
                <a:effectLst/>
                <a:highlight>
                  <a:srgbClr val="FFFFFF"/>
                </a:highlight>
                <a:latin typeface="Times New Roman" panose="02020603050405020304" pitchFamily="18" charset="0"/>
                <a:cs typeface="Times New Roman" panose="02020603050405020304" pitchFamily="18" charset="0"/>
              </a:rPr>
              <a:t>INTR: </a:t>
            </a:r>
            <a:r>
              <a:rPr lang="en-GB" sz="2400" b="0" i="0" dirty="0">
                <a:effectLst/>
                <a:highlight>
                  <a:srgbClr val="FFFFFF"/>
                </a:highlight>
                <a:latin typeface="Times New Roman" panose="02020603050405020304" pitchFamily="18" charset="0"/>
                <a:cs typeface="Times New Roman" panose="02020603050405020304" pitchFamily="18" charset="0"/>
              </a:rPr>
              <a:t>The INTR interrupt is a maskable interrupt that is generated by an external device, such as a keyboard or a mouse. It has the lowest priority and can be disabled.</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7841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65DE-2C2B-83DF-B90E-B0ABB95F12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8785F9-A055-C60E-7E1B-F51221021D61}"/>
              </a:ext>
            </a:extLst>
          </p:cNvPr>
          <p:cNvSpPr>
            <a:spLocks noGrp="1"/>
          </p:cNvSpPr>
          <p:nvPr>
            <p:ph idx="1"/>
          </p:nvPr>
        </p:nvSpPr>
        <p:spPr/>
        <p:txBody>
          <a:bodyPr>
            <a:normAutofit/>
          </a:bodyPr>
          <a:lstStyle/>
          <a:p>
            <a:pPr algn="l" fontAlgn="base"/>
            <a:r>
              <a:rPr lang="en-GB" sz="2400" dirty="0">
                <a:latin typeface="Times New Roman" panose="02020603050405020304" pitchFamily="18" charset="0"/>
              </a:rPr>
              <a:t>HLDA – This is the signal for HOLD acknowledgment that signifies the received signal of HOLD request. When the request is removed, the pin goes to a low state. This is the output pin.</a:t>
            </a:r>
          </a:p>
          <a:p>
            <a:pPr algn="l" fontAlgn="base"/>
            <a:r>
              <a:rPr lang="en-GB" sz="2400" dirty="0">
                <a:latin typeface="Times New Roman" panose="02020603050405020304" pitchFamily="18" charset="0"/>
              </a:rPr>
              <a:t>HOLD – This pin indicates that the other device is in the need to utilize data and address buses. This is the input pin.</a:t>
            </a:r>
          </a:p>
          <a:p>
            <a:pPr algn="l" fontAlgn="base"/>
            <a:r>
              <a:rPr lang="en-GB" sz="2400" dirty="0">
                <a:latin typeface="Times New Roman" panose="02020603050405020304" pitchFamily="18" charset="0"/>
              </a:rPr>
              <a:t>INTA – This pin is the interrupt acknowledgment that is directed by the microprocessor device after the receival of the INTR pin. This is the output pin.</a:t>
            </a:r>
          </a:p>
          <a:p>
            <a:pPr algn="l" fontAlgn="base"/>
            <a:r>
              <a:rPr lang="en-GB" sz="2400" dirty="0">
                <a:latin typeface="Times New Roman" panose="02020603050405020304" pitchFamily="18" charset="0"/>
              </a:rPr>
              <a:t>INTR – This is the interrupt request signal. It has minimal priority when compared with other interrupt signals.</a:t>
            </a:r>
          </a:p>
          <a:p>
            <a:endParaRPr lang="en-IN" sz="2400" dirty="0"/>
          </a:p>
        </p:txBody>
      </p:sp>
    </p:spTree>
    <p:extLst>
      <p:ext uri="{BB962C8B-B14F-4D97-AF65-F5344CB8AC3E}">
        <p14:creationId xmlns:p14="http://schemas.microsoft.com/office/powerpoint/2010/main" val="1490077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TotalTime>
  <Words>2012</Words>
  <Application>Microsoft Office PowerPoint</Application>
  <PresentationFormat>Widescreen</PresentationFormat>
  <Paragraphs>127</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Cambria Math</vt:lpstr>
      <vt:lpstr>Times New Roman</vt:lpstr>
      <vt:lpstr>Wingdings</vt:lpstr>
      <vt:lpstr>Office Theme</vt:lpstr>
      <vt:lpstr>8085 </vt:lpstr>
      <vt:lpstr>Microprocessor</vt:lpstr>
      <vt:lpstr>PowerPoint Presentation</vt:lpstr>
      <vt:lpstr>PowerPoint Presentation</vt:lpstr>
      <vt:lpstr>PowerPoint Presentation</vt:lpstr>
      <vt:lpstr>History of 8085</vt:lpstr>
      <vt:lpstr>Salient features of 8085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Interrupts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srikanthboda1980@outlook.com</dc:creator>
  <cp:lastModifiedBy>Dr. Swapna M P</cp:lastModifiedBy>
  <cp:revision>37</cp:revision>
  <dcterms:created xsi:type="dcterms:W3CDTF">2020-08-16T09:22:58Z</dcterms:created>
  <dcterms:modified xsi:type="dcterms:W3CDTF">2024-05-06T08:24:57Z</dcterms:modified>
</cp:coreProperties>
</file>