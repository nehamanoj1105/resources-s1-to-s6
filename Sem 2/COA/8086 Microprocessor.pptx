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1" r:id="rId7"/>
    <p:sldId id="261" r:id="rId8"/>
    <p:sldId id="262" r:id="rId9"/>
    <p:sldId id="264" r:id="rId10"/>
    <p:sldId id="265" r:id="rId11"/>
    <p:sldId id="266" r:id="rId12"/>
    <p:sldId id="263" r:id="rId13"/>
    <p:sldId id="267" r:id="rId14"/>
    <p:sldId id="268" r:id="rId15"/>
    <p:sldId id="269" r:id="rId16"/>
    <p:sldId id="270" r:id="rId17"/>
    <p:sldId id="271" r:id="rId18"/>
    <p:sldId id="272" r:id="rId19"/>
    <p:sldId id="273" r:id="rId20"/>
    <p:sldId id="274" r:id="rId21"/>
    <p:sldId id="275" r:id="rId22"/>
    <p:sldId id="277" r:id="rId23"/>
    <p:sldId id="276"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EBBF-63D9-75E7-31C0-8DA0C2AF10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095AAD-55F6-BF8B-DF05-822783ECCF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5EF0A2-C3D6-FDA9-1DEA-A864008F7A33}"/>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429D6345-B95F-6778-652D-567E0BE08C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2980CB-5F1C-8DE2-6D0E-936D30BFD414}"/>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65770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EBAEA-FFD9-18C1-D632-9BCDE961BD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07C430-4F13-28AE-0A93-643E835CDD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AF8AEB-928C-BF33-59C3-D9B46D38B23E}"/>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066E858E-8DA2-601D-BF42-6F9521A750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505BAE-F119-6C93-A412-B2453FF29B37}"/>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63402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2E1EF-8E0C-143C-DEEA-7ED6E500E2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AEA134-C9F7-87C4-778D-E334E7F9B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604247-22B6-C271-AAB5-FABDED1C75B0}"/>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9B8B6234-960F-43E6-1337-3E96982FBB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B6662E-639A-B920-A047-32D092C0899E}"/>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2934597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C2FE-C77B-9C15-8EA8-8989BA3E89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C2C312-E3D6-FDAA-C70B-A6C5F2E133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7D9611-A599-E3EF-5FB8-D0ABF75719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4D136F-CAA1-72FF-CF3E-A71DE0A55EED}"/>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6" name="Footer Placeholder 5">
            <a:extLst>
              <a:ext uri="{FF2B5EF4-FFF2-40B4-BE49-F238E27FC236}">
                <a16:creationId xmlns:a16="http://schemas.microsoft.com/office/drawing/2014/main" id="{FB4D3E8B-FBFD-0D32-BE06-3F1E76F0FA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E52A69-3AA3-99C8-660C-C35A56CBD987}"/>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1497382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74B2-2EE2-6DDC-7ED0-60B61C2D19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ECFDCD-892E-09A5-ED81-C22D4AEA91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410F3-82F4-9C9D-23BC-7C0922B9AB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EB0D3E-EBE4-0C60-82AE-A4316ABC72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41872-649A-9E36-6606-FC4920EA8D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5C10F3-3CED-9E8F-DEDC-FB9A1EC888AC}"/>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8" name="Footer Placeholder 7">
            <a:extLst>
              <a:ext uri="{FF2B5EF4-FFF2-40B4-BE49-F238E27FC236}">
                <a16:creationId xmlns:a16="http://schemas.microsoft.com/office/drawing/2014/main" id="{B6B7683D-3373-502C-29EE-8A46C50CC2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69D71F-849D-28B9-C371-C67F846F56D6}"/>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1161177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7A70-45C4-3DC1-F341-169DFEB34B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2DB7EA-0173-9300-402F-90653CDDB7C9}"/>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4" name="Footer Placeholder 3">
            <a:extLst>
              <a:ext uri="{FF2B5EF4-FFF2-40B4-BE49-F238E27FC236}">
                <a16:creationId xmlns:a16="http://schemas.microsoft.com/office/drawing/2014/main" id="{9E07FB3E-5551-3A70-BF9F-C5747031FB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4A88C8-A578-6D1A-723F-AE6559A1C07A}"/>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3853982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A925B-B1D2-38D4-59AE-67C0CC8A03A8}"/>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3" name="Footer Placeholder 2">
            <a:extLst>
              <a:ext uri="{FF2B5EF4-FFF2-40B4-BE49-F238E27FC236}">
                <a16:creationId xmlns:a16="http://schemas.microsoft.com/office/drawing/2014/main" id="{176F42E6-CD9A-BF9F-9251-F5735D404F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549807-5315-6F91-EA34-8B6DC048A796}"/>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416299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1D28-D4E6-B4C8-F72A-C7D4DF7E0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0739D8-1ABB-4CB8-F802-2CB87EA5E6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C40313-3DAA-32C0-8CE0-A46E10605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5358E6-04E9-04C1-1FDD-F5F3C757ADCF}"/>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6" name="Footer Placeholder 5">
            <a:extLst>
              <a:ext uri="{FF2B5EF4-FFF2-40B4-BE49-F238E27FC236}">
                <a16:creationId xmlns:a16="http://schemas.microsoft.com/office/drawing/2014/main" id="{3F2D7323-2547-228F-3D2E-6E3BE3C0C2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CC4A36-29EE-2A3C-1E88-071BE570F704}"/>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1344958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FDE8-0071-0193-401F-74AA66A82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655298-BF9E-8F6F-6965-63C0AE1F76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3AE2A4-653D-00E4-C083-2CC9E23FD7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7D22A7-5DE6-4850-A896-C14795483299}"/>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6" name="Footer Placeholder 5">
            <a:extLst>
              <a:ext uri="{FF2B5EF4-FFF2-40B4-BE49-F238E27FC236}">
                <a16:creationId xmlns:a16="http://schemas.microsoft.com/office/drawing/2014/main" id="{7D067EC3-C02C-B86C-8A67-C1CA885E5C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AD3A86-AF06-EBA4-19C9-AEADF9C0FE30}"/>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3656799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75799-CA89-9D7C-57C1-5C3B7ACD1B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D8F574-0F94-2010-C263-CF686B6BDF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6C8950-48C8-3815-44CB-6D35410B1E6C}"/>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A1AB79CD-D4DF-FB38-2F68-7A2803B3AF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F6863D-C17E-A8FB-506E-D724C235E3F1}"/>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2022525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229C1E-1425-533F-9A29-40D8B2FC32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A2E35D-4AB5-AC3E-C7ED-BE37C97FD3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43AD98-3521-0AC3-13CD-DBFC66B54BBB}"/>
              </a:ext>
            </a:extLst>
          </p:cNvPr>
          <p:cNvSpPr>
            <a:spLocks noGrp="1"/>
          </p:cNvSpPr>
          <p:nvPr>
            <p:ph type="dt" sz="half" idx="10"/>
          </p:nvPr>
        </p:nvSpPr>
        <p:spPr/>
        <p:txBody>
          <a:body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97435325-377E-CD18-420C-2AD8D8D868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1C36F7-D222-B377-A938-844610286268}"/>
              </a:ext>
            </a:extLst>
          </p:cNvPr>
          <p:cNvSpPr>
            <a:spLocks noGrp="1"/>
          </p:cNvSpPr>
          <p:nvPr>
            <p:ph type="sldNum" sz="quarter" idx="12"/>
          </p:nvPr>
        </p:nvSpPr>
        <p:spPr/>
        <p:txBody>
          <a:bodyPr/>
          <a:lstStyle/>
          <a:p>
            <a:fld id="{C22D44F8-16C5-4EEC-BD6E-82167F74C4C8}" type="slidenum">
              <a:rPr lang="en-IN" smtClean="0"/>
              <a:t>‹#›</a:t>
            </a:fld>
            <a:endParaRPr lang="en-IN"/>
          </a:p>
        </p:txBody>
      </p:sp>
    </p:spTree>
    <p:extLst>
      <p:ext uri="{BB962C8B-B14F-4D97-AF65-F5344CB8AC3E}">
        <p14:creationId xmlns:p14="http://schemas.microsoft.com/office/powerpoint/2010/main" val="6894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B6E7A7-CCA8-213C-D171-14B80DA409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46255D-3E1F-7F1E-D771-3CA0C2179C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64F2C-F92B-8301-4032-7F48EFD787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B89CDF-E71D-485A-9DAC-E937D4454CD2}" type="datetimeFigureOut">
              <a:rPr lang="en-IN" smtClean="0"/>
              <a:t>04-06-2024</a:t>
            </a:fld>
            <a:endParaRPr lang="en-IN"/>
          </a:p>
        </p:txBody>
      </p:sp>
      <p:sp>
        <p:nvSpPr>
          <p:cNvPr id="5" name="Footer Placeholder 4">
            <a:extLst>
              <a:ext uri="{FF2B5EF4-FFF2-40B4-BE49-F238E27FC236}">
                <a16:creationId xmlns:a16="http://schemas.microsoft.com/office/drawing/2014/main" id="{73FC81F3-D027-81EA-5575-5F20FE098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23C13AD-1733-02C4-3533-977B71CDD6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2D44F8-16C5-4EEC-BD6E-82167F74C4C8}" type="slidenum">
              <a:rPr lang="en-IN" smtClean="0"/>
              <a:t>‹#›</a:t>
            </a:fld>
            <a:endParaRPr lang="en-IN"/>
          </a:p>
        </p:txBody>
      </p:sp>
    </p:spTree>
    <p:extLst>
      <p:ext uri="{BB962C8B-B14F-4D97-AF65-F5344CB8AC3E}">
        <p14:creationId xmlns:p14="http://schemas.microsoft.com/office/powerpoint/2010/main" val="2053535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1836-3663-A06C-0CD0-A6E6818D6593}"/>
              </a:ext>
            </a:extLst>
          </p:cNvPr>
          <p:cNvSpPr>
            <a:spLocks noGrp="1"/>
          </p:cNvSpPr>
          <p:nvPr>
            <p:ph type="ctrTitle"/>
          </p:nvPr>
        </p:nvSpPr>
        <p:spPr/>
        <p:txBody>
          <a:bodyPr/>
          <a:lstStyle/>
          <a:p>
            <a:r>
              <a:rPr lang="en-GB" dirty="0"/>
              <a:t>8086 Microprocessor</a:t>
            </a:r>
            <a:endParaRPr lang="en-IN" dirty="0"/>
          </a:p>
        </p:txBody>
      </p:sp>
      <p:sp>
        <p:nvSpPr>
          <p:cNvPr id="3" name="Subtitle 2">
            <a:extLst>
              <a:ext uri="{FF2B5EF4-FFF2-40B4-BE49-F238E27FC236}">
                <a16:creationId xmlns:a16="http://schemas.microsoft.com/office/drawing/2014/main" id="{48FE61D8-A4F9-5519-C4A2-4AB950BBDEE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98867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23AC8-F596-947D-147C-C362603A79B6}"/>
              </a:ext>
            </a:extLst>
          </p:cNvPr>
          <p:cNvSpPr>
            <a:spLocks noGrp="1"/>
          </p:cNvSpPr>
          <p:nvPr>
            <p:ph type="title"/>
          </p:nvPr>
        </p:nvSpPr>
        <p:spPr/>
        <p:txBody>
          <a:bodyPr/>
          <a:lstStyle/>
          <a:p>
            <a:r>
              <a:rPr lang="en-GB" dirty="0"/>
              <a:t>16 bit processor</a:t>
            </a:r>
            <a:endParaRPr lang="en-IN" dirty="0"/>
          </a:p>
        </p:txBody>
      </p:sp>
      <p:sp>
        <p:nvSpPr>
          <p:cNvPr id="3" name="Content Placeholder 2">
            <a:extLst>
              <a:ext uri="{FF2B5EF4-FFF2-40B4-BE49-F238E27FC236}">
                <a16:creationId xmlns:a16="http://schemas.microsoft.com/office/drawing/2014/main" id="{98E88B4D-1138-9633-4F96-C5031C9CBADC}"/>
              </a:ext>
            </a:extLst>
          </p:cNvPr>
          <p:cNvSpPr>
            <a:spLocks noGrp="1"/>
          </p:cNvSpPr>
          <p:nvPr>
            <p:ph idx="1"/>
          </p:nvPr>
        </p:nvSpPr>
        <p:spPr/>
        <p:txBody>
          <a:bodyPr/>
          <a:lstStyle/>
          <a:p>
            <a:r>
              <a:rPr lang="en-GB" dirty="0"/>
              <a:t>The 8086 is a 16-bit microprocessor intended to be used as the CPU in a microcomputer. </a:t>
            </a:r>
          </a:p>
          <a:p>
            <a:r>
              <a:rPr lang="en-GB" dirty="0"/>
              <a:t>The term “16-bit” means that its arithmetic logic unit, internal registers, and most of its instructions are designed to work 16-bit binary words. </a:t>
            </a:r>
          </a:p>
          <a:p>
            <a:r>
              <a:rPr lang="en-GB" dirty="0"/>
              <a:t>It has 16-bit data bus and 20-bit address bus</a:t>
            </a:r>
            <a:endParaRPr lang="en-IN" dirty="0"/>
          </a:p>
        </p:txBody>
      </p:sp>
    </p:spTree>
    <p:extLst>
      <p:ext uri="{BB962C8B-B14F-4D97-AF65-F5344CB8AC3E}">
        <p14:creationId xmlns:p14="http://schemas.microsoft.com/office/powerpoint/2010/main" val="77510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D935-5D8D-EC4B-9F5A-B9AADC00C17F}"/>
              </a:ext>
            </a:extLst>
          </p:cNvPr>
          <p:cNvSpPr>
            <a:spLocks noGrp="1"/>
          </p:cNvSpPr>
          <p:nvPr>
            <p:ph type="title"/>
          </p:nvPr>
        </p:nvSpPr>
        <p:spPr/>
        <p:txBody>
          <a:bodyPr/>
          <a:lstStyle/>
          <a:p>
            <a:r>
              <a:rPr lang="en-GB" dirty="0"/>
              <a:t>Features</a:t>
            </a:r>
            <a:endParaRPr lang="en-IN" dirty="0"/>
          </a:p>
        </p:txBody>
      </p:sp>
      <p:sp>
        <p:nvSpPr>
          <p:cNvPr id="3" name="Content Placeholder 2">
            <a:extLst>
              <a:ext uri="{FF2B5EF4-FFF2-40B4-BE49-F238E27FC236}">
                <a16:creationId xmlns:a16="http://schemas.microsoft.com/office/drawing/2014/main" id="{3C44507A-2C96-DD60-EE0E-0AC7B8F5B555}"/>
              </a:ext>
            </a:extLst>
          </p:cNvPr>
          <p:cNvSpPr>
            <a:spLocks noGrp="1"/>
          </p:cNvSpPr>
          <p:nvPr>
            <p:ph idx="1"/>
          </p:nvPr>
        </p:nvSpPr>
        <p:spPr/>
        <p:txBody>
          <a:bodyPr>
            <a:normAutofit fontScale="62500" lnSpcReduction="20000"/>
          </a:bodyPr>
          <a:lstStyle/>
          <a:p>
            <a:r>
              <a:rPr lang="en-GB" dirty="0"/>
              <a:t>8086 is a 40 pin IC. </a:t>
            </a:r>
          </a:p>
          <a:p>
            <a:r>
              <a:rPr lang="en-GB" dirty="0"/>
              <a:t>It is a 16-bit processor. </a:t>
            </a:r>
          </a:p>
          <a:p>
            <a:r>
              <a:rPr lang="en-GB" dirty="0"/>
              <a:t> Its operating voltage is 5 volts. </a:t>
            </a:r>
          </a:p>
          <a:p>
            <a:r>
              <a:rPr lang="en-GB" dirty="0"/>
              <a:t> Its operating frequency is 5 MHz </a:t>
            </a:r>
          </a:p>
          <a:p>
            <a:r>
              <a:rPr lang="en-GB" dirty="0"/>
              <a:t>The total memory addressing capacity is 1MB (external). </a:t>
            </a:r>
          </a:p>
          <a:p>
            <a:r>
              <a:rPr lang="en-GB" dirty="0"/>
              <a:t> It has 16-bit data bus and 20-bit address bus. </a:t>
            </a:r>
          </a:p>
          <a:p>
            <a:r>
              <a:rPr lang="en-GB" dirty="0"/>
              <a:t> It has fourteen 16-bit registers. </a:t>
            </a:r>
          </a:p>
          <a:p>
            <a:r>
              <a:rPr lang="en-GB" dirty="0"/>
              <a:t>It has around 20000 transistors in its circuitry, and it is made in HMOS (</a:t>
            </a:r>
            <a:r>
              <a:rPr lang="en-IN" b="0" i="0" dirty="0">
                <a:solidFill>
                  <a:srgbClr val="040C28"/>
                </a:solidFill>
                <a:effectLst/>
                <a:highlight>
                  <a:srgbClr val="D3E3FD"/>
                </a:highlight>
                <a:latin typeface="Google Sans"/>
              </a:rPr>
              <a:t>High-speed Metal Oxide Semiconductor) </a:t>
            </a:r>
            <a:r>
              <a:rPr lang="en-GB" dirty="0"/>
              <a:t>technology. </a:t>
            </a:r>
          </a:p>
          <a:p>
            <a:r>
              <a:rPr lang="en-GB" dirty="0"/>
              <a:t> Pipelining improves the performance of the processor so that operation is faster.</a:t>
            </a:r>
          </a:p>
          <a:p>
            <a:r>
              <a:rPr lang="en-GB" dirty="0"/>
              <a:t>8086 uses two stage of pipelining. </a:t>
            </a:r>
          </a:p>
          <a:p>
            <a:pPr marL="0" indent="0">
              <a:buNone/>
            </a:pPr>
            <a:r>
              <a:rPr lang="en-GB" dirty="0"/>
              <a:t>	First is Fetch Stage and the second is Execute Stage. </a:t>
            </a:r>
          </a:p>
          <a:p>
            <a:pPr marL="0" indent="0">
              <a:buNone/>
            </a:pPr>
            <a:r>
              <a:rPr lang="en-GB" dirty="0"/>
              <a:t>	Fetch stage that prefetch </a:t>
            </a:r>
            <a:r>
              <a:rPr lang="en-GB" dirty="0" err="1"/>
              <a:t>upto</a:t>
            </a:r>
            <a:r>
              <a:rPr lang="en-GB" dirty="0"/>
              <a:t> 6 bytes of instructions stores them in the queue. </a:t>
            </a:r>
          </a:p>
          <a:p>
            <a:pPr marL="0" indent="0">
              <a:buNone/>
            </a:pPr>
            <a:r>
              <a:rPr lang="en-GB" dirty="0"/>
              <a:t>	Execute stage then executes these instructions</a:t>
            </a:r>
            <a:endParaRPr lang="en-IN" dirty="0"/>
          </a:p>
        </p:txBody>
      </p:sp>
    </p:spTree>
    <p:extLst>
      <p:ext uri="{BB962C8B-B14F-4D97-AF65-F5344CB8AC3E}">
        <p14:creationId xmlns:p14="http://schemas.microsoft.com/office/powerpoint/2010/main" val="3648922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E92DF-5072-D2D1-22D6-051F6CCE56F6}"/>
              </a:ext>
            </a:extLst>
          </p:cNvPr>
          <p:cNvSpPr>
            <a:spLocks noGrp="1"/>
          </p:cNvSpPr>
          <p:nvPr>
            <p:ph type="title"/>
          </p:nvPr>
        </p:nvSpPr>
        <p:spPr/>
        <p:txBody>
          <a:bodyPr/>
          <a:lstStyle/>
          <a:p>
            <a:r>
              <a:rPr lang="en-GB" dirty="0"/>
              <a:t>Features</a:t>
            </a:r>
            <a:endParaRPr lang="en-IN" dirty="0"/>
          </a:p>
        </p:txBody>
      </p:sp>
      <p:sp>
        <p:nvSpPr>
          <p:cNvPr id="3" name="Content Placeholder 2">
            <a:extLst>
              <a:ext uri="{FF2B5EF4-FFF2-40B4-BE49-F238E27FC236}">
                <a16:creationId xmlns:a16="http://schemas.microsoft.com/office/drawing/2014/main" id="{524B5477-B197-A55A-186C-2D152823B5DA}"/>
              </a:ext>
            </a:extLst>
          </p:cNvPr>
          <p:cNvSpPr>
            <a:spLocks noGrp="1"/>
          </p:cNvSpPr>
          <p:nvPr>
            <p:ph idx="1"/>
          </p:nvPr>
        </p:nvSpPr>
        <p:spPr/>
        <p:txBody>
          <a:bodyPr/>
          <a:lstStyle/>
          <a:p>
            <a:r>
              <a:rPr lang="en-GB" dirty="0"/>
              <a:t>8086 uses memory </a:t>
            </a:r>
            <a:r>
              <a:rPr lang="en-GB" dirty="0" err="1"/>
              <a:t>banks:The</a:t>
            </a:r>
            <a:r>
              <a:rPr lang="en-GB" dirty="0"/>
              <a:t> 8086 uses a memory banking system. It means entire data is not stored sequentially in a single memory of 1 MB but memory is divided into two banks of 512KB. </a:t>
            </a:r>
          </a:p>
          <a:p>
            <a:r>
              <a:rPr lang="en-GB" dirty="0"/>
              <a:t>Interrupts:8086 has 256 vectored interrupts. </a:t>
            </a:r>
          </a:p>
          <a:p>
            <a:r>
              <a:rPr lang="en-GB" dirty="0"/>
              <a:t>Multiplication and Division:8086 has a powerful instruction set. So that it supports Multiply and Divide operation.</a:t>
            </a:r>
            <a:endParaRPr lang="en-IN" dirty="0"/>
          </a:p>
        </p:txBody>
      </p:sp>
    </p:spTree>
    <p:extLst>
      <p:ext uri="{BB962C8B-B14F-4D97-AF65-F5344CB8AC3E}">
        <p14:creationId xmlns:p14="http://schemas.microsoft.com/office/powerpoint/2010/main" val="328477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E469-F889-60D1-6E8C-0ABEC9A20E1F}"/>
              </a:ext>
            </a:extLst>
          </p:cNvPr>
          <p:cNvSpPr>
            <a:spLocks noGrp="1"/>
          </p:cNvSpPr>
          <p:nvPr>
            <p:ph type="title"/>
          </p:nvPr>
        </p:nvSpPr>
        <p:spPr/>
        <p:txBody>
          <a:bodyPr/>
          <a:lstStyle/>
          <a:p>
            <a:r>
              <a:rPr lang="en-GB" dirty="0"/>
              <a:t>PIN diagram - 8086</a:t>
            </a:r>
            <a:endParaRPr lang="en-IN" dirty="0"/>
          </a:p>
        </p:txBody>
      </p:sp>
      <p:sp>
        <p:nvSpPr>
          <p:cNvPr id="3" name="Content Placeholder 2">
            <a:extLst>
              <a:ext uri="{FF2B5EF4-FFF2-40B4-BE49-F238E27FC236}">
                <a16:creationId xmlns:a16="http://schemas.microsoft.com/office/drawing/2014/main" id="{3FD3DB4A-C893-724B-DCF6-E48FA252CF87}"/>
              </a:ext>
            </a:extLst>
          </p:cNvPr>
          <p:cNvSpPr>
            <a:spLocks noGrp="1"/>
          </p:cNvSpPr>
          <p:nvPr>
            <p:ph idx="1"/>
          </p:nvPr>
        </p:nvSpPr>
        <p:spPr/>
        <p:txBody>
          <a:bodyPr/>
          <a:lstStyle/>
          <a:p>
            <a:r>
              <a:rPr lang="en-GB" dirty="0"/>
              <a:t>The 8086 signals can be categorized into three groups. </a:t>
            </a:r>
          </a:p>
          <a:p>
            <a:r>
              <a:rPr lang="en-GB" dirty="0"/>
              <a:t>The first are the signals having common functions in minimum as well as maximum mode </a:t>
            </a:r>
          </a:p>
          <a:p>
            <a:r>
              <a:rPr lang="en-GB" dirty="0"/>
              <a:t>The second are the signals which have special functions in minimum mode </a:t>
            </a:r>
          </a:p>
          <a:p>
            <a:r>
              <a:rPr lang="en-GB" dirty="0"/>
              <a:t>The third are the signals having special functions for maximum mode</a:t>
            </a:r>
            <a:endParaRPr lang="en-IN" dirty="0"/>
          </a:p>
        </p:txBody>
      </p:sp>
    </p:spTree>
    <p:extLst>
      <p:ext uri="{BB962C8B-B14F-4D97-AF65-F5344CB8AC3E}">
        <p14:creationId xmlns:p14="http://schemas.microsoft.com/office/powerpoint/2010/main" val="944066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43F8-2076-FD03-E96E-08F9BDC3D047}"/>
              </a:ext>
            </a:extLst>
          </p:cNvPr>
          <p:cNvSpPr>
            <a:spLocks noGrp="1"/>
          </p:cNvSpPr>
          <p:nvPr>
            <p:ph type="title"/>
          </p:nvPr>
        </p:nvSpPr>
        <p:spPr/>
        <p:txBody>
          <a:bodyPr/>
          <a:lstStyle/>
          <a:p>
            <a:endParaRPr lang="en-IN"/>
          </a:p>
        </p:txBody>
      </p:sp>
      <p:pic>
        <p:nvPicPr>
          <p:cNvPr id="2050" name="Picture 2" descr="8086 Pin Diagram - STUDYTRONICS">
            <a:extLst>
              <a:ext uri="{FF2B5EF4-FFF2-40B4-BE49-F238E27FC236}">
                <a16:creationId xmlns:a16="http://schemas.microsoft.com/office/drawing/2014/main" id="{AEB80C5F-666E-A3D3-8E1D-3A4A7B5405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0382" y="879144"/>
            <a:ext cx="4011236" cy="509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727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50BA3A-6CCF-88C0-8F41-DA2AE9C28819}"/>
              </a:ext>
            </a:extLst>
          </p:cNvPr>
          <p:cNvSpPr>
            <a:spLocks noGrp="1"/>
          </p:cNvSpPr>
          <p:nvPr>
            <p:ph type="title"/>
          </p:nvPr>
        </p:nvSpPr>
        <p:spPr>
          <a:xfrm>
            <a:off x="630935" y="640080"/>
            <a:ext cx="5304915" cy="1463040"/>
          </a:xfrm>
        </p:spPr>
        <p:txBody>
          <a:bodyPr anchor="b">
            <a:normAutofit fontScale="90000"/>
          </a:bodyPr>
          <a:lstStyle/>
          <a:p>
            <a:r>
              <a:rPr lang="en-GB" sz="5400" dirty="0"/>
              <a:t>Block Diagram - 8086</a:t>
            </a:r>
            <a:endParaRPr lang="en-IN" sz="5400" dirty="0"/>
          </a:p>
        </p:txBody>
      </p:sp>
      <p:sp>
        <p:nvSpPr>
          <p:cNvPr id="103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1E7EEC-D523-C98D-099F-C7282EFCFC55}"/>
              </a:ext>
            </a:extLst>
          </p:cNvPr>
          <p:cNvSpPr>
            <a:spLocks noGrp="1"/>
          </p:cNvSpPr>
          <p:nvPr>
            <p:ph idx="1"/>
          </p:nvPr>
        </p:nvSpPr>
        <p:spPr>
          <a:xfrm>
            <a:off x="630936" y="2660904"/>
            <a:ext cx="4818888" cy="3547872"/>
          </a:xfrm>
        </p:spPr>
        <p:txBody>
          <a:bodyPr anchor="t">
            <a:normAutofit/>
          </a:bodyPr>
          <a:lstStyle/>
          <a:p>
            <a:r>
              <a:rPr lang="en-GB" sz="2200" dirty="0"/>
              <a:t>BIU</a:t>
            </a:r>
          </a:p>
          <a:p>
            <a:r>
              <a:rPr lang="en-GB" sz="2200" dirty="0"/>
              <a:t>EU</a:t>
            </a:r>
            <a:endParaRPr lang="en-IN" sz="2200" dirty="0"/>
          </a:p>
        </p:txBody>
      </p:sp>
      <p:pic>
        <p:nvPicPr>
          <p:cNvPr id="1028" name="Picture 4" descr="Architecture of 8086 Microprocessor - Block Diagram &amp; its Parts">
            <a:extLst>
              <a:ext uri="{FF2B5EF4-FFF2-40B4-BE49-F238E27FC236}">
                <a16:creationId xmlns:a16="http://schemas.microsoft.com/office/drawing/2014/main" id="{313BB3B9-9589-20FA-090B-6770DE37EC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35850" y="640080"/>
            <a:ext cx="4900704"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582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D01A-AB31-2550-7CAC-B24B270A4B6E}"/>
              </a:ext>
            </a:extLst>
          </p:cNvPr>
          <p:cNvSpPr>
            <a:spLocks noGrp="1"/>
          </p:cNvSpPr>
          <p:nvPr>
            <p:ph type="title"/>
          </p:nvPr>
        </p:nvSpPr>
        <p:spPr/>
        <p:txBody>
          <a:bodyPr/>
          <a:lstStyle/>
          <a:p>
            <a:r>
              <a:rPr lang="en-GB" dirty="0"/>
              <a:t>Functional parts of 8086</a:t>
            </a:r>
            <a:endParaRPr lang="en-IN" dirty="0"/>
          </a:p>
        </p:txBody>
      </p:sp>
      <p:sp>
        <p:nvSpPr>
          <p:cNvPr id="3" name="Content Placeholder 2">
            <a:extLst>
              <a:ext uri="{FF2B5EF4-FFF2-40B4-BE49-F238E27FC236}">
                <a16:creationId xmlns:a16="http://schemas.microsoft.com/office/drawing/2014/main" id="{AC127084-3D61-2FA5-BC7D-0B1E0ACD3865}"/>
              </a:ext>
            </a:extLst>
          </p:cNvPr>
          <p:cNvSpPr>
            <a:spLocks noGrp="1"/>
          </p:cNvSpPr>
          <p:nvPr>
            <p:ph idx="1"/>
          </p:nvPr>
        </p:nvSpPr>
        <p:spPr/>
        <p:txBody>
          <a:bodyPr/>
          <a:lstStyle/>
          <a:p>
            <a:r>
              <a:rPr lang="en-GB" dirty="0"/>
              <a:t>The Bus Interface Unit </a:t>
            </a:r>
          </a:p>
          <a:p>
            <a:pPr marL="457200" lvl="1" indent="0">
              <a:buNone/>
            </a:pPr>
            <a:r>
              <a:rPr lang="en-GB" dirty="0"/>
              <a:t>The BIU handles all data and addresses on the buses for the execution unit such as it sends out addresses, fetches instructions from memory, reads data from ports and memory as well as writes data to ports and memory. In BIU there are so many functional groups or parts these are as follows.</a:t>
            </a:r>
          </a:p>
          <a:p>
            <a:pPr marL="457200" lvl="1" indent="0">
              <a:buNone/>
            </a:pPr>
            <a:endParaRPr lang="en-GB" dirty="0"/>
          </a:p>
          <a:p>
            <a:pPr marL="457200" lvl="1" indent="0">
              <a:buNone/>
            </a:pPr>
            <a:r>
              <a:rPr lang="en-IN" dirty="0"/>
              <a:t>Instruction Queue</a:t>
            </a:r>
          </a:p>
          <a:p>
            <a:pPr marL="457200" lvl="1" indent="0">
              <a:buNone/>
            </a:pPr>
            <a:r>
              <a:rPr lang="en-IN" dirty="0"/>
              <a:t>Segment Registers</a:t>
            </a:r>
          </a:p>
          <a:p>
            <a:pPr marL="457200" lvl="1" indent="0">
              <a:buNone/>
            </a:pPr>
            <a:r>
              <a:rPr lang="en-IN" dirty="0"/>
              <a:t>Instruction Pointer (IP) </a:t>
            </a:r>
          </a:p>
        </p:txBody>
      </p:sp>
    </p:spTree>
    <p:extLst>
      <p:ext uri="{BB962C8B-B14F-4D97-AF65-F5344CB8AC3E}">
        <p14:creationId xmlns:p14="http://schemas.microsoft.com/office/powerpoint/2010/main" val="700341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720E-1498-0AC4-F78F-5116F39D26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40BDF4-2491-8011-CD75-54E9F4475811}"/>
              </a:ext>
            </a:extLst>
          </p:cNvPr>
          <p:cNvSpPr>
            <a:spLocks noGrp="1"/>
          </p:cNvSpPr>
          <p:nvPr>
            <p:ph idx="1"/>
          </p:nvPr>
        </p:nvSpPr>
        <p:spPr/>
        <p:txBody>
          <a:bodyPr/>
          <a:lstStyle/>
          <a:p>
            <a:r>
              <a:rPr lang="en-GB" dirty="0"/>
              <a:t>To increase the execution speed, BIU fetches as many as six instruction bytes ahead to time from memory. </a:t>
            </a:r>
          </a:p>
          <a:p>
            <a:r>
              <a:rPr lang="en-GB" dirty="0"/>
              <a:t>The prefetched instruction bytes are held for the EU in a first in first out group of registers called an </a:t>
            </a:r>
            <a:r>
              <a:rPr lang="en-GB" b="1" dirty="0"/>
              <a:t>instruction queue</a:t>
            </a:r>
            <a:r>
              <a:rPr lang="en-GB" dirty="0"/>
              <a:t>.</a:t>
            </a:r>
            <a:endParaRPr lang="en-IN" dirty="0"/>
          </a:p>
        </p:txBody>
      </p:sp>
    </p:spTree>
    <p:extLst>
      <p:ext uri="{BB962C8B-B14F-4D97-AF65-F5344CB8AC3E}">
        <p14:creationId xmlns:p14="http://schemas.microsoft.com/office/powerpoint/2010/main" val="325812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F9F5F6-CF3E-784C-FCD2-F4B1AC8A43A9}"/>
              </a:ext>
            </a:extLst>
          </p:cNvPr>
          <p:cNvSpPr>
            <a:spLocks noGrp="1"/>
          </p:cNvSpPr>
          <p:nvPr>
            <p:ph type="title"/>
          </p:nvPr>
        </p:nvSpPr>
        <p:spPr>
          <a:xfrm>
            <a:off x="572493" y="238539"/>
            <a:ext cx="11018520" cy="1434415"/>
          </a:xfrm>
        </p:spPr>
        <p:txBody>
          <a:bodyPr anchor="b">
            <a:normAutofit/>
          </a:bodyPr>
          <a:lstStyle/>
          <a:p>
            <a:endParaRPr lang="en-IN"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5DADAE4-1E3B-F816-36A0-9A7C1184B683}"/>
              </a:ext>
            </a:extLst>
          </p:cNvPr>
          <p:cNvSpPr>
            <a:spLocks noGrp="1"/>
          </p:cNvSpPr>
          <p:nvPr>
            <p:ph idx="1"/>
          </p:nvPr>
        </p:nvSpPr>
        <p:spPr>
          <a:xfrm>
            <a:off x="572493" y="2071316"/>
            <a:ext cx="6713552" cy="4119172"/>
          </a:xfrm>
        </p:spPr>
        <p:txBody>
          <a:bodyPr anchor="t">
            <a:normAutofit/>
          </a:bodyPr>
          <a:lstStyle/>
          <a:p>
            <a:pPr marL="0" indent="0">
              <a:buNone/>
            </a:pPr>
            <a:r>
              <a:rPr lang="en-GB" sz="2000" dirty="0"/>
              <a:t>Four 16-bit segment registers</a:t>
            </a:r>
          </a:p>
          <a:p>
            <a:pPr marL="0" indent="0">
              <a:buNone/>
            </a:pPr>
            <a:r>
              <a:rPr lang="en-GB" sz="2000" dirty="0"/>
              <a:t>1.Code Segment (CS): The CS register addresses a memory location in the Code Segment of the memory, where the executable program is stored. </a:t>
            </a:r>
          </a:p>
          <a:p>
            <a:pPr marL="0" indent="0">
              <a:buNone/>
            </a:pPr>
            <a:r>
              <a:rPr lang="en-GB" sz="2000" dirty="0"/>
              <a:t>2. Data Segment (DS): The DS contains most data used by program. Data are accessed in the Data Segment by an offset address or the content of other register that holds the offset address. </a:t>
            </a:r>
          </a:p>
          <a:p>
            <a:pPr marL="0" indent="0">
              <a:buNone/>
            </a:pPr>
            <a:r>
              <a:rPr lang="en-GB" sz="2000" dirty="0"/>
              <a:t>3. Stack Segment (SS): SS defined a section of memory to store addresses and data while a subprogram executes. </a:t>
            </a:r>
          </a:p>
          <a:p>
            <a:pPr marL="0" indent="0">
              <a:buNone/>
            </a:pPr>
            <a:r>
              <a:rPr lang="en-GB" sz="2000" dirty="0"/>
              <a:t>4. Extra Segment (ES): ES is additional data segment that is used by some of the string to hold the extra destination data</a:t>
            </a:r>
            <a:endParaRPr lang="en-IN" sz="2000" dirty="0"/>
          </a:p>
        </p:txBody>
      </p:sp>
      <p:pic>
        <p:nvPicPr>
          <p:cNvPr id="5" name="Picture 4">
            <a:extLst>
              <a:ext uri="{FF2B5EF4-FFF2-40B4-BE49-F238E27FC236}">
                <a16:creationId xmlns:a16="http://schemas.microsoft.com/office/drawing/2014/main" id="{ED1F7E40-B102-5A49-2DC0-0AAE27D0D7E3}"/>
              </a:ext>
            </a:extLst>
          </p:cNvPr>
          <p:cNvPicPr>
            <a:picLocks noChangeAspect="1"/>
          </p:cNvPicPr>
          <p:nvPr/>
        </p:nvPicPr>
        <p:blipFill rotWithShape="1">
          <a:blip r:embed="rId2"/>
          <a:srcRect l="7293" r="3" b="3"/>
          <a:stretch/>
        </p:blipFill>
        <p:spPr>
          <a:xfrm>
            <a:off x="7516678" y="2093976"/>
            <a:ext cx="4100044" cy="4096512"/>
          </a:xfrm>
          <a:prstGeom prst="rect">
            <a:avLst/>
          </a:prstGeom>
        </p:spPr>
      </p:pic>
    </p:spTree>
    <p:extLst>
      <p:ext uri="{BB962C8B-B14F-4D97-AF65-F5344CB8AC3E}">
        <p14:creationId xmlns:p14="http://schemas.microsoft.com/office/powerpoint/2010/main" val="150256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B3AD-CA06-9A23-4DFF-093CBEA4CB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30D419-2899-962B-5660-0CD39159B6A5}"/>
              </a:ext>
            </a:extLst>
          </p:cNvPr>
          <p:cNvSpPr>
            <a:spLocks noGrp="1"/>
          </p:cNvSpPr>
          <p:nvPr>
            <p:ph idx="1"/>
          </p:nvPr>
        </p:nvSpPr>
        <p:spPr/>
        <p:txBody>
          <a:bodyPr/>
          <a:lstStyle/>
          <a:p>
            <a:r>
              <a:rPr lang="en-GB" dirty="0"/>
              <a:t>Instruction Pointer (IP) </a:t>
            </a:r>
          </a:p>
          <a:p>
            <a:pPr marL="0" indent="0">
              <a:buNone/>
            </a:pPr>
            <a:r>
              <a:rPr lang="en-GB" dirty="0"/>
              <a:t>The instruction pointer (IP) holds the 16-bit address of the next code byte within this code segment</a:t>
            </a:r>
            <a:endParaRPr lang="en-IN" dirty="0"/>
          </a:p>
        </p:txBody>
      </p:sp>
    </p:spTree>
    <p:extLst>
      <p:ext uri="{BB962C8B-B14F-4D97-AF65-F5344CB8AC3E}">
        <p14:creationId xmlns:p14="http://schemas.microsoft.com/office/powerpoint/2010/main" val="3472307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B1DF-FFB8-1052-EF90-43B2DECC16EC}"/>
              </a:ext>
            </a:extLst>
          </p:cNvPr>
          <p:cNvSpPr>
            <a:spLocks noGrp="1"/>
          </p:cNvSpPr>
          <p:nvPr>
            <p:ph type="title"/>
          </p:nvPr>
        </p:nvSpPr>
        <p:spPr/>
        <p:txBody>
          <a:bodyPr/>
          <a:lstStyle/>
          <a:p>
            <a:r>
              <a:rPr lang="en-GB" dirty="0"/>
              <a:t>Functional parts of 8086</a:t>
            </a:r>
            <a:endParaRPr lang="en-IN" dirty="0"/>
          </a:p>
        </p:txBody>
      </p:sp>
      <p:sp>
        <p:nvSpPr>
          <p:cNvPr id="3" name="Content Placeholder 2">
            <a:extLst>
              <a:ext uri="{FF2B5EF4-FFF2-40B4-BE49-F238E27FC236}">
                <a16:creationId xmlns:a16="http://schemas.microsoft.com/office/drawing/2014/main" id="{1DDB7F4F-D30E-314A-8FE1-1531EA943176}"/>
              </a:ext>
            </a:extLst>
          </p:cNvPr>
          <p:cNvSpPr>
            <a:spLocks noGrp="1"/>
          </p:cNvSpPr>
          <p:nvPr>
            <p:ph idx="1"/>
          </p:nvPr>
        </p:nvSpPr>
        <p:spPr/>
        <p:txBody>
          <a:bodyPr>
            <a:normAutofit/>
          </a:bodyPr>
          <a:lstStyle/>
          <a:p>
            <a:r>
              <a:rPr lang="en-GB" dirty="0"/>
              <a:t>The Execution Unit </a:t>
            </a:r>
          </a:p>
          <a:p>
            <a:pPr marL="457200" lvl="1" indent="0">
              <a:buNone/>
            </a:pPr>
            <a:r>
              <a:rPr lang="en-GB" dirty="0"/>
              <a:t>The execution unit (EU) tells the BIU where to fetch instructions or data from, decodes instructions, and executes instructions. </a:t>
            </a:r>
          </a:p>
          <a:p>
            <a:pPr marL="457200" lvl="1" indent="0">
              <a:buNone/>
            </a:pPr>
            <a:r>
              <a:rPr lang="en-GB" dirty="0"/>
              <a:t>The functional parts of the execution unit are control circuitry or system, instruction decoder, and Arithmetic logic unit (ALU).</a:t>
            </a:r>
          </a:p>
          <a:p>
            <a:pPr lvl="2"/>
            <a:r>
              <a:rPr lang="en-GB" dirty="0"/>
              <a:t>Control circuitry to perform various internal operations. </a:t>
            </a:r>
          </a:p>
          <a:p>
            <a:pPr lvl="2"/>
            <a:r>
              <a:rPr lang="en-GB" dirty="0"/>
              <a:t>A decoder in the EU translates instructions fetched from memory to generate different internal or external control signals that required performing the operation. </a:t>
            </a:r>
          </a:p>
          <a:p>
            <a:pPr lvl="2"/>
            <a:r>
              <a:rPr lang="en-GB" dirty="0"/>
              <a:t>The EU has a 16-bit ALU, which can perform arithmetic operations such as add, subtract etc. and logical operations such as AND, OR, XOR, increment, decrement, etc.</a:t>
            </a:r>
            <a:endParaRPr lang="en-IN" dirty="0"/>
          </a:p>
        </p:txBody>
      </p:sp>
    </p:spTree>
    <p:extLst>
      <p:ext uri="{BB962C8B-B14F-4D97-AF65-F5344CB8AC3E}">
        <p14:creationId xmlns:p14="http://schemas.microsoft.com/office/powerpoint/2010/main" val="52223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E585-BB4D-CDD8-4357-6043F15AF091}"/>
              </a:ext>
            </a:extLst>
          </p:cNvPr>
          <p:cNvSpPr>
            <a:spLocks noGrp="1"/>
          </p:cNvSpPr>
          <p:nvPr>
            <p:ph type="title"/>
          </p:nvPr>
        </p:nvSpPr>
        <p:spPr/>
        <p:txBody>
          <a:bodyPr/>
          <a:lstStyle/>
          <a:p>
            <a:r>
              <a:rPr lang="en-GB" dirty="0"/>
              <a:t>Flag Registers</a:t>
            </a:r>
            <a:endParaRPr lang="en-IN" dirty="0"/>
          </a:p>
        </p:txBody>
      </p:sp>
      <p:sp>
        <p:nvSpPr>
          <p:cNvPr id="3" name="Content Placeholder 2">
            <a:extLst>
              <a:ext uri="{FF2B5EF4-FFF2-40B4-BE49-F238E27FC236}">
                <a16:creationId xmlns:a16="http://schemas.microsoft.com/office/drawing/2014/main" id="{3370714E-BEBC-FB14-E4FF-7CCEB70CEEFA}"/>
              </a:ext>
            </a:extLst>
          </p:cNvPr>
          <p:cNvSpPr>
            <a:spLocks noGrp="1"/>
          </p:cNvSpPr>
          <p:nvPr>
            <p:ph idx="1"/>
          </p:nvPr>
        </p:nvSpPr>
        <p:spPr>
          <a:xfrm>
            <a:off x="838200" y="1472339"/>
            <a:ext cx="10515600" cy="4704624"/>
          </a:xfrm>
        </p:spPr>
        <p:txBody>
          <a:bodyPr>
            <a:normAutofit fontScale="92500" lnSpcReduction="10000"/>
          </a:bodyPr>
          <a:lstStyle/>
          <a:p>
            <a:pPr marL="0" indent="0">
              <a:buNone/>
            </a:pPr>
            <a:r>
              <a:rPr lang="en-GB" sz="2400" dirty="0"/>
              <a:t>A 16-bit flag register is a flip-flop which indicates some condition produced by the execution of an instruction or controls certain operations of the EU.</a:t>
            </a:r>
          </a:p>
          <a:p>
            <a:pPr lvl="1"/>
            <a:r>
              <a:rPr lang="en-GB" sz="2000" dirty="0"/>
              <a:t>Carry Flag (CF): This flag will be set to one if the arithmetic operation produces the carry in MSB position. It is also used in multiple-precision arithmetic. </a:t>
            </a:r>
          </a:p>
          <a:p>
            <a:pPr lvl="1"/>
            <a:r>
              <a:rPr lang="en-GB" sz="2000" dirty="0"/>
              <a:t>Auxiliary Flag (AF): If an operation performed in ALU generates a carry/barrow from lower nibble (i.e. D0 – D3) to upper nibble (i.e. D4 – D7), the AF flag is set i.e. carry given by D3 bit to D4 is AF flag. This is not a general-purpose flag; it is used internally by the processor to perform Binary to BCD conversion. </a:t>
            </a:r>
          </a:p>
          <a:p>
            <a:pPr lvl="1"/>
            <a:r>
              <a:rPr lang="en-GB" sz="2000" dirty="0"/>
              <a:t>Parity Flag (PF): This flag is used to indicate the parity of result. If lower order 8-bits of the result contains even number of 1’s, the Parity Flag is set to one and for odd number of 1’s, the Parity Flag is reset i.e. zero. </a:t>
            </a:r>
          </a:p>
          <a:p>
            <a:pPr lvl="1"/>
            <a:r>
              <a:rPr lang="en-GB" sz="2000" dirty="0"/>
              <a:t>Zero Flag (ZF): It is set to one; if the result of arithmetic or logical operation is zero else it is reset. </a:t>
            </a:r>
          </a:p>
          <a:p>
            <a:pPr lvl="1"/>
            <a:r>
              <a:rPr lang="en-GB" sz="2000" dirty="0"/>
              <a:t>Sign Flag (SF): In sign magnitude format the sign of number is indicated by MSB bit. If the result of operation is negative, sign flag is set to one</a:t>
            </a:r>
          </a:p>
          <a:p>
            <a:pPr lvl="1"/>
            <a:r>
              <a:rPr lang="en-GB" sz="2000" dirty="0"/>
              <a:t>Overflow Flag (OF): It occurs when signed numbers are added or subtracted. An OF indicates that the result has exceeded the capacity of machine</a:t>
            </a:r>
            <a:endParaRPr lang="en-IN" sz="2000" dirty="0"/>
          </a:p>
        </p:txBody>
      </p:sp>
    </p:spTree>
    <p:extLst>
      <p:ext uri="{BB962C8B-B14F-4D97-AF65-F5344CB8AC3E}">
        <p14:creationId xmlns:p14="http://schemas.microsoft.com/office/powerpoint/2010/main" val="2361999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6BD47-53CE-5D6A-2F7A-92C9FD2AC9B1}"/>
              </a:ext>
            </a:extLst>
          </p:cNvPr>
          <p:cNvSpPr>
            <a:spLocks noGrp="1"/>
          </p:cNvSpPr>
          <p:nvPr>
            <p:ph type="title"/>
          </p:nvPr>
        </p:nvSpPr>
        <p:spPr/>
        <p:txBody>
          <a:bodyPr/>
          <a:lstStyle/>
          <a:p>
            <a:r>
              <a:rPr lang="en-GB" dirty="0"/>
              <a:t>General purpose registers</a:t>
            </a:r>
            <a:endParaRPr lang="en-IN" dirty="0"/>
          </a:p>
        </p:txBody>
      </p:sp>
      <p:sp>
        <p:nvSpPr>
          <p:cNvPr id="3" name="Content Placeholder 2">
            <a:extLst>
              <a:ext uri="{FF2B5EF4-FFF2-40B4-BE49-F238E27FC236}">
                <a16:creationId xmlns:a16="http://schemas.microsoft.com/office/drawing/2014/main" id="{DD7F69AF-DDB2-AC2F-4C08-12E347160E98}"/>
              </a:ext>
            </a:extLst>
          </p:cNvPr>
          <p:cNvSpPr>
            <a:spLocks noGrp="1"/>
          </p:cNvSpPr>
          <p:nvPr>
            <p:ph idx="1"/>
          </p:nvPr>
        </p:nvSpPr>
        <p:spPr/>
        <p:txBody>
          <a:bodyPr>
            <a:normAutofit/>
          </a:bodyPr>
          <a:lstStyle/>
          <a:p>
            <a:r>
              <a:rPr lang="en-GB" dirty="0"/>
              <a:t>The EU has eight general purpose registers </a:t>
            </a:r>
            <a:r>
              <a:rPr lang="en-GB" dirty="0" err="1"/>
              <a:t>labeled</a:t>
            </a:r>
            <a:r>
              <a:rPr lang="en-GB" dirty="0"/>
              <a:t> AH, AL, BH, BL, CH, CL, DH, and DL. </a:t>
            </a:r>
          </a:p>
          <a:p>
            <a:r>
              <a:rPr lang="en-GB" dirty="0"/>
              <a:t>These registers can be used individually for temporary storage of 8-bit data. </a:t>
            </a:r>
          </a:p>
          <a:p>
            <a:r>
              <a:rPr lang="en-GB" dirty="0"/>
              <a:t>The AL register is also called the accumulator. </a:t>
            </a:r>
          </a:p>
          <a:p>
            <a:r>
              <a:rPr lang="en-GB" dirty="0"/>
              <a:t>Certain pairs of these general-purpose registers can be used together to store 16-bit data. </a:t>
            </a:r>
          </a:p>
          <a:p>
            <a:r>
              <a:rPr lang="en-GB" dirty="0"/>
              <a:t>The valid register pairs are AH and AL, BH and BL, CH and CL and DH and DL. </a:t>
            </a:r>
          </a:p>
        </p:txBody>
      </p:sp>
    </p:spTree>
    <p:extLst>
      <p:ext uri="{BB962C8B-B14F-4D97-AF65-F5344CB8AC3E}">
        <p14:creationId xmlns:p14="http://schemas.microsoft.com/office/powerpoint/2010/main" val="415030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E54D-C92A-CD96-F92B-22157F7399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753F44-2AC4-AF73-799E-AF7011093B2C}"/>
              </a:ext>
            </a:extLst>
          </p:cNvPr>
          <p:cNvSpPr>
            <a:spLocks noGrp="1"/>
          </p:cNvSpPr>
          <p:nvPr>
            <p:ph idx="1"/>
          </p:nvPr>
        </p:nvSpPr>
        <p:spPr/>
        <p:txBody>
          <a:bodyPr>
            <a:normAutofit fontScale="92500"/>
          </a:bodyPr>
          <a:lstStyle/>
          <a:p>
            <a:pPr marL="0" indent="0">
              <a:buNone/>
            </a:pPr>
            <a:r>
              <a:rPr lang="en-GB" dirty="0"/>
              <a:t>These register pairs are referred to as AX, BX, CX, and DX respectively.</a:t>
            </a:r>
            <a:endParaRPr lang="en-IN" dirty="0"/>
          </a:p>
          <a:p>
            <a:r>
              <a:rPr lang="en-GB" dirty="0"/>
              <a:t>AX Register: For 16-bit operations, AX is called the accumulator register that stores operands for arithmetic operations. </a:t>
            </a:r>
          </a:p>
          <a:p>
            <a:r>
              <a:rPr lang="en-GB" dirty="0"/>
              <a:t>BX Register: This register is mainly used as a base register. It holds the starting base location of a memory region within a data segment. </a:t>
            </a:r>
          </a:p>
          <a:p>
            <a:r>
              <a:rPr lang="en-GB" dirty="0"/>
              <a:t>CX Register: It is defined as a counter. It is primarily used in loop instruction to store loop counter. </a:t>
            </a:r>
          </a:p>
          <a:p>
            <a:r>
              <a:rPr lang="en-GB" dirty="0"/>
              <a:t>DX Register: DX register is used to contain I/O port address for I/O instruction</a:t>
            </a:r>
            <a:endParaRPr lang="en-IN" dirty="0"/>
          </a:p>
        </p:txBody>
      </p:sp>
    </p:spTree>
    <p:extLst>
      <p:ext uri="{BB962C8B-B14F-4D97-AF65-F5344CB8AC3E}">
        <p14:creationId xmlns:p14="http://schemas.microsoft.com/office/powerpoint/2010/main" val="641703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108F-6B95-902E-C65F-EF49A225D8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29FE94-1667-C9DC-AB34-8E4F4DF02D82}"/>
              </a:ext>
            </a:extLst>
          </p:cNvPr>
          <p:cNvSpPr>
            <a:spLocks noGrp="1"/>
          </p:cNvSpPr>
          <p:nvPr>
            <p:ph idx="1"/>
          </p:nvPr>
        </p:nvSpPr>
        <p:spPr/>
        <p:txBody>
          <a:bodyPr/>
          <a:lstStyle/>
          <a:p>
            <a:r>
              <a:rPr lang="en-GB" dirty="0"/>
              <a:t>Stack Pointer Register </a:t>
            </a:r>
          </a:p>
          <a:p>
            <a:pPr marL="0" indent="0">
              <a:buNone/>
            </a:pPr>
            <a:r>
              <a:rPr lang="en-GB" dirty="0"/>
              <a:t>The stack pointer (SP) register contains the 16-bit offset from the start of the segment to the memory location where a word was most recently stored on the stack. The memory location where a word was most recently stored is called the top of stack.</a:t>
            </a:r>
          </a:p>
          <a:p>
            <a:r>
              <a:rPr lang="en-GB" dirty="0"/>
              <a:t>Other Pointer and Index Registers </a:t>
            </a:r>
          </a:p>
          <a:p>
            <a:pPr marL="0" indent="0">
              <a:buNone/>
            </a:pPr>
            <a:r>
              <a:rPr lang="en-GB" dirty="0"/>
              <a:t>The EU also contains a 16-bit source index (SI) register, base pointer (BP) registers, and Destination Index (DI) registers. These three registers can be mainly used for temporary storage of 16-bit data just like a general-purpose register</a:t>
            </a:r>
            <a:endParaRPr lang="en-IN" dirty="0"/>
          </a:p>
        </p:txBody>
      </p:sp>
    </p:spTree>
    <p:extLst>
      <p:ext uri="{BB962C8B-B14F-4D97-AF65-F5344CB8AC3E}">
        <p14:creationId xmlns:p14="http://schemas.microsoft.com/office/powerpoint/2010/main" val="624841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DF39-CE82-A3E4-E3AE-E464C4A025B9}"/>
              </a:ext>
            </a:extLst>
          </p:cNvPr>
          <p:cNvSpPr>
            <a:spLocks noGrp="1"/>
          </p:cNvSpPr>
          <p:nvPr>
            <p:ph type="title"/>
          </p:nvPr>
        </p:nvSpPr>
        <p:spPr/>
        <p:txBody>
          <a:bodyPr/>
          <a:lstStyle/>
          <a:p>
            <a:r>
              <a:rPr lang="en-IN" dirty="0"/>
              <a:t>Addressing Modes of 8086</a:t>
            </a:r>
          </a:p>
        </p:txBody>
      </p:sp>
      <p:pic>
        <p:nvPicPr>
          <p:cNvPr id="5" name="Content Placeholder 4">
            <a:extLst>
              <a:ext uri="{FF2B5EF4-FFF2-40B4-BE49-F238E27FC236}">
                <a16:creationId xmlns:a16="http://schemas.microsoft.com/office/drawing/2014/main" id="{55BCF6D2-CF3A-A9A0-F0C2-ADEF8ADF68FE}"/>
              </a:ext>
            </a:extLst>
          </p:cNvPr>
          <p:cNvPicPr>
            <a:picLocks noGrp="1" noChangeAspect="1"/>
          </p:cNvPicPr>
          <p:nvPr>
            <p:ph idx="1"/>
          </p:nvPr>
        </p:nvPicPr>
        <p:blipFill>
          <a:blip r:embed="rId2"/>
          <a:stretch>
            <a:fillRect/>
          </a:stretch>
        </p:blipFill>
        <p:spPr>
          <a:xfrm>
            <a:off x="838200" y="1809710"/>
            <a:ext cx="8947265" cy="3238580"/>
          </a:xfrm>
        </p:spPr>
      </p:pic>
    </p:spTree>
    <p:extLst>
      <p:ext uri="{BB962C8B-B14F-4D97-AF65-F5344CB8AC3E}">
        <p14:creationId xmlns:p14="http://schemas.microsoft.com/office/powerpoint/2010/main" val="3293050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CB1EF-B959-80FE-7846-25C83D41017C}"/>
              </a:ext>
            </a:extLst>
          </p:cNvPr>
          <p:cNvSpPr>
            <a:spLocks noGrp="1"/>
          </p:cNvSpPr>
          <p:nvPr>
            <p:ph type="title"/>
          </p:nvPr>
        </p:nvSpPr>
        <p:spPr>
          <a:xfrm>
            <a:off x="630936" y="639520"/>
            <a:ext cx="3429000" cy="1719072"/>
          </a:xfrm>
        </p:spPr>
        <p:txBody>
          <a:bodyPr anchor="b">
            <a:normAutofit/>
          </a:bodyPr>
          <a:lstStyle/>
          <a:p>
            <a:endParaRPr lang="en-IN" sz="540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F5BB16-3A52-A1AD-ABA1-C45AD792065D}"/>
              </a:ext>
            </a:extLst>
          </p:cNvPr>
          <p:cNvSpPr>
            <a:spLocks noGrp="1"/>
          </p:cNvSpPr>
          <p:nvPr>
            <p:ph idx="1"/>
          </p:nvPr>
        </p:nvSpPr>
        <p:spPr>
          <a:xfrm>
            <a:off x="630936" y="2807208"/>
            <a:ext cx="3429000" cy="3410712"/>
          </a:xfrm>
        </p:spPr>
        <p:txBody>
          <a:bodyPr anchor="t">
            <a:normAutofit/>
          </a:bodyPr>
          <a:lstStyle/>
          <a:p>
            <a:r>
              <a:rPr lang="en-GB" sz="1600" dirty="0"/>
              <a:t>Example 1 </a:t>
            </a:r>
          </a:p>
          <a:p>
            <a:pPr marL="0" indent="0">
              <a:buNone/>
            </a:pPr>
            <a:r>
              <a:rPr lang="en-GB" sz="1600" dirty="0"/>
              <a:t>MOV DX , CX  </a:t>
            </a:r>
          </a:p>
          <a:p>
            <a:pPr marL="0" indent="0">
              <a:buNone/>
            </a:pPr>
            <a:r>
              <a:rPr lang="en-GB" sz="1600" dirty="0"/>
              <a:t>Which moves 16-bit content of CS into DX. </a:t>
            </a:r>
          </a:p>
          <a:p>
            <a:r>
              <a:rPr lang="en-GB" sz="1600" dirty="0"/>
              <a:t>Example 2 </a:t>
            </a:r>
          </a:p>
          <a:p>
            <a:pPr marL="0" indent="0">
              <a:buNone/>
            </a:pPr>
            <a:r>
              <a:rPr lang="en-GB" sz="1600" dirty="0"/>
              <a:t>MOV CL, DL </a:t>
            </a:r>
          </a:p>
          <a:p>
            <a:pPr marL="0" indent="0">
              <a:buNone/>
            </a:pPr>
            <a:r>
              <a:rPr lang="en-GB" sz="1600" dirty="0"/>
              <a:t>Moves 8-bit contents of DL into CL MOV BX, CH is an illegal instruction. </a:t>
            </a:r>
            <a:endParaRPr lang="en-IN" sz="2200" dirty="0"/>
          </a:p>
        </p:txBody>
      </p:sp>
      <p:pic>
        <p:nvPicPr>
          <p:cNvPr id="5" name="Picture 4">
            <a:extLst>
              <a:ext uri="{FF2B5EF4-FFF2-40B4-BE49-F238E27FC236}">
                <a16:creationId xmlns:a16="http://schemas.microsoft.com/office/drawing/2014/main" id="{F3490895-0A2D-2911-EADF-8CC2D5F76C99}"/>
              </a:ext>
            </a:extLst>
          </p:cNvPr>
          <p:cNvPicPr>
            <a:picLocks noChangeAspect="1"/>
          </p:cNvPicPr>
          <p:nvPr/>
        </p:nvPicPr>
        <p:blipFill>
          <a:blip r:embed="rId2"/>
          <a:stretch>
            <a:fillRect/>
          </a:stretch>
        </p:blipFill>
        <p:spPr>
          <a:xfrm>
            <a:off x="4541651" y="875172"/>
            <a:ext cx="7254554" cy="5107655"/>
          </a:xfrm>
          <a:prstGeom prst="rect">
            <a:avLst/>
          </a:prstGeom>
        </p:spPr>
      </p:pic>
    </p:spTree>
    <p:extLst>
      <p:ext uri="{BB962C8B-B14F-4D97-AF65-F5344CB8AC3E}">
        <p14:creationId xmlns:p14="http://schemas.microsoft.com/office/powerpoint/2010/main" val="98861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F5246-08DE-AA5B-6BA1-884032D6D3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7C3AA0-8226-56B0-2544-A5A13A90B606}"/>
              </a:ext>
            </a:extLst>
          </p:cNvPr>
          <p:cNvSpPr>
            <a:spLocks noGrp="1"/>
          </p:cNvSpPr>
          <p:nvPr>
            <p:ph idx="1"/>
          </p:nvPr>
        </p:nvSpPr>
        <p:spPr/>
        <p:txBody>
          <a:bodyPr/>
          <a:lstStyle/>
          <a:p>
            <a:r>
              <a:rPr lang="en-GB" b="1" dirty="0"/>
              <a:t>Direct addressing mode </a:t>
            </a:r>
          </a:p>
          <a:p>
            <a:pPr marL="0" indent="0">
              <a:buNone/>
            </a:pPr>
            <a:r>
              <a:rPr lang="en-GB" dirty="0"/>
              <a:t>The instruction Opcode is followed by an effective address</a:t>
            </a:r>
          </a:p>
          <a:p>
            <a:pPr marL="0" indent="0">
              <a:buNone/>
            </a:pPr>
            <a:r>
              <a:rPr lang="en-GB" dirty="0"/>
              <a:t>This effective address is directly used as the 16-bit offset of the storage location of the operand from the location specified by the current value in the selected segment register</a:t>
            </a:r>
            <a:endParaRPr lang="en-IN" dirty="0"/>
          </a:p>
        </p:txBody>
      </p:sp>
    </p:spTree>
    <p:extLst>
      <p:ext uri="{BB962C8B-B14F-4D97-AF65-F5344CB8AC3E}">
        <p14:creationId xmlns:p14="http://schemas.microsoft.com/office/powerpoint/2010/main" val="2551355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1B06-788D-21B1-29D7-DD4BC0537D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5DF4FE-71F7-87D4-A461-2C436F9A35B7}"/>
              </a:ext>
            </a:extLst>
          </p:cNvPr>
          <p:cNvSpPr>
            <a:spLocks noGrp="1"/>
          </p:cNvSpPr>
          <p:nvPr>
            <p:ph idx="1"/>
          </p:nvPr>
        </p:nvSpPr>
        <p:spPr>
          <a:xfrm>
            <a:off x="838199" y="1841123"/>
            <a:ext cx="10708037" cy="4651752"/>
          </a:xfrm>
        </p:spPr>
        <p:txBody>
          <a:bodyPr>
            <a:normAutofit fontScale="77500" lnSpcReduction="20000"/>
          </a:bodyPr>
          <a:lstStyle/>
          <a:p>
            <a:r>
              <a:rPr lang="en-GB" dirty="0"/>
              <a:t>The 20-bit physical address of the operand in memory is normally obtained as PA = DS: EA </a:t>
            </a:r>
          </a:p>
          <a:p>
            <a:r>
              <a:rPr lang="en-GB" dirty="0"/>
              <a:t>But by using a segment override prefix (SOP) in the instruction, any of the four segment registers can be referenced</a:t>
            </a:r>
          </a:p>
          <a:p>
            <a:endParaRPr lang="en-GB" dirty="0"/>
          </a:p>
          <a:p>
            <a:endParaRPr lang="en-GB" dirty="0"/>
          </a:p>
          <a:p>
            <a:endParaRPr lang="en-GB" dirty="0"/>
          </a:p>
          <a:p>
            <a:r>
              <a:rPr lang="en-GB" dirty="0"/>
              <a:t>The EU cannot directly access the memory operands. </a:t>
            </a:r>
          </a:p>
          <a:p>
            <a:r>
              <a:rPr lang="en-GB" dirty="0"/>
              <a:t>It must use the BIU, to access memory operands. </a:t>
            </a:r>
          </a:p>
          <a:p>
            <a:r>
              <a:rPr lang="en-GB" dirty="0"/>
              <a:t>In the direct addressing mode, the 16-bit effective address (EA) is taken directly from the displacement field of the instruction.</a:t>
            </a:r>
          </a:p>
          <a:p>
            <a:r>
              <a:rPr lang="en-GB" sz="2900" dirty="0"/>
              <a:t>The effective address is formed by adding an 8-bit or 16-bit displacement with the sum of contents of anyone of the base registers (BX or BP) and any one of the index registers (SI or DI), in a default segment.</a:t>
            </a:r>
            <a:endParaRPr lang="en-IN" sz="2900" dirty="0"/>
          </a:p>
        </p:txBody>
      </p:sp>
      <p:pic>
        <p:nvPicPr>
          <p:cNvPr id="5" name="Picture 4">
            <a:extLst>
              <a:ext uri="{FF2B5EF4-FFF2-40B4-BE49-F238E27FC236}">
                <a16:creationId xmlns:a16="http://schemas.microsoft.com/office/drawing/2014/main" id="{FF8B3BD2-17EE-7B06-2E48-4B97C9AF8AF4}"/>
              </a:ext>
            </a:extLst>
          </p:cNvPr>
          <p:cNvPicPr>
            <a:picLocks noChangeAspect="1"/>
          </p:cNvPicPr>
          <p:nvPr/>
        </p:nvPicPr>
        <p:blipFill>
          <a:blip r:embed="rId2"/>
          <a:stretch>
            <a:fillRect/>
          </a:stretch>
        </p:blipFill>
        <p:spPr>
          <a:xfrm>
            <a:off x="3981369" y="3106266"/>
            <a:ext cx="3679806" cy="1000784"/>
          </a:xfrm>
          <a:prstGeom prst="rect">
            <a:avLst/>
          </a:prstGeom>
        </p:spPr>
      </p:pic>
    </p:spTree>
    <p:extLst>
      <p:ext uri="{BB962C8B-B14F-4D97-AF65-F5344CB8AC3E}">
        <p14:creationId xmlns:p14="http://schemas.microsoft.com/office/powerpoint/2010/main" val="312325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FC70-F6F4-0276-1034-7CCA207693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ABBE1F-84F9-F87E-C7D1-DC0D58691EB2}"/>
              </a:ext>
            </a:extLst>
          </p:cNvPr>
          <p:cNvSpPr>
            <a:spLocks noGrp="1"/>
          </p:cNvSpPr>
          <p:nvPr>
            <p:ph idx="1"/>
          </p:nvPr>
        </p:nvSpPr>
        <p:spPr/>
        <p:txBody>
          <a:bodyPr/>
          <a:lstStyle/>
          <a:p>
            <a:r>
              <a:rPr lang="en-GB" dirty="0"/>
              <a:t>MOV CX, START </a:t>
            </a:r>
          </a:p>
          <a:p>
            <a:pPr marL="457200" lvl="1" indent="0">
              <a:buNone/>
            </a:pPr>
            <a:r>
              <a:rPr lang="en-GB" dirty="0"/>
              <a:t>If the 16-bit value assigned to the offset START by the programmer using an assembler pseudo instruction such as DW is 0040 and [DS] = 3050. </a:t>
            </a:r>
          </a:p>
          <a:p>
            <a:pPr marL="457200" lvl="1" indent="0">
              <a:buNone/>
            </a:pPr>
            <a:r>
              <a:rPr lang="en-GB" dirty="0"/>
              <a:t>Then BIU generates the 20-bit physical address 30540 H. </a:t>
            </a:r>
          </a:p>
          <a:p>
            <a:pPr marL="457200" lvl="1" indent="0">
              <a:buNone/>
            </a:pPr>
            <a:r>
              <a:rPr lang="en-GB" dirty="0"/>
              <a:t>The content of 30540 is moved to CL </a:t>
            </a:r>
          </a:p>
          <a:p>
            <a:pPr marL="457200" lvl="1" indent="0">
              <a:buNone/>
            </a:pPr>
            <a:r>
              <a:rPr lang="en-GB" dirty="0"/>
              <a:t>The content of 30541 is moved to CH </a:t>
            </a:r>
            <a:endParaRPr lang="en-IN" dirty="0"/>
          </a:p>
        </p:txBody>
      </p:sp>
    </p:spTree>
    <p:extLst>
      <p:ext uri="{BB962C8B-B14F-4D97-AF65-F5344CB8AC3E}">
        <p14:creationId xmlns:p14="http://schemas.microsoft.com/office/powerpoint/2010/main" val="1868651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62F6-8507-3A7C-2587-5E5B43C9391A}"/>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ABF1DE4A-8C8B-0B52-D2C0-D9E15DBEEF0C}"/>
              </a:ext>
            </a:extLst>
          </p:cNvPr>
          <p:cNvPicPr>
            <a:picLocks noChangeAspect="1"/>
          </p:cNvPicPr>
          <p:nvPr/>
        </p:nvPicPr>
        <p:blipFill>
          <a:blip r:embed="rId2"/>
          <a:stretch>
            <a:fillRect/>
          </a:stretch>
        </p:blipFill>
        <p:spPr>
          <a:xfrm>
            <a:off x="838200" y="365125"/>
            <a:ext cx="8150817" cy="3772404"/>
          </a:xfrm>
          <a:prstGeom prst="rect">
            <a:avLst/>
          </a:prstGeom>
        </p:spPr>
      </p:pic>
      <p:pic>
        <p:nvPicPr>
          <p:cNvPr id="9" name="Picture 8">
            <a:extLst>
              <a:ext uri="{FF2B5EF4-FFF2-40B4-BE49-F238E27FC236}">
                <a16:creationId xmlns:a16="http://schemas.microsoft.com/office/drawing/2014/main" id="{72AE5F47-D9DB-734B-EE5E-0FC3FAAE16E5}"/>
              </a:ext>
            </a:extLst>
          </p:cNvPr>
          <p:cNvPicPr>
            <a:picLocks noChangeAspect="1"/>
          </p:cNvPicPr>
          <p:nvPr/>
        </p:nvPicPr>
        <p:blipFill>
          <a:blip r:embed="rId3"/>
          <a:stretch>
            <a:fillRect/>
          </a:stretch>
        </p:blipFill>
        <p:spPr>
          <a:xfrm>
            <a:off x="1362074" y="3885069"/>
            <a:ext cx="5014630" cy="1325563"/>
          </a:xfrm>
          <a:prstGeom prst="rect">
            <a:avLst/>
          </a:prstGeom>
        </p:spPr>
      </p:pic>
    </p:spTree>
    <p:extLst>
      <p:ext uri="{BB962C8B-B14F-4D97-AF65-F5344CB8AC3E}">
        <p14:creationId xmlns:p14="http://schemas.microsoft.com/office/powerpoint/2010/main" val="2572417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1B00F-C9F2-F45A-D118-BD95B53B94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4C7882-298B-EAB8-F90A-E9EDD160F153}"/>
              </a:ext>
            </a:extLst>
          </p:cNvPr>
          <p:cNvSpPr>
            <a:spLocks noGrp="1"/>
          </p:cNvSpPr>
          <p:nvPr>
            <p:ph idx="1"/>
          </p:nvPr>
        </p:nvSpPr>
        <p:spPr/>
        <p:txBody>
          <a:bodyPr/>
          <a:lstStyle/>
          <a:p>
            <a:r>
              <a:rPr lang="en-GB" dirty="0"/>
              <a:t>Register indirect addressing mode </a:t>
            </a:r>
          </a:p>
          <a:p>
            <a:pPr marL="0" indent="0">
              <a:buNone/>
            </a:pPr>
            <a:r>
              <a:rPr lang="en-GB" dirty="0"/>
              <a:t>The EA is specified in either pointer (BX) register or an index (SI or DI) register. </a:t>
            </a:r>
          </a:p>
          <a:p>
            <a:pPr marL="0" indent="0">
              <a:buNone/>
            </a:pPr>
            <a:r>
              <a:rPr lang="en-GB" dirty="0"/>
              <a:t>The 20-bit physical address is computed using DS and EA.</a:t>
            </a:r>
            <a:endParaRPr lang="en-IN" dirty="0"/>
          </a:p>
        </p:txBody>
      </p:sp>
      <p:pic>
        <p:nvPicPr>
          <p:cNvPr id="5" name="Picture 4">
            <a:extLst>
              <a:ext uri="{FF2B5EF4-FFF2-40B4-BE49-F238E27FC236}">
                <a16:creationId xmlns:a16="http://schemas.microsoft.com/office/drawing/2014/main" id="{1B44DDCA-C51F-42D3-910F-806D8F081441}"/>
              </a:ext>
            </a:extLst>
          </p:cNvPr>
          <p:cNvPicPr>
            <a:picLocks noChangeAspect="1"/>
          </p:cNvPicPr>
          <p:nvPr/>
        </p:nvPicPr>
        <p:blipFill>
          <a:blip r:embed="rId2"/>
          <a:stretch>
            <a:fillRect/>
          </a:stretch>
        </p:blipFill>
        <p:spPr>
          <a:xfrm>
            <a:off x="3184175" y="3956266"/>
            <a:ext cx="5823650" cy="2355634"/>
          </a:xfrm>
          <a:prstGeom prst="rect">
            <a:avLst/>
          </a:prstGeom>
        </p:spPr>
      </p:pic>
    </p:spTree>
    <p:extLst>
      <p:ext uri="{BB962C8B-B14F-4D97-AF65-F5344CB8AC3E}">
        <p14:creationId xmlns:p14="http://schemas.microsoft.com/office/powerpoint/2010/main" val="2198831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6FB07-BDEB-43EE-38F4-3C9EC7A344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5D6052-D81D-5C41-A20F-AC3CC1BDD5C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3BE9088-8ED0-A890-EF71-17280E2C13D2}"/>
              </a:ext>
            </a:extLst>
          </p:cNvPr>
          <p:cNvPicPr>
            <a:picLocks noChangeAspect="1"/>
          </p:cNvPicPr>
          <p:nvPr/>
        </p:nvPicPr>
        <p:blipFill>
          <a:blip r:embed="rId2"/>
          <a:stretch>
            <a:fillRect/>
          </a:stretch>
        </p:blipFill>
        <p:spPr>
          <a:xfrm>
            <a:off x="1396139" y="2240420"/>
            <a:ext cx="7866320" cy="3183987"/>
          </a:xfrm>
          <a:prstGeom prst="rect">
            <a:avLst/>
          </a:prstGeom>
        </p:spPr>
      </p:pic>
    </p:spTree>
    <p:extLst>
      <p:ext uri="{BB962C8B-B14F-4D97-AF65-F5344CB8AC3E}">
        <p14:creationId xmlns:p14="http://schemas.microsoft.com/office/powerpoint/2010/main" val="1860387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DF8D-D862-DFA4-490E-489B98B22A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EB8977-59DC-9353-74E4-979A4431C00F}"/>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7047852A-D7E7-678D-ECFC-91093623B50F}"/>
              </a:ext>
            </a:extLst>
          </p:cNvPr>
          <p:cNvPicPr>
            <a:picLocks noChangeAspect="1"/>
          </p:cNvPicPr>
          <p:nvPr/>
        </p:nvPicPr>
        <p:blipFill>
          <a:blip r:embed="rId2"/>
          <a:stretch>
            <a:fillRect/>
          </a:stretch>
        </p:blipFill>
        <p:spPr>
          <a:xfrm>
            <a:off x="1101670" y="1027906"/>
            <a:ext cx="6647483" cy="4819425"/>
          </a:xfrm>
          <a:prstGeom prst="rect">
            <a:avLst/>
          </a:prstGeom>
        </p:spPr>
      </p:pic>
    </p:spTree>
    <p:extLst>
      <p:ext uri="{BB962C8B-B14F-4D97-AF65-F5344CB8AC3E}">
        <p14:creationId xmlns:p14="http://schemas.microsoft.com/office/powerpoint/2010/main" val="2547034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B2176-632C-88DA-3150-7F13A546AB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ACE8A2-50CA-05D1-189E-E8B0C2C7A14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6BBFF1B-586C-1817-C997-97516CCBF64C}"/>
              </a:ext>
            </a:extLst>
          </p:cNvPr>
          <p:cNvPicPr>
            <a:picLocks noChangeAspect="1"/>
          </p:cNvPicPr>
          <p:nvPr/>
        </p:nvPicPr>
        <p:blipFill>
          <a:blip r:embed="rId2"/>
          <a:stretch>
            <a:fillRect/>
          </a:stretch>
        </p:blipFill>
        <p:spPr>
          <a:xfrm>
            <a:off x="1024179" y="1224367"/>
            <a:ext cx="9321925" cy="4018944"/>
          </a:xfrm>
          <a:prstGeom prst="rect">
            <a:avLst/>
          </a:prstGeom>
        </p:spPr>
      </p:pic>
    </p:spTree>
    <p:extLst>
      <p:ext uri="{BB962C8B-B14F-4D97-AF65-F5344CB8AC3E}">
        <p14:creationId xmlns:p14="http://schemas.microsoft.com/office/powerpoint/2010/main" val="617143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1590</Words>
  <Application>Microsoft Office PowerPoint</Application>
  <PresentationFormat>Widescreen</PresentationFormat>
  <Paragraphs>104</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Google Sans</vt:lpstr>
      <vt:lpstr>Office Theme</vt:lpstr>
      <vt:lpstr>8086 Microprocessor</vt:lpstr>
      <vt:lpstr>16 bit processor</vt:lpstr>
      <vt:lpstr>Features</vt:lpstr>
      <vt:lpstr>Features</vt:lpstr>
      <vt:lpstr>PIN diagram - 8086</vt:lpstr>
      <vt:lpstr>PowerPoint Presentation</vt:lpstr>
      <vt:lpstr>Block Diagram - 8086</vt:lpstr>
      <vt:lpstr>Functional parts of 8086</vt:lpstr>
      <vt:lpstr>PowerPoint Presentation</vt:lpstr>
      <vt:lpstr>PowerPoint Presentation</vt:lpstr>
      <vt:lpstr>PowerPoint Presentation</vt:lpstr>
      <vt:lpstr>Functional parts of 8086</vt:lpstr>
      <vt:lpstr>Flag Registers</vt:lpstr>
      <vt:lpstr>General purpose registers</vt:lpstr>
      <vt:lpstr>PowerPoint Presentation</vt:lpstr>
      <vt:lpstr>PowerPoint Presentation</vt:lpstr>
      <vt:lpstr>Addressing Modes of 8086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8086 Microprocessor</dc:title>
  <dc:creator>Dr. Swapna M P</dc:creator>
  <cp:lastModifiedBy>Dr. Swapna M P</cp:lastModifiedBy>
  <cp:revision>23</cp:revision>
  <dcterms:created xsi:type="dcterms:W3CDTF">2024-05-31T03:39:50Z</dcterms:created>
  <dcterms:modified xsi:type="dcterms:W3CDTF">2024-06-04T06:01:06Z</dcterms:modified>
</cp:coreProperties>
</file>