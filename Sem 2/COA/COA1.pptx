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2689" autoAdjust="0"/>
  </p:normalViewPr>
  <p:slideViewPr>
    <p:cSldViewPr snapToGrid="0">
      <p:cViewPr varScale="1">
        <p:scale>
          <a:sx n="60" d="100"/>
          <a:sy n="60" d="100"/>
        </p:scale>
        <p:origin x="114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18038-EAA7-4C9B-A2FA-D40C8AAFA177}" type="datetimeFigureOut">
              <a:rPr lang="en-IN" smtClean="0"/>
              <a:t>03-01-2024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1E4DC1-7134-4117-A8EE-C7208E1993FF}" type="slidenum">
              <a:rPr lang="en-IN" smtClean="0"/>
              <a:t>‹#›</a:t>
            </a:fld>
            <a:endParaRPr lang="en-IN"/>
          </a:p>
        </p:txBody>
      </p:sp>
    </p:spTree>
    <p:extLst>
      <p:ext uri="{BB962C8B-B14F-4D97-AF65-F5344CB8AC3E}">
        <p14:creationId xmlns:p14="http://schemas.microsoft.com/office/powerpoint/2010/main" val="2755816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main memory, which stores both data and instructions</a:t>
            </a:r>
          </a:p>
          <a:p>
            <a:r>
              <a:rPr lang="en-GB" dirty="0"/>
              <a:t>An arithmetic and logic unit (ALU) capable of operating on binary data </a:t>
            </a:r>
          </a:p>
          <a:p>
            <a:r>
              <a:rPr lang="en-GB" dirty="0"/>
              <a:t>A control unit, which interprets the instructions in memory and causes them to be executed </a:t>
            </a:r>
          </a:p>
          <a:p>
            <a:r>
              <a:rPr lang="en-GB" dirty="0"/>
              <a:t>Input and output (I/O) equipment operated by the control unit</a:t>
            </a:r>
            <a:endParaRPr lang="en-IN" dirty="0"/>
          </a:p>
        </p:txBody>
      </p:sp>
      <p:sp>
        <p:nvSpPr>
          <p:cNvPr id="4" name="Slide Number Placeholder 3"/>
          <p:cNvSpPr>
            <a:spLocks noGrp="1"/>
          </p:cNvSpPr>
          <p:nvPr>
            <p:ph type="sldNum" sz="quarter" idx="5"/>
          </p:nvPr>
        </p:nvSpPr>
        <p:spPr/>
        <p:txBody>
          <a:bodyPr/>
          <a:lstStyle/>
          <a:p>
            <a:fld id="{A01E4DC1-7134-4117-A8EE-C7208E1993FF}" type="slidenum">
              <a:rPr lang="en-IN" smtClean="0"/>
              <a:t>12</a:t>
            </a:fld>
            <a:endParaRPr lang="en-IN"/>
          </a:p>
        </p:txBody>
      </p:sp>
    </p:spTree>
    <p:extLst>
      <p:ext uri="{BB962C8B-B14F-4D97-AF65-F5344CB8AC3E}">
        <p14:creationId xmlns:p14="http://schemas.microsoft.com/office/powerpoint/2010/main" val="1210779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8CF56-9045-BD9C-6982-EE8A833105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BFD4D7-D0EC-64DC-730A-BFD95287D5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5304B4-2C6D-9739-D3D6-AFFDABE44694}"/>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72E70D87-0D8D-C24D-3F4E-635D8B038C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97F7E7-D156-FBED-985A-773CF6741260}"/>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958173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F7F1-1CE4-BC1F-FB84-43B1728A72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36BCEC-E339-5D46-6692-3B41C842A1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4DD477-593B-D55A-956F-9905197FAD82}"/>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205F2A13-1820-29B2-87FC-B384F839C0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0861B-A98D-0BBA-5A95-7F8DCB4001E2}"/>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184513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18E5-ED8F-068B-30D4-89AABCF5B6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FC2A57-840A-06DC-26ED-6BF45DBA25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67A1C2-4A76-E898-E486-A0FA99335B8E}"/>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0FB78A69-89F8-7400-0B2B-221FE59751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C3412A-4F23-C77D-1675-AC5BA5F18F27}"/>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262065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DA043-2266-EA82-BB1B-92817674D5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5C3D9F-D41C-F097-8796-6C7ECDB08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68F419-19A8-F022-3644-00C189015E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DC5058-047E-B4A0-67A2-B5E589E1ACD4}"/>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6" name="Footer Placeholder 5">
            <a:extLst>
              <a:ext uri="{FF2B5EF4-FFF2-40B4-BE49-F238E27FC236}">
                <a16:creationId xmlns:a16="http://schemas.microsoft.com/office/drawing/2014/main" id="{33FBA916-0129-48C0-60A9-885C3C8F49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744888-66F1-4A47-FE85-42378F63FB3A}"/>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243903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FDE74-927C-501D-909E-E7C540E41D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9A6E70-AC15-A41F-96BA-C36C6B6F3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000A34-9B89-EB96-8C78-89EC6EDA54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6B66A3-7EC2-2865-644E-263E9F8DB9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07A7B-E7F7-3839-52E0-D26361CA61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9F6AB2-AEA4-0F69-AE04-0FC2D87E22FB}"/>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8" name="Footer Placeholder 7">
            <a:extLst>
              <a:ext uri="{FF2B5EF4-FFF2-40B4-BE49-F238E27FC236}">
                <a16:creationId xmlns:a16="http://schemas.microsoft.com/office/drawing/2014/main" id="{1A2438B9-FB4F-105E-56EB-4604BE82FA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FC20F1-6A5E-2936-F5D8-383F2E589E6C}"/>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313882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56EB8-92C2-4F4E-881D-F856F66EAD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5E1EB8-C87A-4A70-99B6-D429F3352400}"/>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4" name="Footer Placeholder 3">
            <a:extLst>
              <a:ext uri="{FF2B5EF4-FFF2-40B4-BE49-F238E27FC236}">
                <a16:creationId xmlns:a16="http://schemas.microsoft.com/office/drawing/2014/main" id="{1566B4B3-037C-E9CD-85F5-E7226AABBB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34B914-A662-076A-DF1B-25C7C45D0C3F}"/>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2807155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94688-99EA-2D0F-2109-2681DF8A4674}"/>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3" name="Footer Placeholder 2">
            <a:extLst>
              <a:ext uri="{FF2B5EF4-FFF2-40B4-BE49-F238E27FC236}">
                <a16:creationId xmlns:a16="http://schemas.microsoft.com/office/drawing/2014/main" id="{C73B17DF-60A8-F05E-700B-C5837EABE4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CF2D22-BC49-90A6-AAF3-0A8B77E9E6CC}"/>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320420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5878-64DE-F311-AFF8-3F28A15FF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E22AE9-10AE-48FD-02E2-D60B75A574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7F01FD-0D27-2AFD-BD14-0F435E477E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C6A08D-7FBE-6213-B484-353BBD36B09E}"/>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6" name="Footer Placeholder 5">
            <a:extLst>
              <a:ext uri="{FF2B5EF4-FFF2-40B4-BE49-F238E27FC236}">
                <a16:creationId xmlns:a16="http://schemas.microsoft.com/office/drawing/2014/main" id="{1378B46E-D1EA-8EC9-2E32-CFFEB754E9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084551-4651-DA53-C99F-D87B1B4FF44C}"/>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142321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E6CD-7BFD-A28F-414E-F2CA90213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6F25DD-7CAC-580B-B691-7B6004F788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555A8E-7135-A1A6-88DF-97E6DBB7EC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17F41-513C-237A-988C-323C9D49FBD3}"/>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6" name="Footer Placeholder 5">
            <a:extLst>
              <a:ext uri="{FF2B5EF4-FFF2-40B4-BE49-F238E27FC236}">
                <a16:creationId xmlns:a16="http://schemas.microsoft.com/office/drawing/2014/main" id="{A6A08D63-597B-2B09-FBA9-9FC9C6849E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A5C8D1-EDC3-8212-442E-8D132CB7BB4C}"/>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2484116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D1C22-A48E-C28C-D339-49210CBD38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193065-90F0-6A3A-1441-ED80A269CB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AE2ECB-3F9F-4DA2-2775-9D1F9270A0D6}"/>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5C146581-2C23-0456-990F-A579C0DBF7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4BEF4-47A2-9BC1-5CF6-AAD88E0D4C9E}"/>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1258422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FEDADC-3266-4B7B-0478-B4FAE25D5A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C6B514-3AAE-3757-8710-24964FDFC5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B6038-272E-9372-BDDA-10813F16EF5D}"/>
              </a:ext>
            </a:extLst>
          </p:cNvPr>
          <p:cNvSpPr>
            <a:spLocks noGrp="1"/>
          </p:cNvSpPr>
          <p:nvPr>
            <p:ph type="dt" sz="half" idx="10"/>
          </p:nvPr>
        </p:nvSpPr>
        <p:spPr/>
        <p:txBody>
          <a:body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26A34831-F1CB-2BB9-30E3-C1D4D549FB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7866FB-9A53-31C1-A69F-3664F2176A29}"/>
              </a:ext>
            </a:extLst>
          </p:cNvPr>
          <p:cNvSpPr>
            <a:spLocks noGrp="1"/>
          </p:cNvSpPr>
          <p:nvPr>
            <p:ph type="sldNum" sz="quarter" idx="12"/>
          </p:nvPr>
        </p:nvSpPr>
        <p:spPr/>
        <p:txBody>
          <a:bodyPr/>
          <a:lstStyle/>
          <a:p>
            <a:fld id="{148EB3DA-A8F2-4FAF-9A16-1EB48744A9DA}" type="slidenum">
              <a:rPr lang="en-IN" smtClean="0"/>
              <a:t>‹#›</a:t>
            </a:fld>
            <a:endParaRPr lang="en-IN"/>
          </a:p>
        </p:txBody>
      </p:sp>
    </p:spTree>
    <p:extLst>
      <p:ext uri="{BB962C8B-B14F-4D97-AF65-F5344CB8AC3E}">
        <p14:creationId xmlns:p14="http://schemas.microsoft.com/office/powerpoint/2010/main" val="385835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41AD2-419A-2878-6CDD-58C5278A97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C6625E-02DA-FEB7-74B8-6B2ED9847F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547797-AC8A-42DA-2471-2BB7DE0EEC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B81734-4153-456C-919A-73458A26987E}" type="datetimeFigureOut">
              <a:rPr lang="en-IN" smtClean="0"/>
              <a:t>03-01-2024</a:t>
            </a:fld>
            <a:endParaRPr lang="en-IN"/>
          </a:p>
        </p:txBody>
      </p:sp>
      <p:sp>
        <p:nvSpPr>
          <p:cNvPr id="5" name="Footer Placeholder 4">
            <a:extLst>
              <a:ext uri="{FF2B5EF4-FFF2-40B4-BE49-F238E27FC236}">
                <a16:creationId xmlns:a16="http://schemas.microsoft.com/office/drawing/2014/main" id="{118830F9-FC20-42C2-235C-8ABC48BF2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9C71B78-7CA4-E272-1EDD-3260B5F375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8EB3DA-A8F2-4FAF-9A16-1EB48744A9DA}" type="slidenum">
              <a:rPr lang="en-IN" smtClean="0"/>
              <a:t>‹#›</a:t>
            </a:fld>
            <a:endParaRPr lang="en-IN"/>
          </a:p>
        </p:txBody>
      </p:sp>
    </p:spTree>
    <p:extLst>
      <p:ext uri="{BB962C8B-B14F-4D97-AF65-F5344CB8AC3E}">
        <p14:creationId xmlns:p14="http://schemas.microsoft.com/office/powerpoint/2010/main" val="1546630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2D2E-9C7A-E40E-4C7A-1D3557B1CFCB}"/>
              </a:ext>
            </a:extLst>
          </p:cNvPr>
          <p:cNvSpPr>
            <a:spLocks noGrp="1"/>
          </p:cNvSpPr>
          <p:nvPr>
            <p:ph type="ctrTitle"/>
          </p:nvPr>
        </p:nvSpPr>
        <p:spPr/>
        <p:txBody>
          <a:bodyPr/>
          <a:lstStyle/>
          <a:p>
            <a:r>
              <a:rPr lang="en-GB" dirty="0"/>
              <a:t>COA</a:t>
            </a:r>
            <a:endParaRPr lang="en-IN" dirty="0"/>
          </a:p>
        </p:txBody>
      </p:sp>
      <p:sp>
        <p:nvSpPr>
          <p:cNvPr id="3" name="Subtitle 2">
            <a:extLst>
              <a:ext uri="{FF2B5EF4-FFF2-40B4-BE49-F238E27FC236}">
                <a16:creationId xmlns:a16="http://schemas.microsoft.com/office/drawing/2014/main" id="{40AD49B1-6C68-25FB-1DA1-2EDDE2CE1EE2}"/>
              </a:ext>
            </a:extLst>
          </p:cNvPr>
          <p:cNvSpPr>
            <a:spLocks noGrp="1"/>
          </p:cNvSpPr>
          <p:nvPr>
            <p:ph type="subTitle" idx="1"/>
          </p:nvPr>
        </p:nvSpPr>
        <p:spPr/>
        <p:txBody>
          <a:bodyPr/>
          <a:lstStyle/>
          <a:p>
            <a:r>
              <a:rPr lang="en-GB" dirty="0"/>
              <a:t>Introduction and Performance of Computing system</a:t>
            </a:r>
            <a:endParaRPr lang="en-IN" dirty="0"/>
          </a:p>
        </p:txBody>
      </p:sp>
    </p:spTree>
    <p:extLst>
      <p:ext uri="{BB962C8B-B14F-4D97-AF65-F5344CB8AC3E}">
        <p14:creationId xmlns:p14="http://schemas.microsoft.com/office/powerpoint/2010/main" val="63930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D7979-5A35-502A-BFC5-77C838C943E4}"/>
              </a:ext>
            </a:extLst>
          </p:cNvPr>
          <p:cNvSpPr>
            <a:spLocks noGrp="1"/>
          </p:cNvSpPr>
          <p:nvPr>
            <p:ph type="title"/>
          </p:nvPr>
        </p:nvSpPr>
        <p:spPr/>
        <p:txBody>
          <a:bodyPr/>
          <a:lstStyle/>
          <a:p>
            <a:r>
              <a:rPr lang="en-GB" dirty="0"/>
              <a:t>Computer Architecture &amp; Organization</a:t>
            </a:r>
            <a:endParaRPr lang="en-IN" dirty="0"/>
          </a:p>
        </p:txBody>
      </p:sp>
      <p:sp>
        <p:nvSpPr>
          <p:cNvPr id="3" name="Content Placeholder 2">
            <a:extLst>
              <a:ext uri="{FF2B5EF4-FFF2-40B4-BE49-F238E27FC236}">
                <a16:creationId xmlns:a16="http://schemas.microsoft.com/office/drawing/2014/main" id="{8B70783C-6193-B78E-A859-C06F5E8F4B47}"/>
              </a:ext>
            </a:extLst>
          </p:cNvPr>
          <p:cNvSpPr>
            <a:spLocks noGrp="1"/>
          </p:cNvSpPr>
          <p:nvPr>
            <p:ph idx="1"/>
          </p:nvPr>
        </p:nvSpPr>
        <p:spPr/>
        <p:txBody>
          <a:bodyPr/>
          <a:lstStyle/>
          <a:p>
            <a:r>
              <a:rPr lang="en-GB" b="1" dirty="0"/>
              <a:t>Computer architecture </a:t>
            </a:r>
            <a:r>
              <a:rPr lang="en-GB" dirty="0"/>
              <a:t>refers to those attributes of a system visible to a programmer or, put another way, those attributes that have a direct impact on the logical execution of a program. </a:t>
            </a:r>
          </a:p>
          <a:p>
            <a:endParaRPr lang="en-GB" dirty="0"/>
          </a:p>
          <a:p>
            <a:r>
              <a:rPr lang="en-GB" b="1" dirty="0"/>
              <a:t>Computer organization </a:t>
            </a:r>
            <a:r>
              <a:rPr lang="en-GB" dirty="0"/>
              <a:t>refers to the operational units and their interconnections that realize the architectural specifications.</a:t>
            </a:r>
            <a:endParaRPr lang="en-IN" dirty="0"/>
          </a:p>
        </p:txBody>
      </p:sp>
    </p:spTree>
    <p:extLst>
      <p:ext uri="{BB962C8B-B14F-4D97-AF65-F5344CB8AC3E}">
        <p14:creationId xmlns:p14="http://schemas.microsoft.com/office/powerpoint/2010/main" val="1807677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46E5-FED9-7433-F060-BFD03F2484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9181F8-CAE0-CC80-A835-A1872D2ED436}"/>
              </a:ext>
            </a:extLst>
          </p:cNvPr>
          <p:cNvSpPr>
            <a:spLocks noGrp="1"/>
          </p:cNvSpPr>
          <p:nvPr>
            <p:ph idx="1"/>
          </p:nvPr>
        </p:nvSpPr>
        <p:spPr/>
        <p:txBody>
          <a:bodyPr/>
          <a:lstStyle/>
          <a:p>
            <a:r>
              <a:rPr lang="en-GB" dirty="0"/>
              <a:t>Examples of architectural attributes include the instruction set, the number of bits used to represent various data types (e.g., numbers, characters), I/O mechanisms, and techniques for addressing memory.</a:t>
            </a:r>
          </a:p>
          <a:p>
            <a:r>
              <a:rPr lang="en-GB" dirty="0"/>
              <a:t>Organizational attributes include those hardware details transparent to the programmer, such as control signals; interfaces between the computer and peripherals; and the memory technology used.</a:t>
            </a:r>
            <a:endParaRPr lang="en-IN" dirty="0"/>
          </a:p>
        </p:txBody>
      </p:sp>
    </p:spTree>
    <p:extLst>
      <p:ext uri="{BB962C8B-B14F-4D97-AF65-F5344CB8AC3E}">
        <p14:creationId xmlns:p14="http://schemas.microsoft.com/office/powerpoint/2010/main" val="2904856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07DC5-2428-ACD0-DB62-83269CB3EC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5E7F4B8-0C6C-3F27-7E77-3549780C0A49}"/>
              </a:ext>
            </a:extLst>
          </p:cNvPr>
          <p:cNvSpPr>
            <a:spLocks noGrp="1"/>
          </p:cNvSpPr>
          <p:nvPr>
            <p:ph idx="1"/>
          </p:nvPr>
        </p:nvSpPr>
        <p:spPr/>
        <p:txBody>
          <a:bodyPr/>
          <a:lstStyle/>
          <a:p>
            <a:r>
              <a:rPr lang="en-IN" dirty="0"/>
              <a:t>A computer is a complex system</a:t>
            </a:r>
          </a:p>
          <a:p>
            <a:r>
              <a:rPr lang="en-GB" dirty="0"/>
              <a:t>A hierarchical system is a set of interrelated subsystems</a:t>
            </a:r>
          </a:p>
          <a:p>
            <a:r>
              <a:rPr lang="en-GB" dirty="0"/>
              <a:t>At each level, the designer is concerned with structure and function: </a:t>
            </a:r>
          </a:p>
          <a:p>
            <a:pPr marL="0" indent="0">
              <a:buNone/>
            </a:pPr>
            <a:r>
              <a:rPr lang="en-GB" dirty="0"/>
              <a:t>	• Structure: The way in which the components are interrelated </a:t>
            </a:r>
          </a:p>
          <a:p>
            <a:pPr marL="0" indent="0">
              <a:buNone/>
            </a:pPr>
            <a:r>
              <a:rPr lang="en-GB" dirty="0"/>
              <a:t>	• Function: The operation of each individual component as part 			of the structure</a:t>
            </a:r>
            <a:endParaRPr lang="en-IN" dirty="0"/>
          </a:p>
        </p:txBody>
      </p:sp>
    </p:spTree>
    <p:extLst>
      <p:ext uri="{BB962C8B-B14F-4D97-AF65-F5344CB8AC3E}">
        <p14:creationId xmlns:p14="http://schemas.microsoft.com/office/powerpoint/2010/main" val="2592760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EC178-2252-704D-E7F0-1078CA82DDF9}"/>
              </a:ext>
            </a:extLst>
          </p:cNvPr>
          <p:cNvSpPr>
            <a:spLocks noGrp="1"/>
          </p:cNvSpPr>
          <p:nvPr>
            <p:ph type="title"/>
          </p:nvPr>
        </p:nvSpPr>
        <p:spPr/>
        <p:txBody>
          <a:bodyPr/>
          <a:lstStyle/>
          <a:p>
            <a:r>
              <a:rPr lang="en-GB" dirty="0"/>
              <a:t>Functional View of the Computer </a:t>
            </a:r>
            <a:endParaRPr lang="en-IN" dirty="0"/>
          </a:p>
        </p:txBody>
      </p:sp>
      <p:sp>
        <p:nvSpPr>
          <p:cNvPr id="3" name="Content Placeholder 2">
            <a:extLst>
              <a:ext uri="{FF2B5EF4-FFF2-40B4-BE49-F238E27FC236}">
                <a16:creationId xmlns:a16="http://schemas.microsoft.com/office/drawing/2014/main" id="{56A06902-DF97-AF5A-018B-9BC0FE91BC8C}"/>
              </a:ext>
            </a:extLst>
          </p:cNvPr>
          <p:cNvSpPr>
            <a:spLocks noGrp="1"/>
          </p:cNvSpPr>
          <p:nvPr>
            <p:ph idx="1"/>
          </p:nvPr>
        </p:nvSpPr>
        <p:spPr/>
        <p:txBody>
          <a:bodyPr/>
          <a:lstStyle/>
          <a:p>
            <a:r>
              <a:rPr lang="it-IT" dirty="0"/>
              <a:t>Data processing </a:t>
            </a:r>
          </a:p>
          <a:p>
            <a:pPr marL="0" indent="0">
              <a:buNone/>
            </a:pPr>
            <a:r>
              <a:rPr lang="it-IT" dirty="0"/>
              <a:t>• Data storage </a:t>
            </a:r>
          </a:p>
          <a:p>
            <a:pPr marL="0" indent="0">
              <a:buNone/>
            </a:pPr>
            <a:r>
              <a:rPr lang="it-IT" dirty="0"/>
              <a:t>• Data movement </a:t>
            </a:r>
          </a:p>
          <a:p>
            <a:pPr marL="0" indent="0">
              <a:buNone/>
            </a:pPr>
            <a:r>
              <a:rPr lang="it-IT" dirty="0"/>
              <a:t>• Control</a:t>
            </a:r>
            <a:endParaRPr lang="en-IN" dirty="0"/>
          </a:p>
        </p:txBody>
      </p:sp>
      <p:pic>
        <p:nvPicPr>
          <p:cNvPr id="5" name="Picture 4">
            <a:extLst>
              <a:ext uri="{FF2B5EF4-FFF2-40B4-BE49-F238E27FC236}">
                <a16:creationId xmlns:a16="http://schemas.microsoft.com/office/drawing/2014/main" id="{7780C2B9-D3DC-FD22-FAFF-87EAEB8EF17B}"/>
              </a:ext>
            </a:extLst>
          </p:cNvPr>
          <p:cNvPicPr>
            <a:picLocks noChangeAspect="1"/>
          </p:cNvPicPr>
          <p:nvPr/>
        </p:nvPicPr>
        <p:blipFill>
          <a:blip r:embed="rId2"/>
          <a:stretch>
            <a:fillRect/>
          </a:stretch>
        </p:blipFill>
        <p:spPr>
          <a:xfrm>
            <a:off x="6003235" y="1510580"/>
            <a:ext cx="5257800" cy="4769391"/>
          </a:xfrm>
          <a:prstGeom prst="rect">
            <a:avLst/>
          </a:prstGeom>
        </p:spPr>
      </p:pic>
    </p:spTree>
    <p:extLst>
      <p:ext uri="{BB962C8B-B14F-4D97-AF65-F5344CB8AC3E}">
        <p14:creationId xmlns:p14="http://schemas.microsoft.com/office/powerpoint/2010/main" val="126392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5B5E-C6A1-6FA6-317C-6D8C0AC492BE}"/>
              </a:ext>
            </a:extLst>
          </p:cNvPr>
          <p:cNvSpPr>
            <a:spLocks noGrp="1"/>
          </p:cNvSpPr>
          <p:nvPr>
            <p:ph type="title"/>
          </p:nvPr>
        </p:nvSpPr>
        <p:spPr/>
        <p:txBody>
          <a:bodyPr/>
          <a:lstStyle/>
          <a:p>
            <a:r>
              <a:rPr lang="en-GB" dirty="0"/>
              <a:t>Structure of a Computer</a:t>
            </a:r>
            <a:endParaRPr lang="en-IN" dirty="0"/>
          </a:p>
        </p:txBody>
      </p:sp>
      <p:sp>
        <p:nvSpPr>
          <p:cNvPr id="3" name="Content Placeholder 2">
            <a:extLst>
              <a:ext uri="{FF2B5EF4-FFF2-40B4-BE49-F238E27FC236}">
                <a16:creationId xmlns:a16="http://schemas.microsoft.com/office/drawing/2014/main" id="{9F9FC3A4-C58C-91DA-08E7-EFA84AC3C93D}"/>
              </a:ext>
            </a:extLst>
          </p:cNvPr>
          <p:cNvSpPr>
            <a:spLocks noGrp="1"/>
          </p:cNvSpPr>
          <p:nvPr>
            <p:ph idx="1"/>
          </p:nvPr>
        </p:nvSpPr>
        <p:spPr/>
        <p:txBody>
          <a:bodyPr/>
          <a:lstStyle/>
          <a:p>
            <a:r>
              <a:rPr lang="en-GB" dirty="0"/>
              <a:t>All of computers linkages to the external environment can be classified as peripheral devices or communication lines.</a:t>
            </a:r>
            <a:endParaRPr lang="en-IN" dirty="0"/>
          </a:p>
        </p:txBody>
      </p:sp>
      <p:pic>
        <p:nvPicPr>
          <p:cNvPr id="5" name="Picture 4">
            <a:extLst>
              <a:ext uri="{FF2B5EF4-FFF2-40B4-BE49-F238E27FC236}">
                <a16:creationId xmlns:a16="http://schemas.microsoft.com/office/drawing/2014/main" id="{E3072206-F08A-5314-4163-220D659E05A6}"/>
              </a:ext>
            </a:extLst>
          </p:cNvPr>
          <p:cNvPicPr>
            <a:picLocks noChangeAspect="1"/>
          </p:cNvPicPr>
          <p:nvPr/>
        </p:nvPicPr>
        <p:blipFill>
          <a:blip r:embed="rId2"/>
          <a:stretch>
            <a:fillRect/>
          </a:stretch>
        </p:blipFill>
        <p:spPr>
          <a:xfrm>
            <a:off x="3511826" y="3017905"/>
            <a:ext cx="4523098" cy="3293995"/>
          </a:xfrm>
          <a:prstGeom prst="rect">
            <a:avLst/>
          </a:prstGeom>
        </p:spPr>
      </p:pic>
    </p:spTree>
    <p:extLst>
      <p:ext uri="{BB962C8B-B14F-4D97-AF65-F5344CB8AC3E}">
        <p14:creationId xmlns:p14="http://schemas.microsoft.com/office/powerpoint/2010/main" val="310362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05D9-2DCE-8F9D-6D47-A44CEBC333DF}"/>
              </a:ext>
            </a:extLst>
          </p:cNvPr>
          <p:cNvSpPr>
            <a:spLocks noGrp="1"/>
          </p:cNvSpPr>
          <p:nvPr>
            <p:ph type="title"/>
          </p:nvPr>
        </p:nvSpPr>
        <p:spPr/>
        <p:txBody>
          <a:bodyPr/>
          <a:lstStyle/>
          <a:p>
            <a:r>
              <a:rPr lang="en-IN" dirty="0"/>
              <a:t>The Computer: Top-Level Structure </a:t>
            </a:r>
          </a:p>
        </p:txBody>
      </p:sp>
      <p:sp>
        <p:nvSpPr>
          <p:cNvPr id="3" name="Content Placeholder 2">
            <a:extLst>
              <a:ext uri="{FF2B5EF4-FFF2-40B4-BE49-F238E27FC236}">
                <a16:creationId xmlns:a16="http://schemas.microsoft.com/office/drawing/2014/main" id="{0842D559-F35D-8EC8-4626-298C9983FD5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C29DE0A-5275-DB91-80C2-9C1F9A39364E}"/>
              </a:ext>
            </a:extLst>
          </p:cNvPr>
          <p:cNvPicPr>
            <a:picLocks noChangeAspect="1"/>
          </p:cNvPicPr>
          <p:nvPr/>
        </p:nvPicPr>
        <p:blipFill>
          <a:blip r:embed="rId2"/>
          <a:stretch>
            <a:fillRect/>
          </a:stretch>
        </p:blipFill>
        <p:spPr>
          <a:xfrm>
            <a:off x="3645176" y="1552575"/>
            <a:ext cx="5219700" cy="5305425"/>
          </a:xfrm>
          <a:prstGeom prst="rect">
            <a:avLst/>
          </a:prstGeom>
        </p:spPr>
      </p:pic>
    </p:spTree>
    <p:extLst>
      <p:ext uri="{BB962C8B-B14F-4D97-AF65-F5344CB8AC3E}">
        <p14:creationId xmlns:p14="http://schemas.microsoft.com/office/powerpoint/2010/main" val="4141973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3922-F829-A885-35FB-3777FC6AD41A}"/>
              </a:ext>
            </a:extLst>
          </p:cNvPr>
          <p:cNvSpPr>
            <a:spLocks noGrp="1"/>
          </p:cNvSpPr>
          <p:nvPr>
            <p:ph type="title"/>
          </p:nvPr>
        </p:nvSpPr>
        <p:spPr/>
        <p:txBody>
          <a:bodyPr/>
          <a:lstStyle/>
          <a:p>
            <a:r>
              <a:rPr lang="en-IN" dirty="0"/>
              <a:t>Four main structural components</a:t>
            </a:r>
          </a:p>
        </p:txBody>
      </p:sp>
      <p:sp>
        <p:nvSpPr>
          <p:cNvPr id="3" name="Content Placeholder 2">
            <a:extLst>
              <a:ext uri="{FF2B5EF4-FFF2-40B4-BE49-F238E27FC236}">
                <a16:creationId xmlns:a16="http://schemas.microsoft.com/office/drawing/2014/main" id="{C088D83E-F60F-B6AB-FBE1-ABB3106379F1}"/>
              </a:ext>
            </a:extLst>
          </p:cNvPr>
          <p:cNvSpPr>
            <a:spLocks noGrp="1"/>
          </p:cNvSpPr>
          <p:nvPr>
            <p:ph idx="1"/>
          </p:nvPr>
        </p:nvSpPr>
        <p:spPr/>
        <p:txBody>
          <a:bodyPr>
            <a:normAutofit/>
          </a:bodyPr>
          <a:lstStyle/>
          <a:p>
            <a:r>
              <a:rPr lang="en-GB" dirty="0"/>
              <a:t>Central processing unit (CPU): Controls the operation of the computer and performs its data processing functions; often simply referred to as processor.</a:t>
            </a:r>
          </a:p>
          <a:p>
            <a:r>
              <a:rPr lang="en-GB" dirty="0"/>
              <a:t>Main memory: Stores data. </a:t>
            </a:r>
          </a:p>
          <a:p>
            <a:r>
              <a:rPr lang="en-GB" dirty="0"/>
              <a:t>I/O: Moves data between the computer and its external environment. </a:t>
            </a:r>
          </a:p>
          <a:p>
            <a:r>
              <a:rPr lang="en-GB" dirty="0"/>
              <a:t>System interconnection: Some mechanism that provides for communication among CPU, main memory, and I/O. An example is interconnection by means of a system bus, consisting of a number of conducting wires to which all the other components attach.</a:t>
            </a:r>
            <a:endParaRPr lang="en-IN" dirty="0"/>
          </a:p>
        </p:txBody>
      </p:sp>
    </p:spTree>
    <p:extLst>
      <p:ext uri="{BB962C8B-B14F-4D97-AF65-F5344CB8AC3E}">
        <p14:creationId xmlns:p14="http://schemas.microsoft.com/office/powerpoint/2010/main" val="4028796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98648-0364-DC34-58E7-7AF265F01B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399F21-1FAE-6CA0-A884-0B732D704DC7}"/>
              </a:ext>
            </a:extLst>
          </p:cNvPr>
          <p:cNvSpPr>
            <a:spLocks noGrp="1"/>
          </p:cNvSpPr>
          <p:nvPr>
            <p:ph idx="1"/>
          </p:nvPr>
        </p:nvSpPr>
        <p:spPr/>
        <p:txBody>
          <a:bodyPr/>
          <a:lstStyle/>
          <a:p>
            <a:r>
              <a:rPr lang="en-GB" dirty="0"/>
              <a:t>Major structural components of CPU are as follows: </a:t>
            </a:r>
          </a:p>
          <a:p>
            <a:pPr marL="457200" lvl="1" indent="0">
              <a:buNone/>
            </a:pPr>
            <a:r>
              <a:rPr lang="en-GB" dirty="0"/>
              <a:t>• Control unit: Controls the operation of the CPU and hence the computer </a:t>
            </a:r>
          </a:p>
          <a:p>
            <a:pPr marL="457200" lvl="1" indent="0">
              <a:buNone/>
            </a:pPr>
            <a:r>
              <a:rPr lang="en-GB" dirty="0"/>
              <a:t>• Arithmetic and logic unit (ALU): Performs the computer’s data processing functions </a:t>
            </a:r>
          </a:p>
          <a:p>
            <a:pPr marL="457200" lvl="1" indent="0">
              <a:buNone/>
            </a:pPr>
            <a:r>
              <a:rPr lang="en-GB" dirty="0"/>
              <a:t>• Registers: Provides storage internal to the CPU </a:t>
            </a:r>
          </a:p>
          <a:p>
            <a:pPr marL="457200" lvl="1" indent="0">
              <a:buNone/>
            </a:pPr>
            <a:r>
              <a:rPr lang="en-GB" dirty="0"/>
              <a:t>• CPU interconnection: Some mechanism that provides for communication among the control unit, ALU, and registers</a:t>
            </a:r>
            <a:endParaRPr lang="en-IN" dirty="0"/>
          </a:p>
        </p:txBody>
      </p:sp>
    </p:spTree>
    <p:extLst>
      <p:ext uri="{BB962C8B-B14F-4D97-AF65-F5344CB8AC3E}">
        <p14:creationId xmlns:p14="http://schemas.microsoft.com/office/powerpoint/2010/main" val="392221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1284-2CB9-5B8A-F47D-A3B68BEFDE61}"/>
              </a:ext>
            </a:extLst>
          </p:cNvPr>
          <p:cNvSpPr>
            <a:spLocks noGrp="1"/>
          </p:cNvSpPr>
          <p:nvPr>
            <p:ph type="title"/>
          </p:nvPr>
        </p:nvSpPr>
        <p:spPr/>
        <p:txBody>
          <a:bodyPr/>
          <a:lstStyle/>
          <a:p>
            <a:r>
              <a:rPr lang="en-GB" dirty="0"/>
              <a:t>HISTORY of Computers</a:t>
            </a:r>
            <a:endParaRPr lang="en-IN" dirty="0"/>
          </a:p>
        </p:txBody>
      </p:sp>
      <p:sp>
        <p:nvSpPr>
          <p:cNvPr id="3" name="Content Placeholder 2">
            <a:extLst>
              <a:ext uri="{FF2B5EF4-FFF2-40B4-BE49-F238E27FC236}">
                <a16:creationId xmlns:a16="http://schemas.microsoft.com/office/drawing/2014/main" id="{51332F32-5077-6889-7A34-20300EF8136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EE3038F-05FF-6E5C-1502-814EC88088A0}"/>
              </a:ext>
            </a:extLst>
          </p:cNvPr>
          <p:cNvPicPr>
            <a:picLocks noChangeAspect="1"/>
          </p:cNvPicPr>
          <p:nvPr/>
        </p:nvPicPr>
        <p:blipFill>
          <a:blip r:embed="rId2"/>
          <a:stretch>
            <a:fillRect/>
          </a:stretch>
        </p:blipFill>
        <p:spPr>
          <a:xfrm>
            <a:off x="1209487" y="1593366"/>
            <a:ext cx="9773025" cy="3341205"/>
          </a:xfrm>
          <a:prstGeom prst="rect">
            <a:avLst/>
          </a:prstGeom>
        </p:spPr>
      </p:pic>
      <p:pic>
        <p:nvPicPr>
          <p:cNvPr id="7" name="Picture 6">
            <a:extLst>
              <a:ext uri="{FF2B5EF4-FFF2-40B4-BE49-F238E27FC236}">
                <a16:creationId xmlns:a16="http://schemas.microsoft.com/office/drawing/2014/main" id="{D2C394E6-EE0D-0D4B-BA56-F03018903F28}"/>
              </a:ext>
            </a:extLst>
          </p:cNvPr>
          <p:cNvPicPr>
            <a:picLocks noChangeAspect="1"/>
          </p:cNvPicPr>
          <p:nvPr/>
        </p:nvPicPr>
        <p:blipFill>
          <a:blip r:embed="rId3"/>
          <a:stretch>
            <a:fillRect/>
          </a:stretch>
        </p:blipFill>
        <p:spPr>
          <a:xfrm>
            <a:off x="3697355" y="4896264"/>
            <a:ext cx="4510760" cy="1923429"/>
          </a:xfrm>
          <a:prstGeom prst="rect">
            <a:avLst/>
          </a:prstGeom>
        </p:spPr>
      </p:pic>
    </p:spTree>
    <p:extLst>
      <p:ext uri="{BB962C8B-B14F-4D97-AF65-F5344CB8AC3E}">
        <p14:creationId xmlns:p14="http://schemas.microsoft.com/office/powerpoint/2010/main" val="2971222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5C7A-B74A-22CF-ED7F-B791E9D9834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DFCDD1-CC16-C378-D76D-DEDF08900EC6}"/>
              </a:ext>
            </a:extLst>
          </p:cNvPr>
          <p:cNvSpPr>
            <a:spLocks noGrp="1"/>
          </p:cNvSpPr>
          <p:nvPr>
            <p:ph idx="1"/>
          </p:nvPr>
        </p:nvSpPr>
        <p:spPr/>
        <p:txBody>
          <a:bodyPr>
            <a:normAutofit fontScale="92500" lnSpcReduction="10000"/>
          </a:bodyPr>
          <a:lstStyle/>
          <a:p>
            <a:r>
              <a:rPr lang="en-GB" dirty="0"/>
              <a:t>The evolution of computers has been characterized by increasing processor speed, decreasing component size, increasing memory size, and increasing I/O capacity and speed</a:t>
            </a:r>
          </a:p>
          <a:p>
            <a:r>
              <a:rPr lang="en-GB" dirty="0"/>
              <a:t>Speed in recent years have come from the organization of the processor, including heavy use of </a:t>
            </a:r>
            <a:r>
              <a:rPr lang="en-GB" b="1" dirty="0"/>
              <a:t>pipelining and parallel execution </a:t>
            </a:r>
            <a:r>
              <a:rPr lang="en-GB" dirty="0"/>
              <a:t>techniques </a:t>
            </a:r>
          </a:p>
          <a:p>
            <a:r>
              <a:rPr lang="en-GB" dirty="0"/>
              <a:t>A critical issue in computer system design is balancing the performance of the various elements so that gains in performance in one area are not handicapped by a lag in other areas (processor speed is rapidly increased than memory access time)</a:t>
            </a:r>
          </a:p>
          <a:p>
            <a:r>
              <a:rPr lang="en-GB" dirty="0"/>
              <a:t>To overcome the mismatch - caches, wider data paths from memory to processor, and more intelligent memory chips are used</a:t>
            </a:r>
          </a:p>
        </p:txBody>
      </p:sp>
    </p:spTree>
    <p:extLst>
      <p:ext uri="{BB962C8B-B14F-4D97-AF65-F5344CB8AC3E}">
        <p14:creationId xmlns:p14="http://schemas.microsoft.com/office/powerpoint/2010/main" val="3106656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A1DA-90F5-5FDB-E689-F7FECFA654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A8468C-F7C3-7DB0-BF0E-946FF1BEECC2}"/>
              </a:ext>
            </a:extLst>
          </p:cNvPr>
          <p:cNvSpPr>
            <a:spLocks noGrp="1"/>
          </p:cNvSpPr>
          <p:nvPr>
            <p:ph idx="1"/>
          </p:nvPr>
        </p:nvSpPr>
        <p:spPr/>
        <p:txBody>
          <a:bodyPr/>
          <a:lstStyle/>
          <a:p>
            <a:r>
              <a:rPr lang="en-GB" dirty="0"/>
              <a:t>With rare exceptions, all of today’s computers have this same general structure and function and are thus referred to as </a:t>
            </a:r>
            <a:r>
              <a:rPr lang="en-GB" b="1" dirty="0"/>
              <a:t>Von Neumann machines.</a:t>
            </a:r>
            <a:endParaRPr lang="en-IN" b="1" dirty="0"/>
          </a:p>
        </p:txBody>
      </p:sp>
      <p:pic>
        <p:nvPicPr>
          <p:cNvPr id="5" name="Picture 4">
            <a:extLst>
              <a:ext uri="{FF2B5EF4-FFF2-40B4-BE49-F238E27FC236}">
                <a16:creationId xmlns:a16="http://schemas.microsoft.com/office/drawing/2014/main" id="{218216BD-747D-28DF-D095-2742D7779EF2}"/>
              </a:ext>
            </a:extLst>
          </p:cNvPr>
          <p:cNvPicPr>
            <a:picLocks noChangeAspect="1"/>
          </p:cNvPicPr>
          <p:nvPr/>
        </p:nvPicPr>
        <p:blipFill>
          <a:blip r:embed="rId3"/>
          <a:stretch>
            <a:fillRect/>
          </a:stretch>
        </p:blipFill>
        <p:spPr>
          <a:xfrm>
            <a:off x="2582310" y="2954604"/>
            <a:ext cx="5713550" cy="3538271"/>
          </a:xfrm>
          <a:prstGeom prst="rect">
            <a:avLst/>
          </a:prstGeom>
        </p:spPr>
      </p:pic>
    </p:spTree>
    <p:extLst>
      <p:ext uri="{BB962C8B-B14F-4D97-AF65-F5344CB8AC3E}">
        <p14:creationId xmlns:p14="http://schemas.microsoft.com/office/powerpoint/2010/main" val="3985489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1F5B1-A299-EFEF-5517-2F0C2F571534}"/>
              </a:ext>
            </a:extLst>
          </p:cNvPr>
          <p:cNvSpPr>
            <a:spLocks noGrp="1"/>
          </p:cNvSpPr>
          <p:nvPr>
            <p:ph type="title"/>
          </p:nvPr>
        </p:nvSpPr>
        <p:spPr/>
        <p:txBody>
          <a:bodyPr/>
          <a:lstStyle/>
          <a:p>
            <a:r>
              <a:rPr lang="en-GB" dirty="0"/>
              <a:t>Memory</a:t>
            </a:r>
            <a:endParaRPr lang="en-IN" dirty="0"/>
          </a:p>
        </p:txBody>
      </p:sp>
      <p:sp>
        <p:nvSpPr>
          <p:cNvPr id="3" name="Content Placeholder 2">
            <a:extLst>
              <a:ext uri="{FF2B5EF4-FFF2-40B4-BE49-F238E27FC236}">
                <a16:creationId xmlns:a16="http://schemas.microsoft.com/office/drawing/2014/main" id="{336FC6F3-F53C-1FE1-B94D-59A73677FC5B}"/>
              </a:ext>
            </a:extLst>
          </p:cNvPr>
          <p:cNvSpPr>
            <a:spLocks noGrp="1"/>
          </p:cNvSpPr>
          <p:nvPr>
            <p:ph idx="1"/>
          </p:nvPr>
        </p:nvSpPr>
        <p:spPr/>
        <p:txBody>
          <a:bodyPr/>
          <a:lstStyle/>
          <a:p>
            <a:r>
              <a:rPr lang="en-GB" dirty="0"/>
              <a:t>The memory of the IAS consists of 1000 storage locations, called words, of 40 binary digits (bits) each.</a:t>
            </a:r>
          </a:p>
          <a:p>
            <a:r>
              <a:rPr lang="en-GB" dirty="0"/>
              <a:t>Both data and instructions are stored there. Numbers are represented in binary form, and each instruction is a binary code.</a:t>
            </a:r>
          </a:p>
          <a:p>
            <a:r>
              <a:rPr lang="en-GB" dirty="0"/>
              <a:t>Each number is represented by a sign bit and a 39-bit value. </a:t>
            </a:r>
          </a:p>
          <a:p>
            <a:r>
              <a:rPr lang="en-GB" dirty="0"/>
              <a:t>A word may also contain two 20-bit instructions, with each instruction consisting of an 8-bit operation code (opcode) specifying the operation to be performed and a 12-bit address designating one of the words in memory (numbered from 0 to 999)</a:t>
            </a:r>
            <a:endParaRPr lang="en-IN" dirty="0"/>
          </a:p>
        </p:txBody>
      </p:sp>
    </p:spTree>
    <p:extLst>
      <p:ext uri="{BB962C8B-B14F-4D97-AF65-F5344CB8AC3E}">
        <p14:creationId xmlns:p14="http://schemas.microsoft.com/office/powerpoint/2010/main" val="875276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1D1F5-52AB-C3A3-B30C-48C67A99D0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9A6D43-F2CF-021F-FE3D-E7BDF2DD5C4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D29547F-C5B7-D1B4-FC15-0D2CF0214E4E}"/>
              </a:ext>
            </a:extLst>
          </p:cNvPr>
          <p:cNvPicPr>
            <a:picLocks noChangeAspect="1"/>
          </p:cNvPicPr>
          <p:nvPr/>
        </p:nvPicPr>
        <p:blipFill>
          <a:blip r:embed="rId2"/>
          <a:stretch>
            <a:fillRect/>
          </a:stretch>
        </p:blipFill>
        <p:spPr>
          <a:xfrm>
            <a:off x="1708233" y="2045369"/>
            <a:ext cx="8301288" cy="3489158"/>
          </a:xfrm>
          <a:prstGeom prst="rect">
            <a:avLst/>
          </a:prstGeom>
        </p:spPr>
      </p:pic>
    </p:spTree>
    <p:extLst>
      <p:ext uri="{BB962C8B-B14F-4D97-AF65-F5344CB8AC3E}">
        <p14:creationId xmlns:p14="http://schemas.microsoft.com/office/powerpoint/2010/main" val="4261482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3EEB0-8B81-B02A-BE4D-102FE354DA1F}"/>
              </a:ext>
            </a:extLst>
          </p:cNvPr>
          <p:cNvSpPr>
            <a:spLocks noGrp="1"/>
          </p:cNvSpPr>
          <p:nvPr>
            <p:ph type="title"/>
          </p:nvPr>
        </p:nvSpPr>
        <p:spPr>
          <a:xfrm>
            <a:off x="693821" y="39353"/>
            <a:ext cx="10515600" cy="1009651"/>
          </a:xfrm>
        </p:spPr>
        <p:txBody>
          <a:bodyPr/>
          <a:lstStyle/>
          <a:p>
            <a:r>
              <a:rPr lang="en-GB" dirty="0"/>
              <a:t>Expanded Structure of Computer</a:t>
            </a:r>
            <a:endParaRPr lang="en-IN" dirty="0"/>
          </a:p>
        </p:txBody>
      </p:sp>
      <p:sp>
        <p:nvSpPr>
          <p:cNvPr id="3" name="Content Placeholder 2">
            <a:extLst>
              <a:ext uri="{FF2B5EF4-FFF2-40B4-BE49-F238E27FC236}">
                <a16:creationId xmlns:a16="http://schemas.microsoft.com/office/drawing/2014/main" id="{66C4026A-378F-849C-AA54-D8B687DF28E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64D1BD4-740A-2E31-B5C1-85A5F2D91B18}"/>
              </a:ext>
            </a:extLst>
          </p:cNvPr>
          <p:cNvPicPr>
            <a:picLocks noChangeAspect="1"/>
          </p:cNvPicPr>
          <p:nvPr/>
        </p:nvPicPr>
        <p:blipFill>
          <a:blip r:embed="rId2"/>
          <a:stretch>
            <a:fillRect/>
          </a:stretch>
        </p:blipFill>
        <p:spPr>
          <a:xfrm>
            <a:off x="3208421" y="765078"/>
            <a:ext cx="6481010" cy="6092922"/>
          </a:xfrm>
          <a:prstGeom prst="rect">
            <a:avLst/>
          </a:prstGeom>
        </p:spPr>
      </p:pic>
    </p:spTree>
    <p:extLst>
      <p:ext uri="{BB962C8B-B14F-4D97-AF65-F5344CB8AC3E}">
        <p14:creationId xmlns:p14="http://schemas.microsoft.com/office/powerpoint/2010/main" val="3909844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5F31-22F5-F006-987B-9F6DAF513E7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09DF19-0240-FD21-116B-969A9056100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C9837E4-32E5-A74C-D06B-B51A757FC1AE}"/>
              </a:ext>
            </a:extLst>
          </p:cNvPr>
          <p:cNvPicPr>
            <a:picLocks noChangeAspect="1"/>
          </p:cNvPicPr>
          <p:nvPr/>
        </p:nvPicPr>
        <p:blipFill>
          <a:blip r:embed="rId2"/>
          <a:stretch>
            <a:fillRect/>
          </a:stretch>
        </p:blipFill>
        <p:spPr>
          <a:xfrm>
            <a:off x="1122948" y="1284872"/>
            <a:ext cx="9657346" cy="5051535"/>
          </a:xfrm>
          <a:prstGeom prst="rect">
            <a:avLst/>
          </a:prstGeom>
        </p:spPr>
      </p:pic>
    </p:spTree>
    <p:extLst>
      <p:ext uri="{BB962C8B-B14F-4D97-AF65-F5344CB8AC3E}">
        <p14:creationId xmlns:p14="http://schemas.microsoft.com/office/powerpoint/2010/main" val="376467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17E0D-EE96-BF80-BA71-8FD0E9DD2EF3}"/>
              </a:ext>
            </a:extLst>
          </p:cNvPr>
          <p:cNvSpPr>
            <a:spLocks noGrp="1"/>
          </p:cNvSpPr>
          <p:nvPr>
            <p:ph type="title"/>
          </p:nvPr>
        </p:nvSpPr>
        <p:spPr/>
        <p:txBody>
          <a:bodyPr/>
          <a:lstStyle/>
          <a:p>
            <a:r>
              <a:rPr lang="en-IN" dirty="0"/>
              <a:t>Instruction cycle</a:t>
            </a:r>
          </a:p>
        </p:txBody>
      </p:sp>
      <p:sp>
        <p:nvSpPr>
          <p:cNvPr id="3" name="Content Placeholder 2">
            <a:extLst>
              <a:ext uri="{FF2B5EF4-FFF2-40B4-BE49-F238E27FC236}">
                <a16:creationId xmlns:a16="http://schemas.microsoft.com/office/drawing/2014/main" id="{BE67230E-B3BD-D4C6-4402-8EC3D7D46ABE}"/>
              </a:ext>
            </a:extLst>
          </p:cNvPr>
          <p:cNvSpPr>
            <a:spLocks noGrp="1"/>
          </p:cNvSpPr>
          <p:nvPr>
            <p:ph idx="1"/>
          </p:nvPr>
        </p:nvSpPr>
        <p:spPr/>
        <p:txBody>
          <a:bodyPr/>
          <a:lstStyle/>
          <a:p>
            <a:r>
              <a:rPr lang="en-GB" dirty="0"/>
              <a:t>Each instruction cycle consists of two </a:t>
            </a:r>
            <a:r>
              <a:rPr lang="en-GB" dirty="0" err="1"/>
              <a:t>subcycles</a:t>
            </a:r>
            <a:r>
              <a:rPr lang="en-GB" dirty="0"/>
              <a:t>. </a:t>
            </a:r>
          </a:p>
          <a:p>
            <a:pPr marL="514350" indent="-514350">
              <a:buAutoNum type="arabicParenBoth"/>
            </a:pPr>
            <a:r>
              <a:rPr lang="en-GB" b="1" dirty="0"/>
              <a:t>Fetch cycle </a:t>
            </a:r>
            <a:r>
              <a:rPr lang="en-GB" dirty="0"/>
              <a:t>- the opcode of the next instruction is loaded into the IR and the address portion is loaded into the MAR. This instruction may be taken from the IBR, or it can be obtained from memory by loading a word into the MBR, and then down to the IBR, IR, and MAR.</a:t>
            </a:r>
          </a:p>
          <a:p>
            <a:pPr marL="514350" indent="-514350">
              <a:buAutoNum type="arabicParenBoth"/>
            </a:pPr>
            <a:r>
              <a:rPr lang="en-GB" dirty="0"/>
              <a:t>Once the opcode is in the IR, the </a:t>
            </a:r>
            <a:r>
              <a:rPr lang="en-GB" b="1" dirty="0"/>
              <a:t>execute cycle </a:t>
            </a:r>
            <a:r>
              <a:rPr lang="en-GB" dirty="0"/>
              <a:t>is performed. Control circuitry interprets the opcode and executes the instruction by sending out the appropriate control signals to cause data to be moved or an operation to be performed by the ALU</a:t>
            </a:r>
            <a:endParaRPr lang="en-IN" dirty="0"/>
          </a:p>
        </p:txBody>
      </p:sp>
    </p:spTree>
    <p:extLst>
      <p:ext uri="{BB962C8B-B14F-4D97-AF65-F5344CB8AC3E}">
        <p14:creationId xmlns:p14="http://schemas.microsoft.com/office/powerpoint/2010/main" val="3024645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CDF0-7214-B159-9270-58049A4E01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AFE299-7440-9C91-2395-D8AE535263D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08128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812</Words>
  <Application>Microsoft Office PowerPoint</Application>
  <PresentationFormat>Widescreen</PresentationFormat>
  <Paragraphs>52</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COA</vt:lpstr>
      <vt:lpstr>Computer Architecture &amp; Organization</vt:lpstr>
      <vt:lpstr>PowerPoint Presentation</vt:lpstr>
      <vt:lpstr>PowerPoint Presentation</vt:lpstr>
      <vt:lpstr>Functional View of the Computer </vt:lpstr>
      <vt:lpstr>Structure of a Computer</vt:lpstr>
      <vt:lpstr>The Computer: Top-Level Structure </vt:lpstr>
      <vt:lpstr>Four main structural components</vt:lpstr>
      <vt:lpstr>PowerPoint Presentation</vt:lpstr>
      <vt:lpstr>HISTORY of Computers</vt:lpstr>
      <vt:lpstr>PowerPoint Presentation</vt:lpstr>
      <vt:lpstr>PowerPoint Presentation</vt:lpstr>
      <vt:lpstr>Memory</vt:lpstr>
      <vt:lpstr>PowerPoint Presentation</vt:lpstr>
      <vt:lpstr>Expanded Structure of Computer</vt:lpstr>
      <vt:lpstr>PowerPoint Presentation</vt:lpstr>
      <vt:lpstr>Instruction cycle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dc:title>
  <dc:creator>Swapna M P</dc:creator>
  <cp:lastModifiedBy>Swapna M P</cp:lastModifiedBy>
  <cp:revision>24</cp:revision>
  <dcterms:created xsi:type="dcterms:W3CDTF">2024-01-03T04:51:28Z</dcterms:created>
  <dcterms:modified xsi:type="dcterms:W3CDTF">2024-01-03T06:13:09Z</dcterms:modified>
</cp:coreProperties>
</file>