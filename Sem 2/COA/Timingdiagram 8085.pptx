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8"/>
  </p:notesMasterIdLst>
  <p:sldIdLst>
    <p:sldId id="256" r:id="rId2"/>
    <p:sldId id="269" r:id="rId3"/>
    <p:sldId id="272" r:id="rId4"/>
    <p:sldId id="270" r:id="rId5"/>
    <p:sldId id="271" r:id="rId6"/>
    <p:sldId id="274" r:id="rId7"/>
    <p:sldId id="285" r:id="rId8"/>
    <p:sldId id="275" r:id="rId9"/>
    <p:sldId id="257" r:id="rId10"/>
    <p:sldId id="258" r:id="rId11"/>
    <p:sldId id="276" r:id="rId12"/>
    <p:sldId id="277" r:id="rId13"/>
    <p:sldId id="279" r:id="rId14"/>
    <p:sldId id="259" r:id="rId15"/>
    <p:sldId id="260" r:id="rId16"/>
    <p:sldId id="261" r:id="rId17"/>
    <p:sldId id="280" r:id="rId18"/>
    <p:sldId id="278" r:id="rId19"/>
    <p:sldId id="282" r:id="rId20"/>
    <p:sldId id="283" r:id="rId21"/>
    <p:sldId id="284" r:id="rId22"/>
    <p:sldId id="281" r:id="rId23"/>
    <p:sldId id="286" r:id="rId24"/>
    <p:sldId id="266" r:id="rId25"/>
    <p:sldId id="268" r:id="rId26"/>
    <p:sldId id="267"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44" autoAdjust="0"/>
    <p:restoredTop sz="94660"/>
  </p:normalViewPr>
  <p:slideViewPr>
    <p:cSldViewPr snapToGrid="0">
      <p:cViewPr varScale="1">
        <p:scale>
          <a:sx n="62" d="100"/>
          <a:sy n="62" d="100"/>
        </p:scale>
        <p:origin x="972"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2A04A1-AC99-4E7B-8280-34DDA5BA139D}" type="datetimeFigureOut">
              <a:rPr lang="en-IN" smtClean="0"/>
              <a:t>21-05-2024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D623097-4921-4910-ACEA-63AF4439E58D}" type="slidenum">
              <a:rPr lang="en-IN" smtClean="0"/>
              <a:t>‹#›</a:t>
            </a:fld>
            <a:endParaRPr lang="en-IN"/>
          </a:p>
        </p:txBody>
      </p:sp>
    </p:spTree>
    <p:extLst>
      <p:ext uri="{BB962C8B-B14F-4D97-AF65-F5344CB8AC3E}">
        <p14:creationId xmlns:p14="http://schemas.microsoft.com/office/powerpoint/2010/main" val="21663391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7D623097-4921-4910-ACEA-63AF4439E58D}" type="slidenum">
              <a:rPr lang="en-IN" smtClean="0"/>
              <a:t>23</a:t>
            </a:fld>
            <a:endParaRPr lang="en-IN"/>
          </a:p>
        </p:txBody>
      </p:sp>
    </p:spTree>
    <p:extLst>
      <p:ext uri="{BB962C8B-B14F-4D97-AF65-F5344CB8AC3E}">
        <p14:creationId xmlns:p14="http://schemas.microsoft.com/office/powerpoint/2010/main" val="21000202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7862F3-F87B-4110-5EEC-1234DF8DC59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14BFA2D6-5B02-B44C-82D2-B9299D5A7E3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6E62D04A-92A2-38B4-C2B7-C9D8E66189C7}"/>
              </a:ext>
            </a:extLst>
          </p:cNvPr>
          <p:cNvSpPr>
            <a:spLocks noGrp="1"/>
          </p:cNvSpPr>
          <p:nvPr>
            <p:ph type="dt" sz="half" idx="10"/>
          </p:nvPr>
        </p:nvSpPr>
        <p:spPr/>
        <p:txBody>
          <a:bodyPr/>
          <a:lstStyle/>
          <a:p>
            <a:fld id="{49246E87-631B-402E-805D-311845ED1270}" type="datetimeFigureOut">
              <a:rPr lang="en-IN" smtClean="0"/>
              <a:t>21-05-2024</a:t>
            </a:fld>
            <a:endParaRPr lang="en-IN"/>
          </a:p>
        </p:txBody>
      </p:sp>
      <p:sp>
        <p:nvSpPr>
          <p:cNvPr id="5" name="Footer Placeholder 4">
            <a:extLst>
              <a:ext uri="{FF2B5EF4-FFF2-40B4-BE49-F238E27FC236}">
                <a16:creationId xmlns:a16="http://schemas.microsoft.com/office/drawing/2014/main" id="{D61406CE-E998-A6BA-5DC1-4A0B9066D89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3BB1ACD-7A6B-F2F6-7C32-46A5DE35D6E3}"/>
              </a:ext>
            </a:extLst>
          </p:cNvPr>
          <p:cNvSpPr>
            <a:spLocks noGrp="1"/>
          </p:cNvSpPr>
          <p:nvPr>
            <p:ph type="sldNum" sz="quarter" idx="12"/>
          </p:nvPr>
        </p:nvSpPr>
        <p:spPr/>
        <p:txBody>
          <a:bodyPr/>
          <a:lstStyle/>
          <a:p>
            <a:fld id="{69B3448E-E15C-492F-9CC2-9DE10DE2BE6F}" type="slidenum">
              <a:rPr lang="en-IN" smtClean="0"/>
              <a:t>‹#›</a:t>
            </a:fld>
            <a:endParaRPr lang="en-IN"/>
          </a:p>
        </p:txBody>
      </p:sp>
    </p:spTree>
    <p:extLst>
      <p:ext uri="{BB962C8B-B14F-4D97-AF65-F5344CB8AC3E}">
        <p14:creationId xmlns:p14="http://schemas.microsoft.com/office/powerpoint/2010/main" val="15217573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B47807-77DD-C335-762A-A1020CCEEF4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8A03471-A95B-1E2A-442D-4C08FC9E6EB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78F7641-D350-EDA5-0A8E-6EB2B584872D}"/>
              </a:ext>
            </a:extLst>
          </p:cNvPr>
          <p:cNvSpPr>
            <a:spLocks noGrp="1"/>
          </p:cNvSpPr>
          <p:nvPr>
            <p:ph type="dt" sz="half" idx="10"/>
          </p:nvPr>
        </p:nvSpPr>
        <p:spPr/>
        <p:txBody>
          <a:bodyPr/>
          <a:lstStyle/>
          <a:p>
            <a:fld id="{49246E87-631B-402E-805D-311845ED1270}" type="datetimeFigureOut">
              <a:rPr lang="en-IN" smtClean="0"/>
              <a:t>21-05-2024</a:t>
            </a:fld>
            <a:endParaRPr lang="en-IN"/>
          </a:p>
        </p:txBody>
      </p:sp>
      <p:sp>
        <p:nvSpPr>
          <p:cNvPr id="5" name="Footer Placeholder 4">
            <a:extLst>
              <a:ext uri="{FF2B5EF4-FFF2-40B4-BE49-F238E27FC236}">
                <a16:creationId xmlns:a16="http://schemas.microsoft.com/office/drawing/2014/main" id="{3ED8B267-68A1-39B0-12EF-D51F09CF92C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A7F733F-F9A9-E546-9E9F-CA497969631C}"/>
              </a:ext>
            </a:extLst>
          </p:cNvPr>
          <p:cNvSpPr>
            <a:spLocks noGrp="1"/>
          </p:cNvSpPr>
          <p:nvPr>
            <p:ph type="sldNum" sz="quarter" idx="12"/>
          </p:nvPr>
        </p:nvSpPr>
        <p:spPr/>
        <p:txBody>
          <a:bodyPr/>
          <a:lstStyle/>
          <a:p>
            <a:fld id="{69B3448E-E15C-492F-9CC2-9DE10DE2BE6F}" type="slidenum">
              <a:rPr lang="en-IN" smtClean="0"/>
              <a:t>‹#›</a:t>
            </a:fld>
            <a:endParaRPr lang="en-IN"/>
          </a:p>
        </p:txBody>
      </p:sp>
    </p:spTree>
    <p:extLst>
      <p:ext uri="{BB962C8B-B14F-4D97-AF65-F5344CB8AC3E}">
        <p14:creationId xmlns:p14="http://schemas.microsoft.com/office/powerpoint/2010/main" val="3761163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BC0A03-7CF2-08DB-1EF7-8FA837FC92A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2D1B305F-962D-78A4-8570-D6E2819E3D4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838D118-999A-08B7-FE9F-24BD10AB9E3A}"/>
              </a:ext>
            </a:extLst>
          </p:cNvPr>
          <p:cNvSpPr>
            <a:spLocks noGrp="1"/>
          </p:cNvSpPr>
          <p:nvPr>
            <p:ph type="dt" sz="half" idx="10"/>
          </p:nvPr>
        </p:nvSpPr>
        <p:spPr/>
        <p:txBody>
          <a:bodyPr/>
          <a:lstStyle/>
          <a:p>
            <a:fld id="{49246E87-631B-402E-805D-311845ED1270}" type="datetimeFigureOut">
              <a:rPr lang="en-IN" smtClean="0"/>
              <a:t>21-05-2024</a:t>
            </a:fld>
            <a:endParaRPr lang="en-IN"/>
          </a:p>
        </p:txBody>
      </p:sp>
      <p:sp>
        <p:nvSpPr>
          <p:cNvPr id="5" name="Footer Placeholder 4">
            <a:extLst>
              <a:ext uri="{FF2B5EF4-FFF2-40B4-BE49-F238E27FC236}">
                <a16:creationId xmlns:a16="http://schemas.microsoft.com/office/drawing/2014/main" id="{573912FD-C6CC-946B-6333-46A7F1D92F5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54CDA85-9C0D-3C00-7F5F-C58C9F727352}"/>
              </a:ext>
            </a:extLst>
          </p:cNvPr>
          <p:cNvSpPr>
            <a:spLocks noGrp="1"/>
          </p:cNvSpPr>
          <p:nvPr>
            <p:ph type="sldNum" sz="quarter" idx="12"/>
          </p:nvPr>
        </p:nvSpPr>
        <p:spPr/>
        <p:txBody>
          <a:bodyPr/>
          <a:lstStyle/>
          <a:p>
            <a:fld id="{69B3448E-E15C-492F-9CC2-9DE10DE2BE6F}" type="slidenum">
              <a:rPr lang="en-IN" smtClean="0"/>
              <a:t>‹#›</a:t>
            </a:fld>
            <a:endParaRPr lang="en-IN"/>
          </a:p>
        </p:txBody>
      </p:sp>
    </p:spTree>
    <p:extLst>
      <p:ext uri="{BB962C8B-B14F-4D97-AF65-F5344CB8AC3E}">
        <p14:creationId xmlns:p14="http://schemas.microsoft.com/office/powerpoint/2010/main" val="30950323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BDC5CC-89C8-992A-0A57-BCA0A5975DC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FFA04CD-065C-7B0B-477B-BCD81681770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0419EC65-FE4B-8E68-75D5-9EB499D1EE3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64986134-E330-9A34-A9D7-FF50D59302B3}"/>
              </a:ext>
            </a:extLst>
          </p:cNvPr>
          <p:cNvSpPr>
            <a:spLocks noGrp="1"/>
          </p:cNvSpPr>
          <p:nvPr>
            <p:ph type="dt" sz="half" idx="10"/>
          </p:nvPr>
        </p:nvSpPr>
        <p:spPr/>
        <p:txBody>
          <a:bodyPr/>
          <a:lstStyle/>
          <a:p>
            <a:fld id="{49246E87-631B-402E-805D-311845ED1270}" type="datetimeFigureOut">
              <a:rPr lang="en-IN" smtClean="0"/>
              <a:t>21-05-2024</a:t>
            </a:fld>
            <a:endParaRPr lang="en-IN"/>
          </a:p>
        </p:txBody>
      </p:sp>
      <p:sp>
        <p:nvSpPr>
          <p:cNvPr id="6" name="Footer Placeholder 5">
            <a:extLst>
              <a:ext uri="{FF2B5EF4-FFF2-40B4-BE49-F238E27FC236}">
                <a16:creationId xmlns:a16="http://schemas.microsoft.com/office/drawing/2014/main" id="{44496860-7BDB-CBAC-3BD5-A76DDBABBCD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2017DF4-4F77-C2D4-4B21-8D1435F0FAA0}"/>
              </a:ext>
            </a:extLst>
          </p:cNvPr>
          <p:cNvSpPr>
            <a:spLocks noGrp="1"/>
          </p:cNvSpPr>
          <p:nvPr>
            <p:ph type="sldNum" sz="quarter" idx="12"/>
          </p:nvPr>
        </p:nvSpPr>
        <p:spPr/>
        <p:txBody>
          <a:bodyPr/>
          <a:lstStyle/>
          <a:p>
            <a:fld id="{69B3448E-E15C-492F-9CC2-9DE10DE2BE6F}" type="slidenum">
              <a:rPr lang="en-IN" smtClean="0"/>
              <a:t>‹#›</a:t>
            </a:fld>
            <a:endParaRPr lang="en-IN"/>
          </a:p>
        </p:txBody>
      </p:sp>
    </p:spTree>
    <p:extLst>
      <p:ext uri="{BB962C8B-B14F-4D97-AF65-F5344CB8AC3E}">
        <p14:creationId xmlns:p14="http://schemas.microsoft.com/office/powerpoint/2010/main" val="13772020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3885B8-29A5-0DB1-5061-2C605925326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2FBE6BB-E995-74C6-369D-4E20A7823C8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C5AFD1F-A557-1E49-BFA1-3ECAD810AB8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75745214-8A0E-984B-19ED-111B494D7BE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5FDC7F7-2787-4B8C-F546-771C335EA09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6DE890A-6F86-BDB5-44A6-1A5F6A49BEDD}"/>
              </a:ext>
            </a:extLst>
          </p:cNvPr>
          <p:cNvSpPr>
            <a:spLocks noGrp="1"/>
          </p:cNvSpPr>
          <p:nvPr>
            <p:ph type="dt" sz="half" idx="10"/>
          </p:nvPr>
        </p:nvSpPr>
        <p:spPr/>
        <p:txBody>
          <a:bodyPr/>
          <a:lstStyle/>
          <a:p>
            <a:fld id="{49246E87-631B-402E-805D-311845ED1270}" type="datetimeFigureOut">
              <a:rPr lang="en-IN" smtClean="0"/>
              <a:t>21-05-2024</a:t>
            </a:fld>
            <a:endParaRPr lang="en-IN"/>
          </a:p>
        </p:txBody>
      </p:sp>
      <p:sp>
        <p:nvSpPr>
          <p:cNvPr id="8" name="Footer Placeholder 7">
            <a:extLst>
              <a:ext uri="{FF2B5EF4-FFF2-40B4-BE49-F238E27FC236}">
                <a16:creationId xmlns:a16="http://schemas.microsoft.com/office/drawing/2014/main" id="{E754FCFE-3FD9-6CFA-7F9D-3B4E943DBDF0}"/>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D25239FF-3669-5D3A-C946-D4EDD72781F7}"/>
              </a:ext>
            </a:extLst>
          </p:cNvPr>
          <p:cNvSpPr>
            <a:spLocks noGrp="1"/>
          </p:cNvSpPr>
          <p:nvPr>
            <p:ph type="sldNum" sz="quarter" idx="12"/>
          </p:nvPr>
        </p:nvSpPr>
        <p:spPr/>
        <p:txBody>
          <a:bodyPr/>
          <a:lstStyle/>
          <a:p>
            <a:fld id="{69B3448E-E15C-492F-9CC2-9DE10DE2BE6F}" type="slidenum">
              <a:rPr lang="en-IN" smtClean="0"/>
              <a:t>‹#›</a:t>
            </a:fld>
            <a:endParaRPr lang="en-IN"/>
          </a:p>
        </p:txBody>
      </p:sp>
    </p:spTree>
    <p:extLst>
      <p:ext uri="{BB962C8B-B14F-4D97-AF65-F5344CB8AC3E}">
        <p14:creationId xmlns:p14="http://schemas.microsoft.com/office/powerpoint/2010/main" val="24982584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D1D928-22A3-8DDA-3F73-A3079E26F9F3}"/>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2170D23C-3660-A69E-CE05-BFD00351FF3F}"/>
              </a:ext>
            </a:extLst>
          </p:cNvPr>
          <p:cNvSpPr>
            <a:spLocks noGrp="1"/>
          </p:cNvSpPr>
          <p:nvPr>
            <p:ph type="dt" sz="half" idx="10"/>
          </p:nvPr>
        </p:nvSpPr>
        <p:spPr/>
        <p:txBody>
          <a:bodyPr/>
          <a:lstStyle/>
          <a:p>
            <a:fld id="{49246E87-631B-402E-805D-311845ED1270}" type="datetimeFigureOut">
              <a:rPr lang="en-IN" smtClean="0"/>
              <a:t>21-05-2024</a:t>
            </a:fld>
            <a:endParaRPr lang="en-IN"/>
          </a:p>
        </p:txBody>
      </p:sp>
      <p:sp>
        <p:nvSpPr>
          <p:cNvPr id="4" name="Footer Placeholder 3">
            <a:extLst>
              <a:ext uri="{FF2B5EF4-FFF2-40B4-BE49-F238E27FC236}">
                <a16:creationId xmlns:a16="http://schemas.microsoft.com/office/drawing/2014/main" id="{72C6FBE2-4A35-23FE-AE8D-F8DA4D5056A2}"/>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330383A0-2F99-43D1-FB8A-905DF7D3547C}"/>
              </a:ext>
            </a:extLst>
          </p:cNvPr>
          <p:cNvSpPr>
            <a:spLocks noGrp="1"/>
          </p:cNvSpPr>
          <p:nvPr>
            <p:ph type="sldNum" sz="quarter" idx="12"/>
          </p:nvPr>
        </p:nvSpPr>
        <p:spPr/>
        <p:txBody>
          <a:bodyPr/>
          <a:lstStyle/>
          <a:p>
            <a:fld id="{69B3448E-E15C-492F-9CC2-9DE10DE2BE6F}" type="slidenum">
              <a:rPr lang="en-IN" smtClean="0"/>
              <a:t>‹#›</a:t>
            </a:fld>
            <a:endParaRPr lang="en-IN"/>
          </a:p>
        </p:txBody>
      </p:sp>
    </p:spTree>
    <p:extLst>
      <p:ext uri="{BB962C8B-B14F-4D97-AF65-F5344CB8AC3E}">
        <p14:creationId xmlns:p14="http://schemas.microsoft.com/office/powerpoint/2010/main" val="32825964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8AC2568-AF60-0F13-1995-41A83E6B35E0}"/>
              </a:ext>
            </a:extLst>
          </p:cNvPr>
          <p:cNvSpPr>
            <a:spLocks noGrp="1"/>
          </p:cNvSpPr>
          <p:nvPr>
            <p:ph type="dt" sz="half" idx="10"/>
          </p:nvPr>
        </p:nvSpPr>
        <p:spPr/>
        <p:txBody>
          <a:bodyPr/>
          <a:lstStyle/>
          <a:p>
            <a:fld id="{49246E87-631B-402E-805D-311845ED1270}" type="datetimeFigureOut">
              <a:rPr lang="en-IN" smtClean="0"/>
              <a:t>21-05-2024</a:t>
            </a:fld>
            <a:endParaRPr lang="en-IN"/>
          </a:p>
        </p:txBody>
      </p:sp>
      <p:sp>
        <p:nvSpPr>
          <p:cNvPr id="3" name="Footer Placeholder 2">
            <a:extLst>
              <a:ext uri="{FF2B5EF4-FFF2-40B4-BE49-F238E27FC236}">
                <a16:creationId xmlns:a16="http://schemas.microsoft.com/office/drawing/2014/main" id="{FFE9248C-608E-466F-5162-8583C7A25F4C}"/>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FB4CFC02-46D9-E3E2-390D-93EA4F1A0148}"/>
              </a:ext>
            </a:extLst>
          </p:cNvPr>
          <p:cNvSpPr>
            <a:spLocks noGrp="1"/>
          </p:cNvSpPr>
          <p:nvPr>
            <p:ph type="sldNum" sz="quarter" idx="12"/>
          </p:nvPr>
        </p:nvSpPr>
        <p:spPr/>
        <p:txBody>
          <a:bodyPr/>
          <a:lstStyle/>
          <a:p>
            <a:fld id="{69B3448E-E15C-492F-9CC2-9DE10DE2BE6F}" type="slidenum">
              <a:rPr lang="en-IN" smtClean="0"/>
              <a:t>‹#›</a:t>
            </a:fld>
            <a:endParaRPr lang="en-IN"/>
          </a:p>
        </p:txBody>
      </p:sp>
    </p:spTree>
    <p:extLst>
      <p:ext uri="{BB962C8B-B14F-4D97-AF65-F5344CB8AC3E}">
        <p14:creationId xmlns:p14="http://schemas.microsoft.com/office/powerpoint/2010/main" val="15928966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1BD2FC-655D-F2F4-6F46-45BD574AB73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E4C61EA8-4D37-1507-AEF1-A24DC447389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E2293207-F498-8521-31C5-95C48778AFC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3294AD8-F6F2-E419-F4B7-FC9963DB6857}"/>
              </a:ext>
            </a:extLst>
          </p:cNvPr>
          <p:cNvSpPr>
            <a:spLocks noGrp="1"/>
          </p:cNvSpPr>
          <p:nvPr>
            <p:ph type="dt" sz="half" idx="10"/>
          </p:nvPr>
        </p:nvSpPr>
        <p:spPr/>
        <p:txBody>
          <a:bodyPr/>
          <a:lstStyle/>
          <a:p>
            <a:fld id="{49246E87-631B-402E-805D-311845ED1270}" type="datetimeFigureOut">
              <a:rPr lang="en-IN" smtClean="0"/>
              <a:t>21-05-2024</a:t>
            </a:fld>
            <a:endParaRPr lang="en-IN"/>
          </a:p>
        </p:txBody>
      </p:sp>
      <p:sp>
        <p:nvSpPr>
          <p:cNvPr id="6" name="Footer Placeholder 5">
            <a:extLst>
              <a:ext uri="{FF2B5EF4-FFF2-40B4-BE49-F238E27FC236}">
                <a16:creationId xmlns:a16="http://schemas.microsoft.com/office/drawing/2014/main" id="{EA76C96E-10AA-2C29-281D-AF31FA00AF0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5234861-B019-12BF-7421-0C5D582417E2}"/>
              </a:ext>
            </a:extLst>
          </p:cNvPr>
          <p:cNvSpPr>
            <a:spLocks noGrp="1"/>
          </p:cNvSpPr>
          <p:nvPr>
            <p:ph type="sldNum" sz="quarter" idx="12"/>
          </p:nvPr>
        </p:nvSpPr>
        <p:spPr/>
        <p:txBody>
          <a:bodyPr/>
          <a:lstStyle/>
          <a:p>
            <a:fld id="{69B3448E-E15C-492F-9CC2-9DE10DE2BE6F}" type="slidenum">
              <a:rPr lang="en-IN" smtClean="0"/>
              <a:t>‹#›</a:t>
            </a:fld>
            <a:endParaRPr lang="en-IN"/>
          </a:p>
        </p:txBody>
      </p:sp>
    </p:spTree>
    <p:extLst>
      <p:ext uri="{BB962C8B-B14F-4D97-AF65-F5344CB8AC3E}">
        <p14:creationId xmlns:p14="http://schemas.microsoft.com/office/powerpoint/2010/main" val="35430643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7BF6A9-7943-3046-E6B5-E26D5AE6302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A290279D-E56A-13BE-B5E3-1CE203FCFF8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E32B9E3F-D0FE-C576-2ECA-568EDCDCDCC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75B8FCA-4011-03D9-AA2A-5DEC3CBB41A9}"/>
              </a:ext>
            </a:extLst>
          </p:cNvPr>
          <p:cNvSpPr>
            <a:spLocks noGrp="1"/>
          </p:cNvSpPr>
          <p:nvPr>
            <p:ph type="dt" sz="half" idx="10"/>
          </p:nvPr>
        </p:nvSpPr>
        <p:spPr/>
        <p:txBody>
          <a:bodyPr/>
          <a:lstStyle/>
          <a:p>
            <a:fld id="{49246E87-631B-402E-805D-311845ED1270}" type="datetimeFigureOut">
              <a:rPr lang="en-IN" smtClean="0"/>
              <a:t>21-05-2024</a:t>
            </a:fld>
            <a:endParaRPr lang="en-IN"/>
          </a:p>
        </p:txBody>
      </p:sp>
      <p:sp>
        <p:nvSpPr>
          <p:cNvPr id="6" name="Footer Placeholder 5">
            <a:extLst>
              <a:ext uri="{FF2B5EF4-FFF2-40B4-BE49-F238E27FC236}">
                <a16:creationId xmlns:a16="http://schemas.microsoft.com/office/drawing/2014/main" id="{41174F6E-A6A6-C3A4-6405-5FE0530810E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6447C49-0439-FE95-D7FE-0F138208AA42}"/>
              </a:ext>
            </a:extLst>
          </p:cNvPr>
          <p:cNvSpPr>
            <a:spLocks noGrp="1"/>
          </p:cNvSpPr>
          <p:nvPr>
            <p:ph type="sldNum" sz="quarter" idx="12"/>
          </p:nvPr>
        </p:nvSpPr>
        <p:spPr/>
        <p:txBody>
          <a:bodyPr/>
          <a:lstStyle/>
          <a:p>
            <a:fld id="{69B3448E-E15C-492F-9CC2-9DE10DE2BE6F}" type="slidenum">
              <a:rPr lang="en-IN" smtClean="0"/>
              <a:t>‹#›</a:t>
            </a:fld>
            <a:endParaRPr lang="en-IN"/>
          </a:p>
        </p:txBody>
      </p:sp>
    </p:spTree>
    <p:extLst>
      <p:ext uri="{BB962C8B-B14F-4D97-AF65-F5344CB8AC3E}">
        <p14:creationId xmlns:p14="http://schemas.microsoft.com/office/powerpoint/2010/main" val="3229764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00C8C6-6C8B-80B4-40D0-EC8E4AEC3A50}"/>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D05C524-D6AC-4A82-91ED-BBA54B4FC97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D71B8AC-1D11-DA9C-C11E-DC42DD79C535}"/>
              </a:ext>
            </a:extLst>
          </p:cNvPr>
          <p:cNvSpPr>
            <a:spLocks noGrp="1"/>
          </p:cNvSpPr>
          <p:nvPr>
            <p:ph type="dt" sz="half" idx="10"/>
          </p:nvPr>
        </p:nvSpPr>
        <p:spPr/>
        <p:txBody>
          <a:bodyPr/>
          <a:lstStyle/>
          <a:p>
            <a:fld id="{49246E87-631B-402E-805D-311845ED1270}" type="datetimeFigureOut">
              <a:rPr lang="en-IN" smtClean="0"/>
              <a:t>21-05-2024</a:t>
            </a:fld>
            <a:endParaRPr lang="en-IN"/>
          </a:p>
        </p:txBody>
      </p:sp>
      <p:sp>
        <p:nvSpPr>
          <p:cNvPr id="5" name="Footer Placeholder 4">
            <a:extLst>
              <a:ext uri="{FF2B5EF4-FFF2-40B4-BE49-F238E27FC236}">
                <a16:creationId xmlns:a16="http://schemas.microsoft.com/office/drawing/2014/main" id="{95903923-6609-0947-F0DF-E52638A5A57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E1FEABB-F3E6-C9CA-8C5E-B86155713164}"/>
              </a:ext>
            </a:extLst>
          </p:cNvPr>
          <p:cNvSpPr>
            <a:spLocks noGrp="1"/>
          </p:cNvSpPr>
          <p:nvPr>
            <p:ph type="sldNum" sz="quarter" idx="12"/>
          </p:nvPr>
        </p:nvSpPr>
        <p:spPr/>
        <p:txBody>
          <a:bodyPr/>
          <a:lstStyle/>
          <a:p>
            <a:fld id="{69B3448E-E15C-492F-9CC2-9DE10DE2BE6F}" type="slidenum">
              <a:rPr lang="en-IN" smtClean="0"/>
              <a:t>‹#›</a:t>
            </a:fld>
            <a:endParaRPr lang="en-IN"/>
          </a:p>
        </p:txBody>
      </p:sp>
    </p:spTree>
    <p:extLst>
      <p:ext uri="{BB962C8B-B14F-4D97-AF65-F5344CB8AC3E}">
        <p14:creationId xmlns:p14="http://schemas.microsoft.com/office/powerpoint/2010/main" val="38530632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DC89DD6-1854-01AC-3215-71BA1211EB5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A20646D-29D3-C5BE-4F1C-3031B98D1A8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7387007-3C1F-C0E3-1463-EFA464539B16}"/>
              </a:ext>
            </a:extLst>
          </p:cNvPr>
          <p:cNvSpPr>
            <a:spLocks noGrp="1"/>
          </p:cNvSpPr>
          <p:nvPr>
            <p:ph type="dt" sz="half" idx="10"/>
          </p:nvPr>
        </p:nvSpPr>
        <p:spPr/>
        <p:txBody>
          <a:bodyPr/>
          <a:lstStyle/>
          <a:p>
            <a:fld id="{49246E87-631B-402E-805D-311845ED1270}" type="datetimeFigureOut">
              <a:rPr lang="en-IN" smtClean="0"/>
              <a:t>21-05-2024</a:t>
            </a:fld>
            <a:endParaRPr lang="en-IN"/>
          </a:p>
        </p:txBody>
      </p:sp>
      <p:sp>
        <p:nvSpPr>
          <p:cNvPr id="5" name="Footer Placeholder 4">
            <a:extLst>
              <a:ext uri="{FF2B5EF4-FFF2-40B4-BE49-F238E27FC236}">
                <a16:creationId xmlns:a16="http://schemas.microsoft.com/office/drawing/2014/main" id="{38678C51-3AA1-870C-E26A-DE71B7382BB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0627D65-004A-67A2-6E01-72143B5CAEF7}"/>
              </a:ext>
            </a:extLst>
          </p:cNvPr>
          <p:cNvSpPr>
            <a:spLocks noGrp="1"/>
          </p:cNvSpPr>
          <p:nvPr>
            <p:ph type="sldNum" sz="quarter" idx="12"/>
          </p:nvPr>
        </p:nvSpPr>
        <p:spPr/>
        <p:txBody>
          <a:bodyPr/>
          <a:lstStyle/>
          <a:p>
            <a:fld id="{69B3448E-E15C-492F-9CC2-9DE10DE2BE6F}" type="slidenum">
              <a:rPr lang="en-IN" smtClean="0"/>
              <a:t>‹#›</a:t>
            </a:fld>
            <a:endParaRPr lang="en-IN"/>
          </a:p>
        </p:txBody>
      </p:sp>
    </p:spTree>
    <p:extLst>
      <p:ext uri="{BB962C8B-B14F-4D97-AF65-F5344CB8AC3E}">
        <p14:creationId xmlns:p14="http://schemas.microsoft.com/office/powerpoint/2010/main" val="14966886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0597A67-6EB9-9955-272D-053B4DFBD99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F26EF07-82AD-9C85-2A40-F9904809EB2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6F24D31-2CC1-55E5-9C87-8BDFC60C2E4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9246E87-631B-402E-805D-311845ED1270}" type="datetimeFigureOut">
              <a:rPr lang="en-IN" smtClean="0"/>
              <a:t>21-05-2024</a:t>
            </a:fld>
            <a:endParaRPr lang="en-IN"/>
          </a:p>
        </p:txBody>
      </p:sp>
      <p:sp>
        <p:nvSpPr>
          <p:cNvPr id="5" name="Footer Placeholder 4">
            <a:extLst>
              <a:ext uri="{FF2B5EF4-FFF2-40B4-BE49-F238E27FC236}">
                <a16:creationId xmlns:a16="http://schemas.microsoft.com/office/drawing/2014/main" id="{743431AE-BA90-F671-7C3C-815BF4EDF2C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0242C84B-2B68-EA51-E06E-E510743A262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9B3448E-E15C-492F-9CC2-9DE10DE2BE6F}" type="slidenum">
              <a:rPr lang="en-IN" smtClean="0"/>
              <a:t>‹#›</a:t>
            </a:fld>
            <a:endParaRPr lang="en-IN"/>
          </a:p>
        </p:txBody>
      </p:sp>
    </p:spTree>
    <p:extLst>
      <p:ext uri="{BB962C8B-B14F-4D97-AF65-F5344CB8AC3E}">
        <p14:creationId xmlns:p14="http://schemas.microsoft.com/office/powerpoint/2010/main" val="82058416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4C8CD0-6520-152B-A048-328D866DAF4B}"/>
              </a:ext>
            </a:extLst>
          </p:cNvPr>
          <p:cNvSpPr>
            <a:spLocks noGrp="1"/>
          </p:cNvSpPr>
          <p:nvPr>
            <p:ph type="ctrTitle"/>
          </p:nvPr>
        </p:nvSpPr>
        <p:spPr/>
        <p:txBody>
          <a:bodyPr/>
          <a:lstStyle/>
          <a:p>
            <a:r>
              <a:rPr lang="en-GB" dirty="0"/>
              <a:t>8085 Instruction Types &amp; Execution</a:t>
            </a:r>
            <a:endParaRPr lang="en-IN" dirty="0"/>
          </a:p>
        </p:txBody>
      </p:sp>
      <p:sp>
        <p:nvSpPr>
          <p:cNvPr id="3" name="Subtitle 2">
            <a:extLst>
              <a:ext uri="{FF2B5EF4-FFF2-40B4-BE49-F238E27FC236}">
                <a16:creationId xmlns:a16="http://schemas.microsoft.com/office/drawing/2014/main" id="{046163D9-E4F1-8A08-A2ED-73F5C2D95778}"/>
              </a:ext>
            </a:extLst>
          </p:cNvPr>
          <p:cNvSpPr>
            <a:spLocks noGrp="1"/>
          </p:cNvSpPr>
          <p:nvPr>
            <p:ph type="subTitle" idx="1"/>
          </p:nvPr>
        </p:nvSpPr>
        <p:spPr/>
        <p:txBody>
          <a:bodyPr/>
          <a:lstStyle/>
          <a:p>
            <a:endParaRPr lang="en-IN" dirty="0"/>
          </a:p>
        </p:txBody>
      </p:sp>
    </p:spTree>
    <p:extLst>
      <p:ext uri="{BB962C8B-B14F-4D97-AF65-F5344CB8AC3E}">
        <p14:creationId xmlns:p14="http://schemas.microsoft.com/office/powerpoint/2010/main" val="12013058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BE44B3-8C3D-8EC5-D48E-1C0819E50696}"/>
              </a:ext>
            </a:extLst>
          </p:cNvPr>
          <p:cNvSpPr>
            <a:spLocks noGrp="1"/>
          </p:cNvSpPr>
          <p:nvPr>
            <p:ph type="title"/>
          </p:nvPr>
        </p:nvSpPr>
        <p:spPr/>
        <p:txBody>
          <a:bodyPr/>
          <a:lstStyle/>
          <a:p>
            <a:r>
              <a:rPr lang="en-GB" dirty="0"/>
              <a:t>8085 - Instruction Word Size</a:t>
            </a:r>
            <a:endParaRPr lang="en-IN" dirty="0"/>
          </a:p>
        </p:txBody>
      </p:sp>
      <p:sp>
        <p:nvSpPr>
          <p:cNvPr id="3" name="Content Placeholder 2">
            <a:extLst>
              <a:ext uri="{FF2B5EF4-FFF2-40B4-BE49-F238E27FC236}">
                <a16:creationId xmlns:a16="http://schemas.microsoft.com/office/drawing/2014/main" id="{E54613F6-22A8-8506-C36F-C5820FEF390D}"/>
              </a:ext>
            </a:extLst>
          </p:cNvPr>
          <p:cNvSpPr>
            <a:spLocks noGrp="1"/>
          </p:cNvSpPr>
          <p:nvPr>
            <p:ph idx="1"/>
          </p:nvPr>
        </p:nvSpPr>
        <p:spPr/>
        <p:txBody>
          <a:bodyPr>
            <a:normAutofit fontScale="62500" lnSpcReduction="20000"/>
          </a:bodyPr>
          <a:lstStyle/>
          <a:p>
            <a:pPr marL="0" indent="0">
              <a:buNone/>
            </a:pPr>
            <a:r>
              <a:rPr lang="en-GB" b="1" dirty="0"/>
              <a:t>1 Byte </a:t>
            </a:r>
            <a:r>
              <a:rPr lang="en-GB" dirty="0"/>
              <a:t>-------------                      MOV C,A		              0100 1111		4F</a:t>
            </a:r>
            <a:r>
              <a:rPr lang="en-IN" dirty="0"/>
              <a:t>	</a:t>
            </a:r>
          </a:p>
          <a:p>
            <a:pPr marL="0" indent="0">
              <a:buNone/>
            </a:pPr>
            <a:r>
              <a:rPr lang="en-GB" dirty="0"/>
              <a:t>			ADD B		              1000 0000		80</a:t>
            </a:r>
          </a:p>
          <a:p>
            <a:pPr marL="0" indent="0">
              <a:buNone/>
            </a:pPr>
            <a:r>
              <a:rPr lang="en-GB" dirty="0"/>
              <a:t>			CMA		              0010 1111		2F</a:t>
            </a:r>
          </a:p>
          <a:p>
            <a:pPr marL="0" indent="0">
              <a:buNone/>
            </a:pPr>
            <a:r>
              <a:rPr lang="en-GB" dirty="0"/>
              <a:t>(occupies 1 memory location)</a:t>
            </a:r>
          </a:p>
          <a:p>
            <a:pPr marL="0" indent="0">
              <a:buNone/>
            </a:pPr>
            <a:r>
              <a:rPr lang="en-GB" dirty="0"/>
              <a:t>_________________________________________________________________________________________</a:t>
            </a:r>
          </a:p>
          <a:p>
            <a:pPr marL="0" indent="0">
              <a:buNone/>
            </a:pPr>
            <a:r>
              <a:rPr lang="en-GB" b="1" dirty="0"/>
              <a:t>2 Byte </a:t>
            </a:r>
            <a:r>
              <a:rPr lang="en-GB" dirty="0"/>
              <a:t>--------------  MVI A,32H		             0011 1110		3E</a:t>
            </a:r>
          </a:p>
          <a:p>
            <a:pPr marL="0" indent="0">
              <a:buNone/>
            </a:pPr>
            <a:r>
              <a:rPr lang="en-GB" dirty="0"/>
              <a:t>			  	             0011 0010		32</a:t>
            </a:r>
          </a:p>
          <a:p>
            <a:pPr marL="0" indent="0">
              <a:buNone/>
            </a:pPr>
            <a:r>
              <a:rPr lang="en-GB" dirty="0"/>
              <a:t>(occupies 2 memory location, operation code &amp; operand in 8 bit)</a:t>
            </a:r>
          </a:p>
          <a:p>
            <a:pPr marL="0" indent="0">
              <a:buNone/>
            </a:pPr>
            <a:r>
              <a:rPr lang="en-GB" dirty="0"/>
              <a:t>__________________________________________________________________________________________</a:t>
            </a:r>
          </a:p>
          <a:p>
            <a:pPr marL="0" indent="0">
              <a:buNone/>
            </a:pPr>
            <a:r>
              <a:rPr lang="en-GB" b="1" dirty="0"/>
              <a:t>3 Byte</a:t>
            </a:r>
            <a:r>
              <a:rPr lang="en-GB" dirty="0"/>
              <a:t>	-------------     LDA 2050H		0011 1010		3A</a:t>
            </a:r>
          </a:p>
          <a:p>
            <a:pPr marL="0" indent="0">
              <a:buNone/>
            </a:pPr>
            <a:r>
              <a:rPr lang="en-GB" dirty="0"/>
              <a:t>					0101 0000		50</a:t>
            </a:r>
          </a:p>
          <a:p>
            <a:pPr marL="0" indent="0">
              <a:buNone/>
            </a:pPr>
            <a:r>
              <a:rPr lang="en-GB" dirty="0"/>
              <a:t>					0010 0000 		20</a:t>
            </a:r>
          </a:p>
          <a:p>
            <a:pPr marL="0" indent="0">
              <a:buNone/>
            </a:pPr>
            <a:r>
              <a:rPr lang="en-GB" dirty="0"/>
              <a:t>(occupies 3 memory locations, opcode &amp; operand in 16 bit)</a:t>
            </a:r>
          </a:p>
          <a:p>
            <a:pPr marL="0" indent="0">
              <a:buNone/>
            </a:pPr>
            <a:endParaRPr lang="en-GB" dirty="0"/>
          </a:p>
        </p:txBody>
      </p:sp>
    </p:spTree>
    <p:extLst>
      <p:ext uri="{BB962C8B-B14F-4D97-AF65-F5344CB8AC3E}">
        <p14:creationId xmlns:p14="http://schemas.microsoft.com/office/powerpoint/2010/main" val="29153778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57A3A4-4723-CC4F-AF62-74E9622C0F9A}"/>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305CEFA6-D91F-B11E-3CE0-A00A1FB482F1}"/>
              </a:ext>
            </a:extLst>
          </p:cNvPr>
          <p:cNvSpPr>
            <a:spLocks noGrp="1"/>
          </p:cNvSpPr>
          <p:nvPr>
            <p:ph idx="1"/>
          </p:nvPr>
        </p:nvSpPr>
        <p:spPr/>
        <p:txBody>
          <a:bodyPr/>
          <a:lstStyle/>
          <a:p>
            <a:pPr marL="0" indent="0">
              <a:buNone/>
            </a:pPr>
            <a:r>
              <a:rPr lang="en-GB" dirty="0"/>
              <a:t>1 byte instruction – A mnemonic followed by a letter or two letters </a:t>
            </a:r>
          </a:p>
          <a:p>
            <a:pPr marL="0" indent="0">
              <a:buNone/>
            </a:pPr>
            <a:r>
              <a:rPr lang="en-GB" dirty="0"/>
              <a:t>	MOV A,B</a:t>
            </a:r>
          </a:p>
          <a:p>
            <a:pPr marL="0" indent="0">
              <a:buNone/>
            </a:pPr>
            <a:r>
              <a:rPr lang="en-GB" dirty="0"/>
              <a:t>	RRC</a:t>
            </a:r>
          </a:p>
          <a:p>
            <a:pPr marL="0" indent="0">
              <a:buNone/>
            </a:pPr>
            <a:r>
              <a:rPr lang="en-GB" dirty="0"/>
              <a:t>2 byte instruction – A mnemonic followed by 8 bit operand</a:t>
            </a:r>
          </a:p>
          <a:p>
            <a:pPr marL="0" indent="0">
              <a:buNone/>
            </a:pPr>
            <a:r>
              <a:rPr lang="en-GB" dirty="0"/>
              <a:t>	MVI A, 00H</a:t>
            </a:r>
          </a:p>
          <a:p>
            <a:pPr marL="0" indent="0">
              <a:buNone/>
            </a:pPr>
            <a:r>
              <a:rPr lang="en-GB" dirty="0"/>
              <a:t>3 byte instruction - A mnemonic followed by 16 bit operand</a:t>
            </a:r>
          </a:p>
          <a:p>
            <a:pPr marL="0" indent="0">
              <a:buNone/>
            </a:pPr>
            <a:r>
              <a:rPr lang="en-GB" dirty="0"/>
              <a:t>	LXI B, 16bit</a:t>
            </a:r>
          </a:p>
          <a:p>
            <a:pPr marL="0" indent="0">
              <a:buNone/>
            </a:pPr>
            <a:r>
              <a:rPr lang="en-GB" dirty="0"/>
              <a:t>	CALL 16bitaddress</a:t>
            </a:r>
            <a:endParaRPr lang="en-IN" dirty="0"/>
          </a:p>
        </p:txBody>
      </p:sp>
    </p:spTree>
    <p:extLst>
      <p:ext uri="{BB962C8B-B14F-4D97-AF65-F5344CB8AC3E}">
        <p14:creationId xmlns:p14="http://schemas.microsoft.com/office/powerpoint/2010/main" val="10281878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644D18-C440-57AF-BB12-C2721FE24521}"/>
              </a:ext>
            </a:extLst>
          </p:cNvPr>
          <p:cNvSpPr>
            <a:spLocks noGrp="1"/>
          </p:cNvSpPr>
          <p:nvPr>
            <p:ph type="title"/>
          </p:nvPr>
        </p:nvSpPr>
        <p:spPr/>
        <p:txBody>
          <a:bodyPr/>
          <a:lstStyle/>
          <a:p>
            <a:r>
              <a:rPr lang="en-GB" dirty="0"/>
              <a:t>Opcode Format</a:t>
            </a:r>
            <a:endParaRPr lang="en-IN" dirty="0"/>
          </a:p>
        </p:txBody>
      </p:sp>
      <p:sp>
        <p:nvSpPr>
          <p:cNvPr id="3" name="Content Placeholder 2">
            <a:extLst>
              <a:ext uri="{FF2B5EF4-FFF2-40B4-BE49-F238E27FC236}">
                <a16:creationId xmlns:a16="http://schemas.microsoft.com/office/drawing/2014/main" id="{6C77490D-CE86-11DF-D3E3-8EFD74FE6D32}"/>
              </a:ext>
            </a:extLst>
          </p:cNvPr>
          <p:cNvSpPr>
            <a:spLocks noGrp="1"/>
          </p:cNvSpPr>
          <p:nvPr>
            <p:ph idx="1"/>
          </p:nvPr>
        </p:nvSpPr>
        <p:spPr/>
        <p:txBody>
          <a:bodyPr>
            <a:normAutofit/>
          </a:bodyPr>
          <a:lstStyle/>
          <a:p>
            <a:pPr marL="0" indent="0">
              <a:buNone/>
            </a:pPr>
            <a:r>
              <a:rPr lang="en-GB" dirty="0"/>
              <a:t> </a:t>
            </a:r>
            <a:r>
              <a:rPr lang="en-GB" b="1" dirty="0"/>
              <a:t>1.Rotate each bit of the accumulator to the left by 1</a:t>
            </a:r>
          </a:p>
          <a:p>
            <a:pPr marL="457200" lvl="1" indent="0">
              <a:buNone/>
            </a:pPr>
            <a:r>
              <a:rPr lang="en-GB" dirty="0"/>
              <a:t>00000 111			07H (8bit opcode)</a:t>
            </a:r>
          </a:p>
          <a:p>
            <a:pPr marL="457200" lvl="1" indent="0">
              <a:buNone/>
            </a:pPr>
            <a:endParaRPr lang="en-IN" dirty="0"/>
          </a:p>
          <a:p>
            <a:pPr marL="457200" lvl="1" indent="0">
              <a:buNone/>
            </a:pPr>
            <a:r>
              <a:rPr lang="en-IN" b="1" dirty="0"/>
              <a:t>2.Add the contents of a register to Accumulator</a:t>
            </a:r>
          </a:p>
          <a:p>
            <a:pPr marL="457200" lvl="1" indent="0">
              <a:buNone/>
            </a:pPr>
            <a:r>
              <a:rPr lang="en-IN" dirty="0"/>
              <a:t> ADD B            </a:t>
            </a:r>
          </a:p>
          <a:p>
            <a:pPr marL="457200" lvl="1" indent="0">
              <a:buNone/>
            </a:pPr>
            <a:r>
              <a:rPr lang="en-IN" dirty="0"/>
              <a:t>10000 000			80H </a:t>
            </a:r>
          </a:p>
          <a:p>
            <a:pPr marL="457200" lvl="1" indent="0">
              <a:buNone/>
            </a:pPr>
            <a:endParaRPr lang="en-IN" dirty="0"/>
          </a:p>
          <a:p>
            <a:pPr marL="457200" lvl="1" indent="0">
              <a:buNone/>
            </a:pPr>
            <a:r>
              <a:rPr lang="en-IN" b="1" dirty="0"/>
              <a:t>3. Move the contents from Rs to Rd</a:t>
            </a:r>
          </a:p>
          <a:p>
            <a:pPr marL="457200" lvl="1" indent="0">
              <a:buNone/>
            </a:pPr>
            <a:r>
              <a:rPr lang="en-IN" dirty="0"/>
              <a:t>MOV C,A</a:t>
            </a:r>
          </a:p>
          <a:p>
            <a:pPr marL="457200" lvl="1" indent="0">
              <a:buNone/>
            </a:pPr>
            <a:r>
              <a:rPr lang="en-IN" dirty="0"/>
              <a:t>01    001    111         	4F</a:t>
            </a:r>
          </a:p>
        </p:txBody>
      </p:sp>
      <p:graphicFrame>
        <p:nvGraphicFramePr>
          <p:cNvPr id="4" name="Table 3">
            <a:extLst>
              <a:ext uri="{FF2B5EF4-FFF2-40B4-BE49-F238E27FC236}">
                <a16:creationId xmlns:a16="http://schemas.microsoft.com/office/drawing/2014/main" id="{33C8652E-7399-D3F2-111E-823254912A7F}"/>
              </a:ext>
            </a:extLst>
          </p:cNvPr>
          <p:cNvGraphicFramePr>
            <a:graphicFrameLocks noGrp="1"/>
          </p:cNvGraphicFramePr>
          <p:nvPr>
            <p:extLst>
              <p:ext uri="{D42A27DB-BD31-4B8C-83A1-F6EECF244321}">
                <p14:modId xmlns:p14="http://schemas.microsoft.com/office/powerpoint/2010/main" val="3814354980"/>
              </p:ext>
            </p:extLst>
          </p:nvPr>
        </p:nvGraphicFramePr>
        <p:xfrm>
          <a:off x="8866753" y="1027906"/>
          <a:ext cx="2632990" cy="5303520"/>
        </p:xfrm>
        <a:graphic>
          <a:graphicData uri="http://schemas.openxmlformats.org/drawingml/2006/table">
            <a:tbl>
              <a:tblPr firstRow="1" bandRow="1">
                <a:tableStyleId>{5C22544A-7EE6-4342-B048-85BDC9FD1C3A}</a:tableStyleId>
              </a:tblPr>
              <a:tblGrid>
                <a:gridCol w="1316495">
                  <a:extLst>
                    <a:ext uri="{9D8B030D-6E8A-4147-A177-3AD203B41FA5}">
                      <a16:colId xmlns:a16="http://schemas.microsoft.com/office/drawing/2014/main" val="2314456294"/>
                    </a:ext>
                  </a:extLst>
                </a:gridCol>
                <a:gridCol w="1316495">
                  <a:extLst>
                    <a:ext uri="{9D8B030D-6E8A-4147-A177-3AD203B41FA5}">
                      <a16:colId xmlns:a16="http://schemas.microsoft.com/office/drawing/2014/main" val="4096542798"/>
                    </a:ext>
                  </a:extLst>
                </a:gridCol>
              </a:tblGrid>
              <a:tr h="301941">
                <a:tc>
                  <a:txBody>
                    <a:bodyPr/>
                    <a:lstStyle/>
                    <a:p>
                      <a:r>
                        <a:rPr lang="en-GB" dirty="0"/>
                        <a:t>Code</a:t>
                      </a:r>
                      <a:endParaRPr lang="en-IN" dirty="0"/>
                    </a:p>
                  </a:txBody>
                  <a:tcPr/>
                </a:tc>
                <a:tc>
                  <a:txBody>
                    <a:bodyPr/>
                    <a:lstStyle/>
                    <a:p>
                      <a:r>
                        <a:rPr lang="en-GB" dirty="0"/>
                        <a:t>R</a:t>
                      </a:r>
                      <a:r>
                        <a:rPr lang="en-IN" dirty="0" err="1"/>
                        <a:t>egisters</a:t>
                      </a:r>
                      <a:endParaRPr lang="en-GB" dirty="0"/>
                    </a:p>
                  </a:txBody>
                  <a:tcPr/>
                </a:tc>
                <a:extLst>
                  <a:ext uri="{0D108BD9-81ED-4DB2-BD59-A6C34878D82A}">
                    <a16:rowId xmlns:a16="http://schemas.microsoft.com/office/drawing/2014/main" val="2025370682"/>
                  </a:ext>
                </a:extLst>
              </a:tr>
              <a:tr h="301941">
                <a:tc>
                  <a:txBody>
                    <a:bodyPr/>
                    <a:lstStyle/>
                    <a:p>
                      <a:r>
                        <a:rPr lang="en-GB" dirty="0"/>
                        <a:t>000</a:t>
                      </a:r>
                      <a:endParaRPr lang="en-IN" dirty="0"/>
                    </a:p>
                  </a:txBody>
                  <a:tcPr/>
                </a:tc>
                <a:tc>
                  <a:txBody>
                    <a:bodyPr/>
                    <a:lstStyle/>
                    <a:p>
                      <a:r>
                        <a:rPr lang="en-GB" dirty="0"/>
                        <a:t>B</a:t>
                      </a:r>
                      <a:endParaRPr lang="en-IN" dirty="0"/>
                    </a:p>
                  </a:txBody>
                  <a:tcPr/>
                </a:tc>
                <a:extLst>
                  <a:ext uri="{0D108BD9-81ED-4DB2-BD59-A6C34878D82A}">
                    <a16:rowId xmlns:a16="http://schemas.microsoft.com/office/drawing/2014/main" val="2331712652"/>
                  </a:ext>
                </a:extLst>
              </a:tr>
              <a:tr h="301941">
                <a:tc>
                  <a:txBody>
                    <a:bodyPr/>
                    <a:lstStyle/>
                    <a:p>
                      <a:r>
                        <a:rPr lang="en-GB" dirty="0"/>
                        <a:t>001</a:t>
                      </a:r>
                      <a:endParaRPr lang="en-IN" dirty="0"/>
                    </a:p>
                  </a:txBody>
                  <a:tcPr/>
                </a:tc>
                <a:tc>
                  <a:txBody>
                    <a:bodyPr/>
                    <a:lstStyle/>
                    <a:p>
                      <a:r>
                        <a:rPr lang="en-GB" dirty="0"/>
                        <a:t>C</a:t>
                      </a:r>
                      <a:endParaRPr lang="en-IN" dirty="0"/>
                    </a:p>
                  </a:txBody>
                  <a:tcPr/>
                </a:tc>
                <a:extLst>
                  <a:ext uri="{0D108BD9-81ED-4DB2-BD59-A6C34878D82A}">
                    <a16:rowId xmlns:a16="http://schemas.microsoft.com/office/drawing/2014/main" val="1938826972"/>
                  </a:ext>
                </a:extLst>
              </a:tr>
              <a:tr h="301941">
                <a:tc>
                  <a:txBody>
                    <a:bodyPr/>
                    <a:lstStyle/>
                    <a:p>
                      <a:r>
                        <a:rPr lang="en-GB" dirty="0"/>
                        <a:t>010</a:t>
                      </a:r>
                      <a:endParaRPr lang="en-IN" dirty="0"/>
                    </a:p>
                  </a:txBody>
                  <a:tcPr/>
                </a:tc>
                <a:tc>
                  <a:txBody>
                    <a:bodyPr/>
                    <a:lstStyle/>
                    <a:p>
                      <a:r>
                        <a:rPr lang="en-GB" dirty="0"/>
                        <a:t>D</a:t>
                      </a:r>
                      <a:endParaRPr lang="en-IN" dirty="0"/>
                    </a:p>
                  </a:txBody>
                  <a:tcPr/>
                </a:tc>
                <a:extLst>
                  <a:ext uri="{0D108BD9-81ED-4DB2-BD59-A6C34878D82A}">
                    <a16:rowId xmlns:a16="http://schemas.microsoft.com/office/drawing/2014/main" val="2247015384"/>
                  </a:ext>
                </a:extLst>
              </a:tr>
              <a:tr h="301941">
                <a:tc>
                  <a:txBody>
                    <a:bodyPr/>
                    <a:lstStyle/>
                    <a:p>
                      <a:r>
                        <a:rPr lang="en-GB" dirty="0"/>
                        <a:t>011</a:t>
                      </a:r>
                      <a:endParaRPr lang="en-IN" dirty="0"/>
                    </a:p>
                  </a:txBody>
                  <a:tcPr/>
                </a:tc>
                <a:tc>
                  <a:txBody>
                    <a:bodyPr/>
                    <a:lstStyle/>
                    <a:p>
                      <a:r>
                        <a:rPr lang="en-GB" dirty="0"/>
                        <a:t>E</a:t>
                      </a:r>
                      <a:endParaRPr lang="en-IN" dirty="0"/>
                    </a:p>
                  </a:txBody>
                  <a:tcPr/>
                </a:tc>
                <a:extLst>
                  <a:ext uri="{0D108BD9-81ED-4DB2-BD59-A6C34878D82A}">
                    <a16:rowId xmlns:a16="http://schemas.microsoft.com/office/drawing/2014/main" val="2111623925"/>
                  </a:ext>
                </a:extLst>
              </a:tr>
              <a:tr h="301941">
                <a:tc>
                  <a:txBody>
                    <a:bodyPr/>
                    <a:lstStyle/>
                    <a:p>
                      <a:r>
                        <a:rPr lang="en-GB" dirty="0"/>
                        <a:t>100</a:t>
                      </a:r>
                      <a:endParaRPr lang="en-IN" dirty="0"/>
                    </a:p>
                  </a:txBody>
                  <a:tcPr/>
                </a:tc>
                <a:tc>
                  <a:txBody>
                    <a:bodyPr/>
                    <a:lstStyle/>
                    <a:p>
                      <a:r>
                        <a:rPr lang="en-GB" dirty="0"/>
                        <a:t>H</a:t>
                      </a:r>
                      <a:endParaRPr lang="en-IN" dirty="0"/>
                    </a:p>
                  </a:txBody>
                  <a:tcPr/>
                </a:tc>
                <a:extLst>
                  <a:ext uri="{0D108BD9-81ED-4DB2-BD59-A6C34878D82A}">
                    <a16:rowId xmlns:a16="http://schemas.microsoft.com/office/drawing/2014/main" val="1456887199"/>
                  </a:ext>
                </a:extLst>
              </a:tr>
              <a:tr h="301941">
                <a:tc>
                  <a:txBody>
                    <a:bodyPr/>
                    <a:lstStyle/>
                    <a:p>
                      <a:r>
                        <a:rPr lang="en-GB" dirty="0"/>
                        <a:t>101</a:t>
                      </a:r>
                      <a:endParaRPr lang="en-IN" dirty="0"/>
                    </a:p>
                  </a:txBody>
                  <a:tcPr/>
                </a:tc>
                <a:tc>
                  <a:txBody>
                    <a:bodyPr/>
                    <a:lstStyle/>
                    <a:p>
                      <a:r>
                        <a:rPr lang="en-GB" dirty="0"/>
                        <a:t>L</a:t>
                      </a:r>
                      <a:endParaRPr lang="en-IN" dirty="0"/>
                    </a:p>
                  </a:txBody>
                  <a:tcPr/>
                </a:tc>
                <a:extLst>
                  <a:ext uri="{0D108BD9-81ED-4DB2-BD59-A6C34878D82A}">
                    <a16:rowId xmlns:a16="http://schemas.microsoft.com/office/drawing/2014/main" val="3925293980"/>
                  </a:ext>
                </a:extLst>
              </a:tr>
              <a:tr h="301941">
                <a:tc>
                  <a:txBody>
                    <a:bodyPr/>
                    <a:lstStyle/>
                    <a:p>
                      <a:r>
                        <a:rPr lang="en-GB" dirty="0"/>
                        <a:t>111</a:t>
                      </a:r>
                      <a:endParaRPr lang="en-IN" dirty="0"/>
                    </a:p>
                  </a:txBody>
                  <a:tcPr/>
                </a:tc>
                <a:tc>
                  <a:txBody>
                    <a:bodyPr/>
                    <a:lstStyle/>
                    <a:p>
                      <a:r>
                        <a:rPr lang="en-GB" dirty="0"/>
                        <a:t>A</a:t>
                      </a:r>
                      <a:endParaRPr lang="en-IN" dirty="0"/>
                    </a:p>
                  </a:txBody>
                  <a:tcPr/>
                </a:tc>
                <a:extLst>
                  <a:ext uri="{0D108BD9-81ED-4DB2-BD59-A6C34878D82A}">
                    <a16:rowId xmlns:a16="http://schemas.microsoft.com/office/drawing/2014/main" val="3555656233"/>
                  </a:ext>
                </a:extLst>
              </a:tr>
              <a:tr h="301941">
                <a:tc>
                  <a:txBody>
                    <a:bodyPr/>
                    <a:lstStyle/>
                    <a:p>
                      <a:r>
                        <a:rPr lang="en-GB" dirty="0"/>
                        <a:t>110</a:t>
                      </a:r>
                      <a:endParaRPr lang="en-IN" dirty="0"/>
                    </a:p>
                  </a:txBody>
                  <a:tcPr/>
                </a:tc>
                <a:tc>
                  <a:txBody>
                    <a:bodyPr/>
                    <a:lstStyle/>
                    <a:p>
                      <a:r>
                        <a:rPr lang="en-GB" dirty="0"/>
                        <a:t>Memory related operations</a:t>
                      </a:r>
                      <a:endParaRPr lang="en-IN" dirty="0"/>
                    </a:p>
                  </a:txBody>
                  <a:tcPr/>
                </a:tc>
                <a:extLst>
                  <a:ext uri="{0D108BD9-81ED-4DB2-BD59-A6C34878D82A}">
                    <a16:rowId xmlns:a16="http://schemas.microsoft.com/office/drawing/2014/main" val="3833246428"/>
                  </a:ext>
                </a:extLst>
              </a:tr>
              <a:tr h="301941">
                <a:tc>
                  <a:txBody>
                    <a:bodyPr/>
                    <a:lstStyle/>
                    <a:p>
                      <a:r>
                        <a:rPr lang="en-GB" dirty="0"/>
                        <a:t>00</a:t>
                      </a:r>
                      <a:endParaRPr lang="en-IN" dirty="0"/>
                    </a:p>
                  </a:txBody>
                  <a:tcPr/>
                </a:tc>
                <a:tc>
                  <a:txBody>
                    <a:bodyPr/>
                    <a:lstStyle/>
                    <a:p>
                      <a:r>
                        <a:rPr lang="en-GB" dirty="0"/>
                        <a:t>BC</a:t>
                      </a:r>
                      <a:endParaRPr lang="en-IN" dirty="0"/>
                    </a:p>
                  </a:txBody>
                  <a:tcPr/>
                </a:tc>
                <a:extLst>
                  <a:ext uri="{0D108BD9-81ED-4DB2-BD59-A6C34878D82A}">
                    <a16:rowId xmlns:a16="http://schemas.microsoft.com/office/drawing/2014/main" val="3017422687"/>
                  </a:ext>
                </a:extLst>
              </a:tr>
              <a:tr h="301941">
                <a:tc>
                  <a:txBody>
                    <a:bodyPr/>
                    <a:lstStyle/>
                    <a:p>
                      <a:r>
                        <a:rPr lang="en-GB" dirty="0"/>
                        <a:t>01</a:t>
                      </a:r>
                      <a:endParaRPr lang="en-IN" dirty="0"/>
                    </a:p>
                  </a:txBody>
                  <a:tcPr/>
                </a:tc>
                <a:tc>
                  <a:txBody>
                    <a:bodyPr/>
                    <a:lstStyle/>
                    <a:p>
                      <a:r>
                        <a:rPr lang="en-GB" dirty="0"/>
                        <a:t>DE</a:t>
                      </a:r>
                      <a:endParaRPr lang="en-IN" dirty="0"/>
                    </a:p>
                  </a:txBody>
                  <a:tcPr/>
                </a:tc>
                <a:extLst>
                  <a:ext uri="{0D108BD9-81ED-4DB2-BD59-A6C34878D82A}">
                    <a16:rowId xmlns:a16="http://schemas.microsoft.com/office/drawing/2014/main" val="238659729"/>
                  </a:ext>
                </a:extLst>
              </a:tr>
              <a:tr h="301941">
                <a:tc>
                  <a:txBody>
                    <a:bodyPr/>
                    <a:lstStyle/>
                    <a:p>
                      <a:r>
                        <a:rPr lang="en-GB" dirty="0"/>
                        <a:t>10</a:t>
                      </a:r>
                      <a:endParaRPr lang="en-IN" dirty="0"/>
                    </a:p>
                  </a:txBody>
                  <a:tcPr/>
                </a:tc>
                <a:tc>
                  <a:txBody>
                    <a:bodyPr/>
                    <a:lstStyle/>
                    <a:p>
                      <a:r>
                        <a:rPr lang="en-GB" dirty="0"/>
                        <a:t>HL</a:t>
                      </a:r>
                      <a:endParaRPr lang="en-IN" dirty="0"/>
                    </a:p>
                  </a:txBody>
                  <a:tcPr/>
                </a:tc>
                <a:extLst>
                  <a:ext uri="{0D108BD9-81ED-4DB2-BD59-A6C34878D82A}">
                    <a16:rowId xmlns:a16="http://schemas.microsoft.com/office/drawing/2014/main" val="4078339921"/>
                  </a:ext>
                </a:extLst>
              </a:tr>
              <a:tr h="301941">
                <a:tc>
                  <a:txBody>
                    <a:bodyPr/>
                    <a:lstStyle/>
                    <a:p>
                      <a:r>
                        <a:rPr lang="en-GB" dirty="0"/>
                        <a:t>11</a:t>
                      </a:r>
                      <a:endParaRPr lang="en-IN" dirty="0"/>
                    </a:p>
                  </a:txBody>
                  <a:tcPr/>
                </a:tc>
                <a:tc>
                  <a:txBody>
                    <a:bodyPr/>
                    <a:lstStyle/>
                    <a:p>
                      <a:r>
                        <a:rPr lang="en-GB" dirty="0"/>
                        <a:t>SP</a:t>
                      </a:r>
                      <a:endParaRPr lang="en-IN" dirty="0"/>
                    </a:p>
                  </a:txBody>
                  <a:tcPr/>
                </a:tc>
                <a:extLst>
                  <a:ext uri="{0D108BD9-81ED-4DB2-BD59-A6C34878D82A}">
                    <a16:rowId xmlns:a16="http://schemas.microsoft.com/office/drawing/2014/main" val="671471888"/>
                  </a:ext>
                </a:extLst>
              </a:tr>
            </a:tbl>
          </a:graphicData>
        </a:graphic>
      </p:graphicFrame>
    </p:spTree>
    <p:extLst>
      <p:ext uri="{BB962C8B-B14F-4D97-AF65-F5344CB8AC3E}">
        <p14:creationId xmlns:p14="http://schemas.microsoft.com/office/powerpoint/2010/main" val="7306360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57A3BD-B619-8352-1EDD-5D8F51AC8C28}"/>
              </a:ext>
            </a:extLst>
          </p:cNvPr>
          <p:cNvSpPr>
            <a:spLocks noGrp="1"/>
          </p:cNvSpPr>
          <p:nvPr>
            <p:ph type="title"/>
          </p:nvPr>
        </p:nvSpPr>
        <p:spPr/>
        <p:txBody>
          <a:bodyPr/>
          <a:lstStyle/>
          <a:p>
            <a:r>
              <a:rPr lang="en-GB" dirty="0"/>
              <a:t>Opcodes for instructions</a:t>
            </a:r>
            <a:endParaRPr lang="en-IN" dirty="0"/>
          </a:p>
        </p:txBody>
      </p:sp>
      <p:sp>
        <p:nvSpPr>
          <p:cNvPr id="3" name="Content Placeholder 2">
            <a:extLst>
              <a:ext uri="{FF2B5EF4-FFF2-40B4-BE49-F238E27FC236}">
                <a16:creationId xmlns:a16="http://schemas.microsoft.com/office/drawing/2014/main" id="{A09CC351-3364-5143-C2F2-3112C4B770F0}"/>
              </a:ext>
            </a:extLst>
          </p:cNvPr>
          <p:cNvSpPr>
            <a:spLocks noGrp="1"/>
          </p:cNvSpPr>
          <p:nvPr>
            <p:ph idx="1"/>
          </p:nvPr>
        </p:nvSpPr>
        <p:spPr/>
        <p:txBody>
          <a:bodyPr/>
          <a:lstStyle/>
          <a:p>
            <a:r>
              <a:rPr lang="en-GB" dirty="0"/>
              <a:t>MOV A,32H		3E</a:t>
            </a:r>
            <a:endParaRPr lang="en-IN" dirty="0"/>
          </a:p>
          <a:p>
            <a:pPr marL="0" indent="0">
              <a:buNone/>
            </a:pPr>
            <a:r>
              <a:rPr lang="en-IN" dirty="0"/>
              <a:t>				32</a:t>
            </a:r>
          </a:p>
          <a:p>
            <a:pPr marL="0" indent="0">
              <a:buNone/>
            </a:pPr>
            <a:r>
              <a:rPr lang="en-IN" dirty="0"/>
              <a:t>   MVI B,48H			06</a:t>
            </a:r>
          </a:p>
          <a:p>
            <a:pPr marL="0" indent="0">
              <a:buNone/>
            </a:pPr>
            <a:r>
              <a:rPr lang="en-IN" dirty="0"/>
              <a:t>				48</a:t>
            </a:r>
          </a:p>
          <a:p>
            <a:pPr marL="0" indent="0">
              <a:buNone/>
            </a:pPr>
            <a:r>
              <a:rPr lang="en-IN" dirty="0"/>
              <a:t>    ADD B			80</a:t>
            </a:r>
          </a:p>
          <a:p>
            <a:pPr marL="0" indent="0">
              <a:buNone/>
            </a:pPr>
            <a:r>
              <a:rPr lang="en-IN" dirty="0"/>
              <a:t>    OUT 01H			D3</a:t>
            </a:r>
          </a:p>
          <a:p>
            <a:pPr marL="0" indent="0">
              <a:buNone/>
            </a:pPr>
            <a:r>
              <a:rPr lang="en-IN" dirty="0"/>
              <a:t>				01</a:t>
            </a:r>
          </a:p>
          <a:p>
            <a:pPr marL="0" indent="0">
              <a:buNone/>
            </a:pPr>
            <a:r>
              <a:rPr lang="en-IN" dirty="0"/>
              <a:t>    HLT				76</a:t>
            </a:r>
            <a:endParaRPr lang="en-GB" dirty="0"/>
          </a:p>
        </p:txBody>
      </p:sp>
    </p:spTree>
    <p:extLst>
      <p:ext uri="{BB962C8B-B14F-4D97-AF65-F5344CB8AC3E}">
        <p14:creationId xmlns:p14="http://schemas.microsoft.com/office/powerpoint/2010/main" val="13997039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57A3BD-B619-8352-1EDD-5D8F51AC8C28}"/>
              </a:ext>
            </a:extLst>
          </p:cNvPr>
          <p:cNvSpPr>
            <a:spLocks noGrp="1"/>
          </p:cNvSpPr>
          <p:nvPr>
            <p:ph type="title"/>
          </p:nvPr>
        </p:nvSpPr>
        <p:spPr/>
        <p:txBody>
          <a:bodyPr/>
          <a:lstStyle/>
          <a:p>
            <a:r>
              <a:rPr lang="en-GB" dirty="0"/>
              <a:t>Program stored in Memory</a:t>
            </a:r>
            <a:endParaRPr lang="en-IN" dirty="0"/>
          </a:p>
        </p:txBody>
      </p:sp>
      <p:sp>
        <p:nvSpPr>
          <p:cNvPr id="3" name="Content Placeholder 2">
            <a:extLst>
              <a:ext uri="{FF2B5EF4-FFF2-40B4-BE49-F238E27FC236}">
                <a16:creationId xmlns:a16="http://schemas.microsoft.com/office/drawing/2014/main" id="{A09CC351-3364-5143-C2F2-3112C4B770F0}"/>
              </a:ext>
            </a:extLst>
          </p:cNvPr>
          <p:cNvSpPr>
            <a:spLocks noGrp="1"/>
          </p:cNvSpPr>
          <p:nvPr>
            <p:ph idx="1"/>
          </p:nvPr>
        </p:nvSpPr>
        <p:spPr/>
        <p:txBody>
          <a:bodyPr>
            <a:normAutofit lnSpcReduction="10000"/>
          </a:bodyPr>
          <a:lstStyle/>
          <a:p>
            <a:pPr marL="0" indent="0">
              <a:buNone/>
            </a:pPr>
            <a:r>
              <a:rPr lang="en-GB" dirty="0"/>
              <a:t>  </a:t>
            </a:r>
            <a:r>
              <a:rPr lang="en-GB" b="1" dirty="0"/>
              <a:t>Mnemonics	        </a:t>
            </a:r>
            <a:r>
              <a:rPr lang="en-GB" b="1" dirty="0" err="1"/>
              <a:t>Hexcode</a:t>
            </a:r>
            <a:r>
              <a:rPr lang="en-GB" b="1" dirty="0"/>
              <a:t>	           </a:t>
            </a:r>
            <a:r>
              <a:rPr lang="en-GB" b="1" dirty="0" err="1"/>
              <a:t>Binarycode</a:t>
            </a:r>
            <a:r>
              <a:rPr lang="en-GB" b="1" dirty="0"/>
              <a:t>      </a:t>
            </a:r>
            <a:r>
              <a:rPr lang="en-GB" b="1" dirty="0" err="1"/>
              <a:t>Mem_addr</a:t>
            </a:r>
            <a:endParaRPr lang="en-GB" b="1" dirty="0"/>
          </a:p>
          <a:p>
            <a:r>
              <a:rPr lang="en-GB" dirty="0"/>
              <a:t>MOV A,32H		3E			00111110		2000</a:t>
            </a:r>
            <a:endParaRPr lang="en-IN" dirty="0"/>
          </a:p>
          <a:p>
            <a:pPr marL="0" indent="0">
              <a:buNone/>
            </a:pPr>
            <a:r>
              <a:rPr lang="en-IN" dirty="0"/>
              <a:t>				32			00110010		2001</a:t>
            </a:r>
          </a:p>
          <a:p>
            <a:pPr marL="0" indent="0">
              <a:buNone/>
            </a:pPr>
            <a:r>
              <a:rPr lang="en-IN" dirty="0"/>
              <a:t>   MVI B,48H			06			00000110		2002</a:t>
            </a:r>
          </a:p>
          <a:p>
            <a:pPr marL="0" indent="0">
              <a:buNone/>
            </a:pPr>
            <a:r>
              <a:rPr lang="en-IN" dirty="0"/>
              <a:t>				48			01001000		2003</a:t>
            </a:r>
          </a:p>
          <a:p>
            <a:pPr marL="0" indent="0">
              <a:buNone/>
            </a:pPr>
            <a:r>
              <a:rPr lang="en-IN" dirty="0"/>
              <a:t>    ADD B			80			10000000		2004</a:t>
            </a:r>
          </a:p>
          <a:p>
            <a:pPr marL="0" indent="0">
              <a:buNone/>
            </a:pPr>
            <a:r>
              <a:rPr lang="en-IN" dirty="0"/>
              <a:t>    OUT 01H			D3			11010011		2005</a:t>
            </a:r>
          </a:p>
          <a:p>
            <a:pPr marL="0" indent="0">
              <a:buNone/>
            </a:pPr>
            <a:r>
              <a:rPr lang="en-IN" dirty="0"/>
              <a:t>				01			00000001		2006</a:t>
            </a:r>
          </a:p>
          <a:p>
            <a:pPr marL="0" indent="0">
              <a:buNone/>
            </a:pPr>
            <a:r>
              <a:rPr lang="en-IN" dirty="0"/>
              <a:t>    HLT				76			01111110		2007</a:t>
            </a:r>
            <a:endParaRPr lang="en-GB" dirty="0"/>
          </a:p>
        </p:txBody>
      </p:sp>
    </p:spTree>
    <p:extLst>
      <p:ext uri="{BB962C8B-B14F-4D97-AF65-F5344CB8AC3E}">
        <p14:creationId xmlns:p14="http://schemas.microsoft.com/office/powerpoint/2010/main" val="2119109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537964-8388-6CF8-10B7-1EF48A952138}"/>
              </a:ext>
            </a:extLst>
          </p:cNvPr>
          <p:cNvSpPr>
            <a:spLocks noGrp="1"/>
          </p:cNvSpPr>
          <p:nvPr>
            <p:ph type="title"/>
          </p:nvPr>
        </p:nvSpPr>
        <p:spPr/>
        <p:txBody>
          <a:bodyPr/>
          <a:lstStyle/>
          <a:p>
            <a:r>
              <a:rPr lang="en-GB" dirty="0"/>
              <a:t>Addressing Modes - 8085</a:t>
            </a:r>
            <a:endParaRPr lang="en-IN" dirty="0"/>
          </a:p>
        </p:txBody>
      </p:sp>
      <p:sp>
        <p:nvSpPr>
          <p:cNvPr id="3" name="Content Placeholder 2">
            <a:extLst>
              <a:ext uri="{FF2B5EF4-FFF2-40B4-BE49-F238E27FC236}">
                <a16:creationId xmlns:a16="http://schemas.microsoft.com/office/drawing/2014/main" id="{4EA7DCA9-7CC7-AAEF-6C60-0164EBF3FCC6}"/>
              </a:ext>
            </a:extLst>
          </p:cNvPr>
          <p:cNvSpPr>
            <a:spLocks noGrp="1"/>
          </p:cNvSpPr>
          <p:nvPr>
            <p:ph idx="1"/>
          </p:nvPr>
        </p:nvSpPr>
        <p:spPr/>
        <p:txBody>
          <a:bodyPr>
            <a:normAutofit fontScale="92500" lnSpcReduction="10000"/>
          </a:bodyPr>
          <a:lstStyle/>
          <a:p>
            <a:r>
              <a:rPr lang="en-GB" dirty="0"/>
              <a:t>Direct Addressing: In this mode, the operand is specified within the instruction itself . (</a:t>
            </a:r>
            <a:r>
              <a:rPr lang="en-GB" dirty="0" err="1"/>
              <a:t>Eg</a:t>
            </a:r>
            <a:r>
              <a:rPr lang="en-GB" dirty="0"/>
              <a:t>) L</a:t>
            </a:r>
            <a:r>
              <a:rPr lang="en-IN" dirty="0"/>
              <a:t>DA 4000H; STA 5513H</a:t>
            </a:r>
          </a:p>
          <a:p>
            <a:r>
              <a:rPr lang="en-GB" dirty="0"/>
              <a:t>Register Addressing: In this mode of addressing, the operand are in the general purpose registers</a:t>
            </a:r>
            <a:r>
              <a:rPr lang="en-IN" dirty="0"/>
              <a:t>. (</a:t>
            </a:r>
            <a:r>
              <a:rPr lang="en-IN" dirty="0" err="1"/>
              <a:t>eg</a:t>
            </a:r>
            <a:r>
              <a:rPr lang="en-IN" dirty="0"/>
              <a:t>) MOV A, B ; ADD D</a:t>
            </a:r>
          </a:p>
          <a:p>
            <a:r>
              <a:rPr lang="en-GB" dirty="0"/>
              <a:t>Register Indirect Addressing: MOV A, M; ADD M . These instructions utilise 1-byte. In this mode, instead of specifying a register, a register pair is specified to accommodate the 16-bit address of the operand</a:t>
            </a:r>
          </a:p>
          <a:p>
            <a:r>
              <a:rPr lang="en-GB" dirty="0"/>
              <a:t>Immediate Addressing: MVI A, 07; ADI 0F are examples of Immediate Addressing mode. The operand is specified in the instruction in this mode. </a:t>
            </a:r>
          </a:p>
          <a:p>
            <a:r>
              <a:rPr lang="en-GB" dirty="0"/>
              <a:t>Implicit Addressing: In this mode of addressing, the operand is fully absent. Examples are RAR, RAL, CMA, etc.</a:t>
            </a:r>
            <a:endParaRPr lang="en-IN" dirty="0"/>
          </a:p>
        </p:txBody>
      </p:sp>
    </p:spTree>
    <p:extLst>
      <p:ext uri="{BB962C8B-B14F-4D97-AF65-F5344CB8AC3E}">
        <p14:creationId xmlns:p14="http://schemas.microsoft.com/office/powerpoint/2010/main" val="14326296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AF773F-2984-6D6E-0A79-C4DC87F09FF7}"/>
              </a:ext>
            </a:extLst>
          </p:cNvPr>
          <p:cNvSpPr>
            <a:spLocks noGrp="1"/>
          </p:cNvSpPr>
          <p:nvPr>
            <p:ph type="title"/>
          </p:nvPr>
        </p:nvSpPr>
        <p:spPr/>
        <p:txBody>
          <a:bodyPr/>
          <a:lstStyle/>
          <a:p>
            <a:r>
              <a:rPr lang="en-GB" dirty="0"/>
              <a:t>Timing &amp; Control</a:t>
            </a:r>
            <a:endParaRPr lang="en-IN" dirty="0"/>
          </a:p>
        </p:txBody>
      </p:sp>
      <p:sp>
        <p:nvSpPr>
          <p:cNvPr id="3" name="Content Placeholder 2">
            <a:extLst>
              <a:ext uri="{FF2B5EF4-FFF2-40B4-BE49-F238E27FC236}">
                <a16:creationId xmlns:a16="http://schemas.microsoft.com/office/drawing/2014/main" id="{994DFE04-B9AD-0A08-5A4C-3517C315DA6C}"/>
              </a:ext>
            </a:extLst>
          </p:cNvPr>
          <p:cNvSpPr>
            <a:spLocks noGrp="1"/>
          </p:cNvSpPr>
          <p:nvPr>
            <p:ph idx="1"/>
          </p:nvPr>
        </p:nvSpPr>
        <p:spPr/>
        <p:txBody>
          <a:bodyPr/>
          <a:lstStyle/>
          <a:p>
            <a:r>
              <a:rPr lang="en-GB" dirty="0"/>
              <a:t>The Timing &amp; </a:t>
            </a:r>
            <a:r>
              <a:rPr lang="en-GB" dirty="0" err="1"/>
              <a:t>Contrl</a:t>
            </a:r>
            <a:r>
              <a:rPr lang="en-GB" dirty="0"/>
              <a:t> section is a part of CPU and generates timing and control signals for execution of instructions. </a:t>
            </a:r>
          </a:p>
          <a:p>
            <a:r>
              <a:rPr lang="en-GB" dirty="0"/>
              <a:t>This section includes Clock signals, Control signals, Status signals, DMA signals as also the Reset section. </a:t>
            </a:r>
          </a:p>
          <a:p>
            <a:r>
              <a:rPr lang="en-GB" dirty="0"/>
              <a:t>It controls fetching and decoding operations. </a:t>
            </a:r>
          </a:p>
          <a:p>
            <a:r>
              <a:rPr lang="en-GB" dirty="0"/>
              <a:t>It also generates appropriate control signals for instruction execution as also the signals required to interface external devices.</a:t>
            </a:r>
            <a:endParaRPr lang="en-IN" dirty="0"/>
          </a:p>
        </p:txBody>
      </p:sp>
    </p:spTree>
    <p:extLst>
      <p:ext uri="{BB962C8B-B14F-4D97-AF65-F5344CB8AC3E}">
        <p14:creationId xmlns:p14="http://schemas.microsoft.com/office/powerpoint/2010/main" val="13551178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04913F-2024-B640-5D70-34866FB5B50E}"/>
              </a:ext>
            </a:extLst>
          </p:cNvPr>
          <p:cNvSpPr>
            <a:spLocks noGrp="1"/>
          </p:cNvSpPr>
          <p:nvPr>
            <p:ph type="title"/>
          </p:nvPr>
        </p:nvSpPr>
        <p:spPr/>
        <p:txBody>
          <a:bodyPr/>
          <a:lstStyle/>
          <a:p>
            <a:r>
              <a:rPr lang="en-GB" dirty="0"/>
              <a:t>Timing Diagram</a:t>
            </a:r>
            <a:endParaRPr lang="en-IN" dirty="0"/>
          </a:p>
        </p:txBody>
      </p:sp>
      <p:sp>
        <p:nvSpPr>
          <p:cNvPr id="3" name="Content Placeholder 2">
            <a:extLst>
              <a:ext uri="{FF2B5EF4-FFF2-40B4-BE49-F238E27FC236}">
                <a16:creationId xmlns:a16="http://schemas.microsoft.com/office/drawing/2014/main" id="{377F1FBB-4E5B-0F51-F689-6678160986E2}"/>
              </a:ext>
            </a:extLst>
          </p:cNvPr>
          <p:cNvSpPr>
            <a:spLocks noGrp="1"/>
          </p:cNvSpPr>
          <p:nvPr>
            <p:ph idx="1"/>
          </p:nvPr>
        </p:nvSpPr>
        <p:spPr/>
        <p:txBody>
          <a:bodyPr>
            <a:normAutofit/>
          </a:bodyPr>
          <a:lstStyle/>
          <a:p>
            <a:pPr algn="l" rtl="0" fontAlgn="base"/>
            <a:r>
              <a:rPr lang="en-GB" b="0" i="0" dirty="0">
                <a:solidFill>
                  <a:srgbClr val="273239"/>
                </a:solidFill>
                <a:effectLst/>
                <a:highlight>
                  <a:srgbClr val="FFFFFF"/>
                </a:highlight>
                <a:latin typeface="Nunito" pitchFamily="2" charset="0"/>
              </a:rPr>
              <a:t>A time diagram is a graphical representation. </a:t>
            </a:r>
          </a:p>
          <a:p>
            <a:pPr algn="l" rtl="0" fontAlgn="base"/>
            <a:r>
              <a:rPr lang="en-GB" b="0" i="0" dirty="0">
                <a:solidFill>
                  <a:srgbClr val="273239"/>
                </a:solidFill>
                <a:effectLst/>
                <a:highlight>
                  <a:srgbClr val="FFFFFF"/>
                </a:highlight>
                <a:latin typeface="Nunito" pitchFamily="2" charset="0"/>
              </a:rPr>
              <a:t>The 8085 instruction timing diagram represents the execution time of each instruction in graphical format. </a:t>
            </a:r>
          </a:p>
          <a:p>
            <a:pPr algn="l" rtl="0" fontAlgn="base"/>
            <a:r>
              <a:rPr lang="en-GB" b="0" i="0" dirty="0">
                <a:solidFill>
                  <a:srgbClr val="273239"/>
                </a:solidFill>
                <a:effectLst/>
                <a:highlight>
                  <a:srgbClr val="FFFFFF"/>
                </a:highlight>
                <a:latin typeface="Nunito" pitchFamily="2" charset="0"/>
              </a:rPr>
              <a:t>Execution time is given in T-states. </a:t>
            </a:r>
          </a:p>
          <a:p>
            <a:pPr algn="l" rtl="0" fontAlgn="base"/>
            <a:r>
              <a:rPr lang="en-GB" b="0" i="0" dirty="0">
                <a:solidFill>
                  <a:srgbClr val="273239"/>
                </a:solidFill>
                <a:effectLst/>
                <a:highlight>
                  <a:srgbClr val="FFFFFF"/>
                </a:highlight>
                <a:latin typeface="Nunito" pitchFamily="2" charset="0"/>
              </a:rPr>
              <a:t>The 8085 microprocessor has a set of control signals and data signals that play an important role in the execution of instructions. </a:t>
            </a:r>
            <a:endParaRPr lang="en-IN" dirty="0"/>
          </a:p>
        </p:txBody>
      </p:sp>
    </p:spTree>
    <p:extLst>
      <p:ext uri="{BB962C8B-B14F-4D97-AF65-F5344CB8AC3E}">
        <p14:creationId xmlns:p14="http://schemas.microsoft.com/office/powerpoint/2010/main" val="31716203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3D2531-16DD-3F32-D0EC-4D81117C4599}"/>
              </a:ext>
            </a:extLst>
          </p:cNvPr>
          <p:cNvSpPr>
            <a:spLocks noGrp="1"/>
          </p:cNvSpPr>
          <p:nvPr>
            <p:ph type="title"/>
          </p:nvPr>
        </p:nvSpPr>
        <p:spPr/>
        <p:txBody>
          <a:bodyPr/>
          <a:lstStyle/>
          <a:p>
            <a:r>
              <a:rPr lang="en-GB" dirty="0"/>
              <a:t>Signals</a:t>
            </a:r>
            <a:endParaRPr lang="en-IN" dirty="0"/>
          </a:p>
        </p:txBody>
      </p:sp>
      <p:sp>
        <p:nvSpPr>
          <p:cNvPr id="3" name="Content Placeholder 2">
            <a:extLst>
              <a:ext uri="{FF2B5EF4-FFF2-40B4-BE49-F238E27FC236}">
                <a16:creationId xmlns:a16="http://schemas.microsoft.com/office/drawing/2014/main" id="{7703415E-5FDD-9C49-3353-EAC6DA401302}"/>
              </a:ext>
            </a:extLst>
          </p:cNvPr>
          <p:cNvSpPr>
            <a:spLocks noGrp="1"/>
          </p:cNvSpPr>
          <p:nvPr>
            <p:ph idx="1"/>
          </p:nvPr>
        </p:nvSpPr>
        <p:spPr/>
        <p:txBody>
          <a:bodyPr>
            <a:normAutofit fontScale="92500" lnSpcReduction="10000"/>
          </a:bodyPr>
          <a:lstStyle/>
          <a:p>
            <a:pPr algn="l" fontAlgn="base">
              <a:buFont typeface="Arial" panose="020B0604020202020204" pitchFamily="34" charset="0"/>
              <a:buChar char="•"/>
            </a:pPr>
            <a:r>
              <a:rPr lang="en-GB" b="1" i="0" dirty="0">
                <a:solidFill>
                  <a:srgbClr val="273239"/>
                </a:solidFill>
                <a:effectLst/>
                <a:highlight>
                  <a:srgbClr val="FFFFFF"/>
                </a:highlight>
                <a:latin typeface="Nunito" pitchFamily="2" charset="0"/>
              </a:rPr>
              <a:t>Clock Signal: </a:t>
            </a:r>
            <a:r>
              <a:rPr lang="en-GB" b="0" i="0" dirty="0">
                <a:solidFill>
                  <a:srgbClr val="273239"/>
                </a:solidFill>
                <a:effectLst/>
                <a:highlight>
                  <a:srgbClr val="FFFFFF"/>
                </a:highlight>
                <a:latin typeface="Nunito" pitchFamily="2" charset="0"/>
              </a:rPr>
              <a:t>The time required to execute an instruction is called a clock cycle.</a:t>
            </a:r>
          </a:p>
          <a:p>
            <a:pPr algn="l" fontAlgn="base">
              <a:buFont typeface="Arial" panose="020B0604020202020204" pitchFamily="34" charset="0"/>
              <a:buChar char="•"/>
            </a:pPr>
            <a:r>
              <a:rPr lang="en-GB" b="1" i="0" dirty="0">
                <a:solidFill>
                  <a:srgbClr val="273239"/>
                </a:solidFill>
                <a:effectLst/>
                <a:highlight>
                  <a:srgbClr val="FFFFFF"/>
                </a:highlight>
                <a:latin typeface="Nunito" pitchFamily="2" charset="0"/>
              </a:rPr>
              <a:t>Machine Cycle: </a:t>
            </a:r>
            <a:r>
              <a:rPr lang="en-GB" b="0" i="0" dirty="0">
                <a:solidFill>
                  <a:srgbClr val="273239"/>
                </a:solidFill>
                <a:effectLst/>
                <a:highlight>
                  <a:srgbClr val="FFFFFF"/>
                </a:highlight>
                <a:latin typeface="Nunito" pitchFamily="2" charset="0"/>
              </a:rPr>
              <a:t>The time required to access memory or input/output devices is called a machine cycle. The 8085 has 5 basic machine cycles i.e., load opcode, read from memory, write to memory, read I/O, and write I/O.</a:t>
            </a:r>
          </a:p>
          <a:p>
            <a:pPr algn="l" fontAlgn="base">
              <a:buFont typeface="Arial" panose="020B0604020202020204" pitchFamily="34" charset="0"/>
              <a:buChar char="•"/>
            </a:pPr>
            <a:r>
              <a:rPr lang="en-GB" b="1" i="0" dirty="0">
                <a:solidFill>
                  <a:srgbClr val="273239"/>
                </a:solidFill>
                <a:effectLst/>
                <a:highlight>
                  <a:srgbClr val="FFFFFF"/>
                </a:highlight>
                <a:latin typeface="Nunito" pitchFamily="2" charset="0"/>
              </a:rPr>
              <a:t>T-State: </a:t>
            </a:r>
            <a:r>
              <a:rPr lang="en-GB" b="0" i="0" dirty="0">
                <a:solidFill>
                  <a:srgbClr val="273239"/>
                </a:solidFill>
                <a:effectLst/>
                <a:highlight>
                  <a:srgbClr val="FFFFFF"/>
                </a:highlight>
                <a:latin typeface="Nunito" pitchFamily="2" charset="0"/>
              </a:rPr>
              <a:t>A machine cycle and an instruction cycle take several clock periods. The portion of an operation performed in one system clock period is called a T-state.</a:t>
            </a:r>
          </a:p>
          <a:p>
            <a:pPr algn="l" fontAlgn="base">
              <a:buFont typeface="Arial" panose="020B0604020202020204" pitchFamily="34" charset="0"/>
              <a:buChar char="•"/>
            </a:pPr>
            <a:r>
              <a:rPr lang="en-GB" b="1" i="0" dirty="0">
                <a:solidFill>
                  <a:srgbClr val="273239"/>
                </a:solidFill>
                <a:effectLst/>
                <a:highlight>
                  <a:srgbClr val="FFFFFF"/>
                </a:highlight>
                <a:latin typeface="Nunito" pitchFamily="2" charset="0"/>
              </a:rPr>
              <a:t>Control Signals: </a:t>
            </a:r>
            <a:r>
              <a:rPr lang="en-GB" b="0" i="0" dirty="0">
                <a:solidFill>
                  <a:srgbClr val="273239"/>
                </a:solidFill>
                <a:effectLst/>
                <a:highlight>
                  <a:srgbClr val="FFFFFF"/>
                </a:highlight>
                <a:latin typeface="Nunito" pitchFamily="2" charset="0"/>
              </a:rPr>
              <a:t>The control signal controls the operations. Common signals are ALE (address block enable), RD (read), WR (write), and IO/M (input/output) memory.</a:t>
            </a:r>
          </a:p>
          <a:p>
            <a:endParaRPr lang="en-IN" dirty="0"/>
          </a:p>
        </p:txBody>
      </p:sp>
    </p:spTree>
    <p:extLst>
      <p:ext uri="{BB962C8B-B14F-4D97-AF65-F5344CB8AC3E}">
        <p14:creationId xmlns:p14="http://schemas.microsoft.com/office/powerpoint/2010/main" val="23249826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B76F1D-0CE7-FDA5-B869-B78466DF29DF}"/>
              </a:ext>
            </a:extLst>
          </p:cNvPr>
          <p:cNvSpPr>
            <a:spLocks noGrp="1"/>
          </p:cNvSpPr>
          <p:nvPr>
            <p:ph type="title"/>
          </p:nvPr>
        </p:nvSpPr>
        <p:spPr/>
        <p:txBody>
          <a:bodyPr/>
          <a:lstStyle/>
          <a:p>
            <a:r>
              <a:rPr lang="en-GB" dirty="0"/>
              <a:t>Control Signals</a:t>
            </a:r>
            <a:endParaRPr lang="en-IN" dirty="0"/>
          </a:p>
        </p:txBody>
      </p:sp>
      <p:sp>
        <p:nvSpPr>
          <p:cNvPr id="3" name="Content Placeholder 2">
            <a:extLst>
              <a:ext uri="{FF2B5EF4-FFF2-40B4-BE49-F238E27FC236}">
                <a16:creationId xmlns:a16="http://schemas.microsoft.com/office/drawing/2014/main" id="{5C7EF71C-C160-C020-0C79-9121F092F9B4}"/>
              </a:ext>
            </a:extLst>
          </p:cNvPr>
          <p:cNvSpPr>
            <a:spLocks noGrp="1"/>
          </p:cNvSpPr>
          <p:nvPr>
            <p:ph idx="1"/>
          </p:nvPr>
        </p:nvSpPr>
        <p:spPr/>
        <p:txBody>
          <a:bodyPr/>
          <a:lstStyle/>
          <a:p>
            <a:r>
              <a:rPr lang="en-GB" dirty="0"/>
              <a:t>IO/ M signal indicates whether I/O or memory operation is being carried out. A high on this signal indicates I/O operation while a low indicates memory operation. </a:t>
            </a:r>
          </a:p>
          <a:p>
            <a:r>
              <a:rPr lang="en-GB" dirty="0"/>
              <a:t>S0 and S1 indicate the type of machine cycle in progress</a:t>
            </a:r>
            <a:endParaRPr lang="en-IN" dirty="0"/>
          </a:p>
        </p:txBody>
      </p:sp>
    </p:spTree>
    <p:extLst>
      <p:ext uri="{BB962C8B-B14F-4D97-AF65-F5344CB8AC3E}">
        <p14:creationId xmlns:p14="http://schemas.microsoft.com/office/powerpoint/2010/main" val="32840191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B466EA-B905-ABCF-EBE4-B8F0037B734E}"/>
              </a:ext>
            </a:extLst>
          </p:cNvPr>
          <p:cNvSpPr>
            <a:spLocks noGrp="1"/>
          </p:cNvSpPr>
          <p:nvPr>
            <p:ph type="title"/>
          </p:nvPr>
        </p:nvSpPr>
        <p:spPr/>
        <p:txBody>
          <a:bodyPr/>
          <a:lstStyle/>
          <a:p>
            <a:r>
              <a:rPr lang="en-GB" dirty="0"/>
              <a:t>ALE</a:t>
            </a:r>
            <a:endParaRPr lang="en-IN" dirty="0"/>
          </a:p>
        </p:txBody>
      </p:sp>
      <p:sp>
        <p:nvSpPr>
          <p:cNvPr id="3" name="Content Placeholder 2">
            <a:extLst>
              <a:ext uri="{FF2B5EF4-FFF2-40B4-BE49-F238E27FC236}">
                <a16:creationId xmlns:a16="http://schemas.microsoft.com/office/drawing/2014/main" id="{C6306880-8547-EEE6-FD6E-E3AA1F7FDB38}"/>
              </a:ext>
            </a:extLst>
          </p:cNvPr>
          <p:cNvSpPr>
            <a:spLocks noGrp="1"/>
          </p:cNvSpPr>
          <p:nvPr>
            <p:ph idx="1"/>
          </p:nvPr>
        </p:nvSpPr>
        <p:spPr/>
        <p:txBody>
          <a:bodyPr>
            <a:normAutofit fontScale="92500"/>
          </a:bodyPr>
          <a:lstStyle/>
          <a:p>
            <a:r>
              <a:rPr lang="en-GB" dirty="0"/>
              <a:t>ALE pin which stands for ‘Address Latch Enable’. </a:t>
            </a:r>
          </a:p>
          <a:p>
            <a:r>
              <a:rPr lang="en-GB" dirty="0"/>
              <a:t>ALE signal is used to demultiplex the lower order address bus (AD0 – AD7). </a:t>
            </a:r>
          </a:p>
          <a:p>
            <a:r>
              <a:rPr lang="en-GB" dirty="0"/>
              <a:t>Pins 12 to 19 of 8085 are AD0 – AD7 which is the multiplexed address-data bus. Multiplexing is done to reduce the number of pins of 8085</a:t>
            </a:r>
          </a:p>
          <a:p>
            <a:r>
              <a:rPr lang="en-GB" dirty="0"/>
              <a:t>ALE signal goes high at the beginning of T1 of each machine cycle and goes low at the end of T1 and remains low during the rest of the machine cycle.</a:t>
            </a:r>
          </a:p>
          <a:p>
            <a:r>
              <a:rPr lang="en-GB" dirty="0"/>
              <a:t>This high to low transition of ALE signal at the end of T1 is used to latch the lower order address byte (A0 – A7) by the latch IC 74LS373, so that the lower byte A0 – A7 is continued to be available till the end of the machine cycle.</a:t>
            </a:r>
            <a:endParaRPr lang="en-IN" dirty="0"/>
          </a:p>
        </p:txBody>
      </p:sp>
    </p:spTree>
    <p:extLst>
      <p:ext uri="{BB962C8B-B14F-4D97-AF65-F5344CB8AC3E}">
        <p14:creationId xmlns:p14="http://schemas.microsoft.com/office/powerpoint/2010/main" val="25524275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86BAF-6F8C-0BC3-24D5-37EFC5DFE564}"/>
              </a:ext>
            </a:extLst>
          </p:cNvPr>
          <p:cNvSpPr>
            <a:spLocks noGrp="1"/>
          </p:cNvSpPr>
          <p:nvPr>
            <p:ph type="title"/>
          </p:nvPr>
        </p:nvSpPr>
        <p:spPr>
          <a:xfrm>
            <a:off x="1046746" y="586822"/>
            <a:ext cx="3560252" cy="1645920"/>
          </a:xfrm>
        </p:spPr>
        <p:txBody>
          <a:bodyPr>
            <a:normAutofit/>
          </a:bodyPr>
          <a:lstStyle/>
          <a:p>
            <a:r>
              <a:rPr lang="en-GB" sz="3200" dirty="0"/>
              <a:t>Read/Write</a:t>
            </a:r>
            <a:endParaRPr lang="en-IN" sz="3200" dirty="0"/>
          </a:p>
        </p:txBody>
      </p:sp>
      <p:sp>
        <p:nvSpPr>
          <p:cNvPr id="3" name="Content Placeholder 2">
            <a:extLst>
              <a:ext uri="{FF2B5EF4-FFF2-40B4-BE49-F238E27FC236}">
                <a16:creationId xmlns:a16="http://schemas.microsoft.com/office/drawing/2014/main" id="{84351659-299D-4FFE-0243-109AAE0EB49B}"/>
              </a:ext>
            </a:extLst>
          </p:cNvPr>
          <p:cNvSpPr>
            <a:spLocks noGrp="1"/>
          </p:cNvSpPr>
          <p:nvPr>
            <p:ph idx="1"/>
          </p:nvPr>
        </p:nvSpPr>
        <p:spPr>
          <a:xfrm>
            <a:off x="5351164" y="586822"/>
            <a:ext cx="6052798" cy="1867620"/>
          </a:xfrm>
        </p:spPr>
        <p:txBody>
          <a:bodyPr anchor="ctr">
            <a:normAutofit/>
          </a:bodyPr>
          <a:lstStyle/>
          <a:p>
            <a:r>
              <a:rPr lang="en-GB" sz="2000" dirty="0"/>
              <a:t>Data transfer from memory or I/O device to microprocessor or the reverse takes place during T2 and T3 states of the machine cycles.</a:t>
            </a:r>
          </a:p>
          <a:p>
            <a:r>
              <a:rPr lang="en-GB" sz="2000" dirty="0"/>
              <a:t>In the read machine cycle, data appears at the beginning of T3 state, whereas in the write machine cycle, it appears at the beginning of T2</a:t>
            </a:r>
            <a:endParaRPr lang="en-IN" sz="2000" dirty="0"/>
          </a:p>
        </p:txBody>
      </p:sp>
      <p:pic>
        <p:nvPicPr>
          <p:cNvPr id="5" name="Picture 4">
            <a:extLst>
              <a:ext uri="{FF2B5EF4-FFF2-40B4-BE49-F238E27FC236}">
                <a16:creationId xmlns:a16="http://schemas.microsoft.com/office/drawing/2014/main" id="{55FE8771-1FA7-CDD5-0F89-75F02C7B910E}"/>
              </a:ext>
            </a:extLst>
          </p:cNvPr>
          <p:cNvPicPr>
            <a:picLocks noChangeAspect="1"/>
          </p:cNvPicPr>
          <p:nvPr/>
        </p:nvPicPr>
        <p:blipFill>
          <a:blip r:embed="rId2"/>
          <a:stretch>
            <a:fillRect/>
          </a:stretch>
        </p:blipFill>
        <p:spPr>
          <a:xfrm>
            <a:off x="557039" y="2925356"/>
            <a:ext cx="11164824" cy="3349448"/>
          </a:xfrm>
          <a:prstGeom prst="rect">
            <a:avLst/>
          </a:prstGeom>
        </p:spPr>
      </p:pic>
    </p:spTree>
    <p:extLst>
      <p:ext uri="{BB962C8B-B14F-4D97-AF65-F5344CB8AC3E}">
        <p14:creationId xmlns:p14="http://schemas.microsoft.com/office/powerpoint/2010/main" val="28679308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557A97-71E3-0DFC-505E-2026AA90DA45}"/>
              </a:ext>
            </a:extLst>
          </p:cNvPr>
          <p:cNvSpPr>
            <a:spLocks noGrp="1"/>
          </p:cNvSpPr>
          <p:nvPr>
            <p:ph type="title"/>
          </p:nvPr>
        </p:nvSpPr>
        <p:spPr/>
        <p:txBody>
          <a:bodyPr/>
          <a:lstStyle/>
          <a:p>
            <a:r>
              <a:rPr lang="en-GB" dirty="0"/>
              <a:t>8085 Machine Cycles</a:t>
            </a:r>
            <a:endParaRPr lang="en-IN" dirty="0"/>
          </a:p>
        </p:txBody>
      </p:sp>
      <p:sp>
        <p:nvSpPr>
          <p:cNvPr id="3" name="Content Placeholder 2">
            <a:extLst>
              <a:ext uri="{FF2B5EF4-FFF2-40B4-BE49-F238E27FC236}">
                <a16:creationId xmlns:a16="http://schemas.microsoft.com/office/drawing/2014/main" id="{185A030C-9438-BDE9-5970-0EB1958DD7E3}"/>
              </a:ext>
            </a:extLst>
          </p:cNvPr>
          <p:cNvSpPr>
            <a:spLocks noGrp="1"/>
          </p:cNvSpPr>
          <p:nvPr>
            <p:ph idx="1"/>
          </p:nvPr>
        </p:nvSpPr>
        <p:spPr/>
        <p:txBody>
          <a:bodyPr/>
          <a:lstStyle/>
          <a:p>
            <a:pPr marL="0" indent="0" algn="l" rtl="0" fontAlgn="base">
              <a:buNone/>
            </a:pPr>
            <a:r>
              <a:rPr lang="en-IN" b="0" i="0" dirty="0">
                <a:solidFill>
                  <a:srgbClr val="273239"/>
                </a:solidFill>
                <a:effectLst/>
                <a:highlight>
                  <a:srgbClr val="FFFFFF"/>
                </a:highlight>
                <a:latin typeface="Nunito" pitchFamily="2" charset="0"/>
              </a:rPr>
              <a:t>The 8085 microprocessor has 5 basic machine cycles. </a:t>
            </a:r>
          </a:p>
          <a:p>
            <a:pPr fontAlgn="base"/>
            <a:r>
              <a:rPr lang="en-IN" b="0" i="0" dirty="0">
                <a:solidFill>
                  <a:srgbClr val="273239"/>
                </a:solidFill>
                <a:effectLst/>
                <a:highlight>
                  <a:srgbClr val="FFFFFF"/>
                </a:highlight>
                <a:latin typeface="Nunito" pitchFamily="2" charset="0"/>
              </a:rPr>
              <a:t>Opcode Fetch {4T- state}</a:t>
            </a:r>
          </a:p>
          <a:p>
            <a:pPr algn="l" fontAlgn="base">
              <a:buFont typeface="Arial" panose="020B0604020202020204" pitchFamily="34" charset="0"/>
              <a:buChar char="•"/>
            </a:pPr>
            <a:r>
              <a:rPr lang="en-IN" b="0" i="0" dirty="0">
                <a:solidFill>
                  <a:srgbClr val="273239"/>
                </a:solidFill>
                <a:effectLst/>
                <a:highlight>
                  <a:srgbClr val="FFFFFF"/>
                </a:highlight>
                <a:latin typeface="Nunito" pitchFamily="2" charset="0"/>
              </a:rPr>
              <a:t>Memory Read {3T- state}</a:t>
            </a:r>
          </a:p>
          <a:p>
            <a:pPr algn="l" fontAlgn="base">
              <a:buFont typeface="Arial" panose="020B0604020202020204" pitchFamily="34" charset="0"/>
              <a:buChar char="•"/>
            </a:pPr>
            <a:r>
              <a:rPr lang="en-IN" b="0" i="0" dirty="0">
                <a:solidFill>
                  <a:srgbClr val="273239"/>
                </a:solidFill>
                <a:effectLst/>
                <a:highlight>
                  <a:srgbClr val="FFFFFF"/>
                </a:highlight>
                <a:latin typeface="Nunito" pitchFamily="2" charset="0"/>
              </a:rPr>
              <a:t>Memory Write {3T- state}</a:t>
            </a:r>
          </a:p>
          <a:p>
            <a:pPr algn="l" fontAlgn="base">
              <a:buFont typeface="Arial" panose="020B0604020202020204" pitchFamily="34" charset="0"/>
              <a:buChar char="•"/>
            </a:pPr>
            <a:r>
              <a:rPr lang="en-IN" b="0" i="0" dirty="0">
                <a:solidFill>
                  <a:srgbClr val="273239"/>
                </a:solidFill>
                <a:effectLst/>
                <a:highlight>
                  <a:srgbClr val="FFFFFF"/>
                </a:highlight>
                <a:latin typeface="Nunito" pitchFamily="2" charset="0"/>
              </a:rPr>
              <a:t>I/O Read {3T- state}</a:t>
            </a:r>
          </a:p>
          <a:p>
            <a:pPr algn="l" fontAlgn="base">
              <a:buFont typeface="Arial" panose="020B0604020202020204" pitchFamily="34" charset="0"/>
              <a:buChar char="•"/>
            </a:pPr>
            <a:r>
              <a:rPr lang="en-IN" b="0" i="0" dirty="0">
                <a:solidFill>
                  <a:srgbClr val="273239"/>
                </a:solidFill>
                <a:effectLst/>
                <a:highlight>
                  <a:srgbClr val="FFFFFF"/>
                </a:highlight>
                <a:latin typeface="Nunito" pitchFamily="2" charset="0"/>
              </a:rPr>
              <a:t>I/O Write {3T- state}</a:t>
            </a:r>
          </a:p>
          <a:p>
            <a:endParaRPr lang="en-IN" dirty="0"/>
          </a:p>
        </p:txBody>
      </p:sp>
    </p:spTree>
    <p:extLst>
      <p:ext uri="{BB962C8B-B14F-4D97-AF65-F5344CB8AC3E}">
        <p14:creationId xmlns:p14="http://schemas.microsoft.com/office/powerpoint/2010/main" val="38136441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B77033-3B4D-720D-9A62-79C37E2602FC}"/>
              </a:ext>
            </a:extLst>
          </p:cNvPr>
          <p:cNvSpPr>
            <a:spLocks noGrp="1"/>
          </p:cNvSpPr>
          <p:nvPr>
            <p:ph type="title"/>
          </p:nvPr>
        </p:nvSpPr>
        <p:spPr/>
        <p:txBody>
          <a:bodyPr/>
          <a:lstStyle/>
          <a:p>
            <a:r>
              <a:rPr lang="en-GB" b="1" i="0" dirty="0">
                <a:solidFill>
                  <a:srgbClr val="273239"/>
                </a:solidFill>
                <a:effectLst/>
                <a:highlight>
                  <a:srgbClr val="FFFFFF"/>
                </a:highlight>
                <a:latin typeface="Nunito" pitchFamily="2" charset="0"/>
              </a:rPr>
              <a:t>Opcode Fetch Machine Cycle of 8085</a:t>
            </a:r>
            <a:endParaRPr lang="en-IN" dirty="0"/>
          </a:p>
        </p:txBody>
      </p:sp>
      <p:sp>
        <p:nvSpPr>
          <p:cNvPr id="3" name="Content Placeholder 2">
            <a:extLst>
              <a:ext uri="{FF2B5EF4-FFF2-40B4-BE49-F238E27FC236}">
                <a16:creationId xmlns:a16="http://schemas.microsoft.com/office/drawing/2014/main" id="{E17252C5-04C6-AC3C-1100-FA8F34AA832C}"/>
              </a:ext>
            </a:extLst>
          </p:cNvPr>
          <p:cNvSpPr>
            <a:spLocks noGrp="1"/>
          </p:cNvSpPr>
          <p:nvPr>
            <p:ph idx="1"/>
          </p:nvPr>
        </p:nvSpPr>
        <p:spPr/>
        <p:txBody>
          <a:bodyPr>
            <a:normAutofit lnSpcReduction="10000"/>
          </a:bodyPr>
          <a:lstStyle/>
          <a:p>
            <a:pPr algn="l" fontAlgn="base">
              <a:buFont typeface="Arial" panose="020B0604020202020204" pitchFamily="34" charset="0"/>
              <a:buChar char="•"/>
            </a:pPr>
            <a:r>
              <a:rPr lang="en-GB" b="0" i="0" dirty="0">
                <a:solidFill>
                  <a:srgbClr val="273239"/>
                </a:solidFill>
                <a:effectLst/>
                <a:highlight>
                  <a:srgbClr val="FFFFFF"/>
                </a:highlight>
                <a:latin typeface="Nunito" pitchFamily="2" charset="0"/>
              </a:rPr>
              <a:t>Each processor instruction has a one byte opcode.</a:t>
            </a:r>
          </a:p>
          <a:p>
            <a:pPr algn="l" fontAlgn="base">
              <a:buFont typeface="Arial" panose="020B0604020202020204" pitchFamily="34" charset="0"/>
              <a:buChar char="•"/>
            </a:pPr>
            <a:r>
              <a:rPr lang="en-GB" b="0" i="0" dirty="0">
                <a:solidFill>
                  <a:srgbClr val="273239"/>
                </a:solidFill>
                <a:effectLst/>
                <a:highlight>
                  <a:srgbClr val="FFFFFF"/>
                </a:highlight>
                <a:latin typeface="Nunito" pitchFamily="2" charset="0"/>
              </a:rPr>
              <a:t>Operation codes are stored in memory. Thus, the processor performs an opcode load machine cycle to load the opcode from memory.</a:t>
            </a:r>
          </a:p>
          <a:p>
            <a:pPr algn="l" fontAlgn="base">
              <a:buFont typeface="Arial" panose="020B0604020202020204" pitchFamily="34" charset="0"/>
              <a:buChar char="•"/>
            </a:pPr>
            <a:r>
              <a:rPr lang="en-GB" b="0" i="0" dirty="0">
                <a:solidFill>
                  <a:srgbClr val="273239"/>
                </a:solidFill>
                <a:effectLst/>
                <a:highlight>
                  <a:srgbClr val="FFFFFF"/>
                </a:highlight>
                <a:latin typeface="Nunito" pitchFamily="2" charset="0"/>
              </a:rPr>
              <a:t>Thus, each instruction begins with a machine cycle of opcodes.</a:t>
            </a:r>
          </a:p>
          <a:p>
            <a:pPr algn="l" fontAlgn="base">
              <a:buFont typeface="Arial" panose="020B0604020202020204" pitchFamily="34" charset="0"/>
              <a:buChar char="•"/>
            </a:pPr>
            <a:r>
              <a:rPr lang="en-GB" b="0" i="0" dirty="0">
                <a:solidFill>
                  <a:srgbClr val="273239"/>
                </a:solidFill>
                <a:effectLst/>
                <a:highlight>
                  <a:srgbClr val="FFFFFF"/>
                </a:highlight>
                <a:latin typeface="Nunito" pitchFamily="2" charset="0"/>
              </a:rPr>
              <a:t>The time the processor takes to perform an opcode load cycle is 4T.</a:t>
            </a:r>
          </a:p>
          <a:p>
            <a:pPr algn="l" fontAlgn="base">
              <a:buFont typeface="Arial" panose="020B0604020202020204" pitchFamily="34" charset="0"/>
              <a:buChar char="•"/>
            </a:pPr>
            <a:r>
              <a:rPr lang="en-GB" b="0" i="0" dirty="0">
                <a:solidFill>
                  <a:srgbClr val="273239"/>
                </a:solidFill>
                <a:effectLst/>
                <a:highlight>
                  <a:srgbClr val="FFFFFF"/>
                </a:highlight>
                <a:latin typeface="Nunito" pitchFamily="2" charset="0"/>
              </a:rPr>
              <a:t>At this time, the first, 3T-states are used to load the opcode from memory, and the remaining T-states are used for internal opcodes.</a:t>
            </a:r>
          </a:p>
          <a:p>
            <a:endParaRPr lang="en-IN" dirty="0"/>
          </a:p>
        </p:txBody>
      </p:sp>
    </p:spTree>
    <p:extLst>
      <p:ext uri="{BB962C8B-B14F-4D97-AF65-F5344CB8AC3E}">
        <p14:creationId xmlns:p14="http://schemas.microsoft.com/office/powerpoint/2010/main" val="16797584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4EEEABD-BDCE-B168-D456-D82DDBD96724}"/>
              </a:ext>
            </a:extLst>
          </p:cNvPr>
          <p:cNvPicPr>
            <a:picLocks noChangeAspect="1"/>
          </p:cNvPicPr>
          <p:nvPr/>
        </p:nvPicPr>
        <p:blipFill>
          <a:blip r:embed="rId2"/>
          <a:stretch>
            <a:fillRect/>
          </a:stretch>
        </p:blipFill>
        <p:spPr>
          <a:xfrm>
            <a:off x="164409" y="343165"/>
            <a:ext cx="6939973" cy="2477527"/>
          </a:xfrm>
          <a:prstGeom prst="rect">
            <a:avLst/>
          </a:prstGeom>
        </p:spPr>
      </p:pic>
      <p:pic>
        <p:nvPicPr>
          <p:cNvPr id="8" name="Picture 7">
            <a:extLst>
              <a:ext uri="{FF2B5EF4-FFF2-40B4-BE49-F238E27FC236}">
                <a16:creationId xmlns:a16="http://schemas.microsoft.com/office/drawing/2014/main" id="{A54050D9-51F3-E2E8-4AD2-B75CE8809733}"/>
              </a:ext>
            </a:extLst>
          </p:cNvPr>
          <p:cNvPicPr>
            <a:picLocks noChangeAspect="1"/>
          </p:cNvPicPr>
          <p:nvPr/>
        </p:nvPicPr>
        <p:blipFill>
          <a:blip r:embed="rId3"/>
          <a:stretch>
            <a:fillRect/>
          </a:stretch>
        </p:blipFill>
        <p:spPr>
          <a:xfrm>
            <a:off x="6571282" y="562294"/>
            <a:ext cx="5620718" cy="6206591"/>
          </a:xfrm>
          <a:prstGeom prst="rect">
            <a:avLst/>
          </a:prstGeom>
        </p:spPr>
      </p:pic>
    </p:spTree>
    <p:extLst>
      <p:ext uri="{BB962C8B-B14F-4D97-AF65-F5344CB8AC3E}">
        <p14:creationId xmlns:p14="http://schemas.microsoft.com/office/powerpoint/2010/main" val="10730075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06B6DF-95A6-FE71-2653-B467CBC790B1}"/>
              </a:ext>
            </a:extLst>
          </p:cNvPr>
          <p:cNvSpPr>
            <a:spLocks noGrp="1"/>
          </p:cNvSpPr>
          <p:nvPr>
            <p:ph type="title"/>
          </p:nvPr>
        </p:nvSpPr>
        <p:spPr/>
        <p:txBody>
          <a:bodyPr/>
          <a:lstStyle/>
          <a:p>
            <a:endParaRPr lang="en-IN" dirty="0"/>
          </a:p>
        </p:txBody>
      </p:sp>
      <p:sp>
        <p:nvSpPr>
          <p:cNvPr id="3" name="Content Placeholder 2">
            <a:extLst>
              <a:ext uri="{FF2B5EF4-FFF2-40B4-BE49-F238E27FC236}">
                <a16:creationId xmlns:a16="http://schemas.microsoft.com/office/drawing/2014/main" id="{4CD14576-9333-0DD4-56FF-E6F8A9A62F34}"/>
              </a:ext>
            </a:extLst>
          </p:cNvPr>
          <p:cNvSpPr>
            <a:spLocks noGrp="1"/>
          </p:cNvSpPr>
          <p:nvPr>
            <p:ph idx="1"/>
          </p:nvPr>
        </p:nvSpPr>
        <p:spPr/>
        <p:txBody>
          <a:bodyPr>
            <a:normAutofit fontScale="92500" lnSpcReduction="20000"/>
          </a:bodyPr>
          <a:lstStyle/>
          <a:p>
            <a:r>
              <a:rPr lang="en-GB" dirty="0"/>
              <a:t>The first machine cycle of every instruction is the Opcode Fetch. </a:t>
            </a:r>
          </a:p>
          <a:p>
            <a:r>
              <a:rPr lang="en-GB" dirty="0"/>
              <a:t>The length of this machine cycle varies between 4T to 6T states—it depends on the type of instruction. </a:t>
            </a:r>
          </a:p>
          <a:p>
            <a:r>
              <a:rPr lang="en-GB" dirty="0"/>
              <a:t>The processor places the contents of the PC on the address lines, identifies the nature of machine cycle æ (by IO/M, S0, S1) and activates the ALE signal. All these occur in T1 state. </a:t>
            </a:r>
          </a:p>
          <a:p>
            <a:r>
              <a:rPr lang="en-GB" dirty="0"/>
              <a:t>In T2 state, RD signal is activated so that the identified memory location is read from and places the content on the data bus (D0 – D7). </a:t>
            </a:r>
          </a:p>
          <a:p>
            <a:r>
              <a:rPr lang="en-GB" dirty="0"/>
              <a:t>In T3, data on the data bus is put into the instruction register (IR) and also raises </a:t>
            </a:r>
            <a:r>
              <a:rPr lang="en-GB" dirty="0" err="1"/>
              <a:t>ææ</a:t>
            </a:r>
            <a:r>
              <a:rPr lang="en-GB" dirty="0"/>
              <a:t> the RD signal thereby disabling the memory. </a:t>
            </a:r>
          </a:p>
          <a:p>
            <a:r>
              <a:rPr lang="en-GB" dirty="0"/>
              <a:t>In T4, the processor takes the decision, on the basis of decoding the IR, whether to enter into T5 and T6 or to enter T1 of the next machine cycle</a:t>
            </a:r>
            <a:endParaRPr lang="en-IN" dirty="0"/>
          </a:p>
        </p:txBody>
      </p:sp>
    </p:spTree>
    <p:extLst>
      <p:ext uri="{BB962C8B-B14F-4D97-AF65-F5344CB8AC3E}">
        <p14:creationId xmlns:p14="http://schemas.microsoft.com/office/powerpoint/2010/main" val="89767648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BADE86B-F432-ED0D-4822-4D7422192CDF}"/>
              </a:ext>
            </a:extLst>
          </p:cNvPr>
          <p:cNvSpPr>
            <a:spLocks noGrp="1"/>
          </p:cNvSpPr>
          <p:nvPr>
            <p:ph idx="1"/>
          </p:nvPr>
        </p:nvSpPr>
        <p:spPr>
          <a:xfrm>
            <a:off x="683217" y="681925"/>
            <a:ext cx="10515600" cy="4697319"/>
          </a:xfrm>
        </p:spPr>
        <p:txBody>
          <a:bodyPr/>
          <a:lstStyle/>
          <a:p>
            <a:r>
              <a:rPr lang="en-GB" dirty="0"/>
              <a:t>The lower byte of address (AD0 – AD7) is available on the multiplexed address/data bus during T1 state of each machine cycle, except during the bus idle machine cycle.</a:t>
            </a:r>
          </a:p>
          <a:p>
            <a:endParaRPr lang="en-GB" dirty="0"/>
          </a:p>
          <a:p>
            <a:endParaRPr lang="en-GB" dirty="0"/>
          </a:p>
          <a:p>
            <a:endParaRPr lang="en-GB" dirty="0"/>
          </a:p>
          <a:p>
            <a:endParaRPr lang="en-GB" dirty="0"/>
          </a:p>
          <a:p>
            <a:r>
              <a:rPr lang="en-GB" dirty="0"/>
              <a:t>The higher byte of address (A8 – A15) is available during T1 to T3 states of each machine cycle, except during the bus idle machine cycle</a:t>
            </a:r>
            <a:endParaRPr lang="en-IN" dirty="0"/>
          </a:p>
        </p:txBody>
      </p:sp>
      <p:pic>
        <p:nvPicPr>
          <p:cNvPr id="5" name="Picture 4">
            <a:extLst>
              <a:ext uri="{FF2B5EF4-FFF2-40B4-BE49-F238E27FC236}">
                <a16:creationId xmlns:a16="http://schemas.microsoft.com/office/drawing/2014/main" id="{CE50641C-1355-356C-1675-AA0945589EB9}"/>
              </a:ext>
            </a:extLst>
          </p:cNvPr>
          <p:cNvPicPr>
            <a:picLocks noChangeAspect="1"/>
          </p:cNvPicPr>
          <p:nvPr/>
        </p:nvPicPr>
        <p:blipFill>
          <a:blip r:embed="rId2"/>
          <a:stretch>
            <a:fillRect/>
          </a:stretch>
        </p:blipFill>
        <p:spPr>
          <a:xfrm>
            <a:off x="3323375" y="1998821"/>
            <a:ext cx="5235284" cy="1622363"/>
          </a:xfrm>
          <a:prstGeom prst="rect">
            <a:avLst/>
          </a:prstGeom>
        </p:spPr>
      </p:pic>
      <p:pic>
        <p:nvPicPr>
          <p:cNvPr id="9" name="Picture 8">
            <a:extLst>
              <a:ext uri="{FF2B5EF4-FFF2-40B4-BE49-F238E27FC236}">
                <a16:creationId xmlns:a16="http://schemas.microsoft.com/office/drawing/2014/main" id="{00548C72-E0C5-1D6E-561B-EF009B696578}"/>
              </a:ext>
            </a:extLst>
          </p:cNvPr>
          <p:cNvPicPr>
            <a:picLocks noChangeAspect="1"/>
          </p:cNvPicPr>
          <p:nvPr/>
        </p:nvPicPr>
        <p:blipFill>
          <a:blip r:embed="rId3"/>
          <a:stretch>
            <a:fillRect/>
          </a:stretch>
        </p:blipFill>
        <p:spPr>
          <a:xfrm>
            <a:off x="2788240" y="4938080"/>
            <a:ext cx="5500210" cy="1509632"/>
          </a:xfrm>
          <a:prstGeom prst="rect">
            <a:avLst/>
          </a:prstGeom>
        </p:spPr>
      </p:pic>
    </p:spTree>
    <p:extLst>
      <p:ext uri="{BB962C8B-B14F-4D97-AF65-F5344CB8AC3E}">
        <p14:creationId xmlns:p14="http://schemas.microsoft.com/office/powerpoint/2010/main" val="117804450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A37EE9-F557-A691-3D86-0B7DEADAA8AC}"/>
              </a:ext>
            </a:extLst>
          </p:cNvPr>
          <p:cNvSpPr>
            <a:spLocks noGrp="1"/>
          </p:cNvSpPr>
          <p:nvPr>
            <p:ph type="title"/>
          </p:nvPr>
        </p:nvSpPr>
        <p:spPr/>
        <p:txBody>
          <a:bodyPr/>
          <a:lstStyle/>
          <a:p>
            <a:r>
              <a:rPr lang="en-GB" dirty="0"/>
              <a:t>Memory R/W</a:t>
            </a:r>
            <a:endParaRPr lang="en-IN" dirty="0"/>
          </a:p>
        </p:txBody>
      </p:sp>
      <p:sp>
        <p:nvSpPr>
          <p:cNvPr id="3" name="Content Placeholder 2">
            <a:extLst>
              <a:ext uri="{FF2B5EF4-FFF2-40B4-BE49-F238E27FC236}">
                <a16:creationId xmlns:a16="http://schemas.microsoft.com/office/drawing/2014/main" id="{7A973E04-1F1A-D858-9E63-41161C7904D1}"/>
              </a:ext>
            </a:extLst>
          </p:cNvPr>
          <p:cNvSpPr>
            <a:spLocks noGrp="1"/>
          </p:cNvSpPr>
          <p:nvPr>
            <p:ph idx="1"/>
          </p:nvPr>
        </p:nvSpPr>
        <p:spPr/>
        <p:txBody>
          <a:bodyPr>
            <a:normAutofit fontScale="92500" lnSpcReduction="20000"/>
          </a:bodyPr>
          <a:lstStyle/>
          <a:p>
            <a:r>
              <a:rPr lang="en-GB" dirty="0"/>
              <a:t>Both the Memory Read and Memory Write machine cycles are 3T states in length. </a:t>
            </a:r>
          </a:p>
          <a:p>
            <a:r>
              <a:rPr lang="en-GB" dirty="0"/>
              <a:t>In Memory Read the contents of R/W memory (including stack also) or ROM are read while in Memory Write, it stores data into data memory (including stack memory).</a:t>
            </a:r>
          </a:p>
          <a:p>
            <a:r>
              <a:rPr lang="en-GB" dirty="0"/>
              <a:t>During T2 and T3 states data from either memory or CPU are made available in Memory Read or Memory Write machine cycles respectively.</a:t>
            </a:r>
          </a:p>
          <a:p>
            <a:r>
              <a:rPr lang="en-GB" dirty="0"/>
              <a:t> The status signal (IO/ M, S0, S1) states are complementary in nature in Memory Read and Memory Write cycles. </a:t>
            </a:r>
          </a:p>
          <a:p>
            <a:r>
              <a:rPr lang="en-GB" dirty="0"/>
              <a:t>Reading or writing operations are performed in T2.</a:t>
            </a:r>
          </a:p>
          <a:p>
            <a:r>
              <a:rPr lang="en-GB" dirty="0"/>
              <a:t>In T3 of Memory Read, data from data bus are placed into the specified register and raises RD so that memory is disabled while in T3 of Memory Write WR signal is raised which disables the memory. </a:t>
            </a:r>
            <a:endParaRPr lang="en-IN" dirty="0"/>
          </a:p>
        </p:txBody>
      </p:sp>
    </p:spTree>
    <p:extLst>
      <p:ext uri="{BB962C8B-B14F-4D97-AF65-F5344CB8AC3E}">
        <p14:creationId xmlns:p14="http://schemas.microsoft.com/office/powerpoint/2010/main" val="426234126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3AD2A174-306C-4E9D-DB0D-2B83F1DC8C9C}"/>
              </a:ext>
            </a:extLst>
          </p:cNvPr>
          <p:cNvPicPr>
            <a:picLocks noGrp="1" noChangeAspect="1"/>
          </p:cNvPicPr>
          <p:nvPr>
            <p:ph idx="1"/>
          </p:nvPr>
        </p:nvPicPr>
        <p:blipFill>
          <a:blip r:embed="rId2"/>
          <a:stretch>
            <a:fillRect/>
          </a:stretch>
        </p:blipFill>
        <p:spPr>
          <a:xfrm>
            <a:off x="1777343" y="643466"/>
            <a:ext cx="8637313" cy="5571067"/>
          </a:xfrm>
          <a:prstGeom prst="rect">
            <a:avLst/>
          </a:prstGeom>
        </p:spPr>
      </p:pic>
    </p:spTree>
    <p:extLst>
      <p:ext uri="{BB962C8B-B14F-4D97-AF65-F5344CB8AC3E}">
        <p14:creationId xmlns:p14="http://schemas.microsoft.com/office/powerpoint/2010/main" val="165525072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967753-B0E7-3A79-6E93-4D7126FDAB86}"/>
              </a:ext>
            </a:extLst>
          </p:cNvPr>
          <p:cNvSpPr>
            <a:spLocks noGrp="1"/>
          </p:cNvSpPr>
          <p:nvPr>
            <p:ph type="title"/>
          </p:nvPr>
        </p:nvSpPr>
        <p:spPr/>
        <p:txBody>
          <a:bodyPr/>
          <a:lstStyle/>
          <a:p>
            <a:r>
              <a:rPr lang="en-GB" dirty="0"/>
              <a:t>I/O R &amp; W</a:t>
            </a:r>
            <a:endParaRPr lang="en-IN" dirty="0"/>
          </a:p>
        </p:txBody>
      </p:sp>
      <p:sp>
        <p:nvSpPr>
          <p:cNvPr id="3" name="Content Placeholder 2">
            <a:extLst>
              <a:ext uri="{FF2B5EF4-FFF2-40B4-BE49-F238E27FC236}">
                <a16:creationId xmlns:a16="http://schemas.microsoft.com/office/drawing/2014/main" id="{327EA714-674F-C909-7ACF-CF744C14B8B3}"/>
              </a:ext>
            </a:extLst>
          </p:cNvPr>
          <p:cNvSpPr>
            <a:spLocks noGrp="1"/>
          </p:cNvSpPr>
          <p:nvPr>
            <p:ph idx="1"/>
          </p:nvPr>
        </p:nvSpPr>
        <p:spPr/>
        <p:txBody>
          <a:bodyPr/>
          <a:lstStyle/>
          <a:p>
            <a:r>
              <a:rPr lang="en-GB" dirty="0"/>
              <a:t>I/O Read and Write machine cycles are almost similar to Memory Read and Write machine cycles respectively. </a:t>
            </a:r>
          </a:p>
          <a:p>
            <a:r>
              <a:rPr lang="en-GB" dirty="0"/>
              <a:t>The difference is in the IO/ M signal status which remains 1 indicating that these machine cycles are related to I/O operations. </a:t>
            </a:r>
          </a:p>
          <a:p>
            <a:r>
              <a:rPr lang="en-GB" dirty="0"/>
              <a:t>These machine cycles take 3T states.</a:t>
            </a:r>
          </a:p>
          <a:p>
            <a:r>
              <a:rPr lang="en-GB" dirty="0"/>
              <a:t>In I/O read, data are available in T2 and T3 states, while during the same time (T2 and T3) data from CPU are made available in I/O write. </a:t>
            </a:r>
            <a:endParaRPr lang="en-IN" dirty="0"/>
          </a:p>
        </p:txBody>
      </p:sp>
    </p:spTree>
    <p:extLst>
      <p:ext uri="{BB962C8B-B14F-4D97-AF65-F5344CB8AC3E}">
        <p14:creationId xmlns:p14="http://schemas.microsoft.com/office/powerpoint/2010/main" val="106057279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F8BC06EB-4E25-CCB4-2474-F42ECC25DC19}"/>
              </a:ext>
            </a:extLst>
          </p:cNvPr>
          <p:cNvPicPr>
            <a:picLocks noGrp="1" noChangeAspect="1"/>
          </p:cNvPicPr>
          <p:nvPr>
            <p:ph idx="1"/>
          </p:nvPr>
        </p:nvPicPr>
        <p:blipFill>
          <a:blip r:embed="rId2"/>
          <a:stretch>
            <a:fillRect/>
          </a:stretch>
        </p:blipFill>
        <p:spPr>
          <a:xfrm>
            <a:off x="643467" y="702733"/>
            <a:ext cx="10905066" cy="5452533"/>
          </a:xfrm>
          <a:prstGeom prst="rect">
            <a:avLst/>
          </a:prstGeom>
        </p:spPr>
      </p:pic>
    </p:spTree>
    <p:extLst>
      <p:ext uri="{BB962C8B-B14F-4D97-AF65-F5344CB8AC3E}">
        <p14:creationId xmlns:p14="http://schemas.microsoft.com/office/powerpoint/2010/main" val="297365670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6853763-BB0F-99DC-4585-87F6ABE15590}"/>
              </a:ext>
            </a:extLst>
          </p:cNvPr>
          <p:cNvSpPr>
            <a:spLocks noGrp="1"/>
          </p:cNvSpPr>
          <p:nvPr>
            <p:ph type="title"/>
          </p:nvPr>
        </p:nvSpPr>
        <p:spPr>
          <a:xfrm>
            <a:off x="572493" y="238539"/>
            <a:ext cx="11018520" cy="1434415"/>
          </a:xfrm>
        </p:spPr>
        <p:txBody>
          <a:bodyPr anchor="b">
            <a:normAutofit/>
          </a:bodyPr>
          <a:lstStyle/>
          <a:p>
            <a:r>
              <a:rPr lang="en-GB" sz="5400" dirty="0"/>
              <a:t>Timing Diagram of MOV A,B</a:t>
            </a:r>
            <a:endParaRPr lang="en-IN" sz="5400" dirty="0"/>
          </a:p>
        </p:txBody>
      </p:sp>
      <p:sp>
        <p:nvSpPr>
          <p:cNvPr id="12"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onnsiteX0" fmla="*/ 0 w 10972800"/>
              <a:gd name="connsiteY0" fmla="*/ 0 h 18288"/>
              <a:gd name="connsiteX1" fmla="*/ 356616 w 10972800"/>
              <a:gd name="connsiteY1" fmla="*/ 0 h 18288"/>
              <a:gd name="connsiteX2" fmla="*/ 1042416 w 10972800"/>
              <a:gd name="connsiteY2" fmla="*/ 0 h 18288"/>
              <a:gd name="connsiteX3" fmla="*/ 1947672 w 10972800"/>
              <a:gd name="connsiteY3" fmla="*/ 0 h 18288"/>
              <a:gd name="connsiteX4" fmla="*/ 2633472 w 10972800"/>
              <a:gd name="connsiteY4" fmla="*/ 0 h 18288"/>
              <a:gd name="connsiteX5" fmla="*/ 2990088 w 10972800"/>
              <a:gd name="connsiteY5" fmla="*/ 0 h 18288"/>
              <a:gd name="connsiteX6" fmla="*/ 3456432 w 10972800"/>
              <a:gd name="connsiteY6" fmla="*/ 0 h 18288"/>
              <a:gd name="connsiteX7" fmla="*/ 4361688 w 10972800"/>
              <a:gd name="connsiteY7" fmla="*/ 0 h 18288"/>
              <a:gd name="connsiteX8" fmla="*/ 5266944 w 10972800"/>
              <a:gd name="connsiteY8" fmla="*/ 0 h 18288"/>
              <a:gd name="connsiteX9" fmla="*/ 6172200 w 10972800"/>
              <a:gd name="connsiteY9" fmla="*/ 0 h 18288"/>
              <a:gd name="connsiteX10" fmla="*/ 6528816 w 10972800"/>
              <a:gd name="connsiteY10" fmla="*/ 0 h 18288"/>
              <a:gd name="connsiteX11" fmla="*/ 7214616 w 10972800"/>
              <a:gd name="connsiteY11" fmla="*/ 0 h 18288"/>
              <a:gd name="connsiteX12" fmla="*/ 7790688 w 10972800"/>
              <a:gd name="connsiteY12" fmla="*/ 0 h 18288"/>
              <a:gd name="connsiteX13" fmla="*/ 8147304 w 10972800"/>
              <a:gd name="connsiteY13" fmla="*/ 0 h 18288"/>
              <a:gd name="connsiteX14" fmla="*/ 9052560 w 10972800"/>
              <a:gd name="connsiteY14" fmla="*/ 0 h 18288"/>
              <a:gd name="connsiteX15" fmla="*/ 9409176 w 10972800"/>
              <a:gd name="connsiteY15" fmla="*/ 0 h 18288"/>
              <a:gd name="connsiteX16" fmla="*/ 9765792 w 10972800"/>
              <a:gd name="connsiteY16" fmla="*/ 0 h 18288"/>
              <a:gd name="connsiteX17" fmla="*/ 10341864 w 10972800"/>
              <a:gd name="connsiteY17" fmla="*/ 0 h 18288"/>
              <a:gd name="connsiteX18" fmla="*/ 10972800 w 10972800"/>
              <a:gd name="connsiteY18" fmla="*/ 0 h 18288"/>
              <a:gd name="connsiteX19" fmla="*/ 10972800 w 10972800"/>
              <a:gd name="connsiteY19" fmla="*/ 18288 h 18288"/>
              <a:gd name="connsiteX20" fmla="*/ 10177272 w 10972800"/>
              <a:gd name="connsiteY20" fmla="*/ 18288 h 18288"/>
              <a:gd name="connsiteX21" fmla="*/ 9820656 w 10972800"/>
              <a:gd name="connsiteY21" fmla="*/ 18288 h 18288"/>
              <a:gd name="connsiteX22" fmla="*/ 9464040 w 10972800"/>
              <a:gd name="connsiteY22" fmla="*/ 18288 h 18288"/>
              <a:gd name="connsiteX23" fmla="*/ 8778240 w 10972800"/>
              <a:gd name="connsiteY23" fmla="*/ 18288 h 18288"/>
              <a:gd name="connsiteX24" fmla="*/ 8421624 w 10972800"/>
              <a:gd name="connsiteY24" fmla="*/ 18288 h 18288"/>
              <a:gd name="connsiteX25" fmla="*/ 7735824 w 10972800"/>
              <a:gd name="connsiteY25" fmla="*/ 18288 h 18288"/>
              <a:gd name="connsiteX26" fmla="*/ 6940296 w 10972800"/>
              <a:gd name="connsiteY26" fmla="*/ 18288 h 18288"/>
              <a:gd name="connsiteX27" fmla="*/ 6254496 w 10972800"/>
              <a:gd name="connsiteY27" fmla="*/ 18288 h 18288"/>
              <a:gd name="connsiteX28" fmla="*/ 5458968 w 10972800"/>
              <a:gd name="connsiteY28" fmla="*/ 18288 h 18288"/>
              <a:gd name="connsiteX29" fmla="*/ 4663440 w 10972800"/>
              <a:gd name="connsiteY29" fmla="*/ 18288 h 18288"/>
              <a:gd name="connsiteX30" fmla="*/ 4306824 w 10972800"/>
              <a:gd name="connsiteY30" fmla="*/ 18288 h 18288"/>
              <a:gd name="connsiteX31" fmla="*/ 3840480 w 10972800"/>
              <a:gd name="connsiteY31" fmla="*/ 18288 h 18288"/>
              <a:gd name="connsiteX32" fmla="*/ 3264408 w 10972800"/>
              <a:gd name="connsiteY32" fmla="*/ 18288 h 18288"/>
              <a:gd name="connsiteX33" fmla="*/ 2578608 w 10972800"/>
              <a:gd name="connsiteY33" fmla="*/ 18288 h 18288"/>
              <a:gd name="connsiteX34" fmla="*/ 1673352 w 10972800"/>
              <a:gd name="connsiteY34" fmla="*/ 18288 h 18288"/>
              <a:gd name="connsiteX35" fmla="*/ 877824 w 10972800"/>
              <a:gd name="connsiteY35" fmla="*/ 18288 h 18288"/>
              <a:gd name="connsiteX36" fmla="*/ 0 w 10972800"/>
              <a:gd name="connsiteY36" fmla="*/ 18288 h 18288"/>
              <a:gd name="connsiteX37" fmla="*/ 0 w 10972800"/>
              <a:gd name="connsiteY37"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C3ABBCB5-C387-BE29-AF50-E2B1113C81D3}"/>
              </a:ext>
            </a:extLst>
          </p:cNvPr>
          <p:cNvSpPr>
            <a:spLocks noGrp="1"/>
          </p:cNvSpPr>
          <p:nvPr>
            <p:ph idx="1"/>
          </p:nvPr>
        </p:nvSpPr>
        <p:spPr>
          <a:xfrm>
            <a:off x="139485" y="2071315"/>
            <a:ext cx="7146560" cy="4548145"/>
          </a:xfrm>
        </p:spPr>
        <p:txBody>
          <a:bodyPr anchor="t">
            <a:normAutofit fontScale="92500" lnSpcReduction="10000"/>
          </a:bodyPr>
          <a:lstStyle/>
          <a:p>
            <a:r>
              <a:rPr lang="en-GB" sz="1800" dirty="0"/>
              <a:t>Since the program counter sequences the execution of instructions, it is assumed that the PC holds the address 4080H AND </a:t>
            </a:r>
            <a:r>
              <a:rPr lang="en-GB" sz="1800" dirty="0" err="1"/>
              <a:t>accumumlator</a:t>
            </a:r>
            <a:r>
              <a:rPr lang="en-GB" sz="1800" dirty="0"/>
              <a:t> having the content FFH. </a:t>
            </a:r>
          </a:p>
          <a:p>
            <a:r>
              <a:rPr lang="en-GB" sz="1800" dirty="0"/>
              <a:t>While the system executes the instruction, the following takes place one after another. </a:t>
            </a:r>
          </a:p>
          <a:p>
            <a:pPr marL="457200" lvl="1" indent="0">
              <a:buNone/>
            </a:pPr>
            <a:r>
              <a:rPr lang="en-GB" sz="1800" dirty="0"/>
              <a:t>1. The CPU places the address 4080H (residing in PC) on the address bus—40H on the high order bus A15 – A8 and 80H on the low order bus AD7 – AD0. </a:t>
            </a:r>
          </a:p>
          <a:p>
            <a:pPr marL="457200" lvl="1" indent="0">
              <a:buNone/>
            </a:pPr>
            <a:r>
              <a:rPr lang="en-GB" sz="1800" dirty="0"/>
              <a:t>2. The CPU raises the ALE signal to go high— the H to L transition of ALE at the end of the first T state demultiplexes the low order bus. </a:t>
            </a:r>
          </a:p>
          <a:p>
            <a:pPr marL="457200" lvl="1" indent="0">
              <a:buNone/>
            </a:pPr>
            <a:r>
              <a:rPr lang="en-GB" sz="1800" dirty="0"/>
              <a:t>3. The CPU identifies the nature of the machine cycle by means of the three status signals IO/ M, S0 and S1. IO/ = 0, S1 = 1, S0 = 1 </a:t>
            </a:r>
          </a:p>
          <a:p>
            <a:pPr marL="457200" lvl="1" indent="0">
              <a:buNone/>
            </a:pPr>
            <a:r>
              <a:rPr lang="en-GB" sz="1800" dirty="0"/>
              <a:t>4. In T2, memory is enabled by the signal. The content of PC i.e., 47H is placed on the data bus. PC is incremented to 4081H. </a:t>
            </a:r>
          </a:p>
          <a:p>
            <a:pPr marL="457200" lvl="1" indent="0">
              <a:buNone/>
            </a:pPr>
            <a:r>
              <a:rPr lang="en-GB" sz="1800" dirty="0"/>
              <a:t>5. In T3, CPU reads 47H and places it in the instruction register. </a:t>
            </a:r>
          </a:p>
          <a:p>
            <a:pPr marL="457200" lvl="1" indent="0">
              <a:buNone/>
            </a:pPr>
            <a:r>
              <a:rPr lang="en-GB" sz="1800" dirty="0"/>
              <a:t>6. In T4, CPU decodes the instruction, places FFH (accumulator content) in the temporary register and then transfers it to register B. It consists of 4T states</a:t>
            </a:r>
            <a:endParaRPr lang="en-IN" sz="1800" dirty="0"/>
          </a:p>
        </p:txBody>
      </p:sp>
      <p:pic>
        <p:nvPicPr>
          <p:cNvPr id="5" name="Picture 4">
            <a:extLst>
              <a:ext uri="{FF2B5EF4-FFF2-40B4-BE49-F238E27FC236}">
                <a16:creationId xmlns:a16="http://schemas.microsoft.com/office/drawing/2014/main" id="{9F6BE297-AF1B-2DC0-6A5A-486FF26EBF1F}"/>
              </a:ext>
            </a:extLst>
          </p:cNvPr>
          <p:cNvPicPr>
            <a:picLocks noChangeAspect="1"/>
          </p:cNvPicPr>
          <p:nvPr/>
        </p:nvPicPr>
        <p:blipFill rotWithShape="1">
          <a:blip r:embed="rId3"/>
          <a:srcRect t="1740" r="-2" b="-2"/>
          <a:stretch/>
        </p:blipFill>
        <p:spPr>
          <a:xfrm>
            <a:off x="7675658" y="2093976"/>
            <a:ext cx="3941064" cy="4096512"/>
          </a:xfrm>
          <a:prstGeom prst="rect">
            <a:avLst/>
          </a:prstGeom>
        </p:spPr>
      </p:pic>
    </p:spTree>
    <p:extLst>
      <p:ext uri="{BB962C8B-B14F-4D97-AF65-F5344CB8AC3E}">
        <p14:creationId xmlns:p14="http://schemas.microsoft.com/office/powerpoint/2010/main" val="122094080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5199994-21AE-49A2-BA0D-12E295989A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 name="Title 1">
            <a:extLst>
              <a:ext uri="{FF2B5EF4-FFF2-40B4-BE49-F238E27FC236}">
                <a16:creationId xmlns:a16="http://schemas.microsoft.com/office/drawing/2014/main" id="{82CA83F1-775D-5B3F-0F23-68E584C53409}"/>
              </a:ext>
            </a:extLst>
          </p:cNvPr>
          <p:cNvSpPr>
            <a:spLocks noGrp="1"/>
          </p:cNvSpPr>
          <p:nvPr>
            <p:ph type="title"/>
          </p:nvPr>
        </p:nvSpPr>
        <p:spPr>
          <a:xfrm>
            <a:off x="6769570" y="530578"/>
            <a:ext cx="4771178" cy="1160110"/>
          </a:xfrm>
        </p:spPr>
        <p:txBody>
          <a:bodyPr>
            <a:normAutofit fontScale="90000"/>
          </a:bodyPr>
          <a:lstStyle/>
          <a:p>
            <a:r>
              <a:rPr lang="en-GB" b="1" i="0" dirty="0">
                <a:solidFill>
                  <a:srgbClr val="273239"/>
                </a:solidFill>
                <a:effectLst/>
                <a:highlight>
                  <a:srgbClr val="FFFFFF"/>
                </a:highlight>
                <a:latin typeface="Nunito" pitchFamily="2" charset="0"/>
              </a:rPr>
              <a:t>Timing Diagram of MVI A,45H</a:t>
            </a:r>
            <a:br>
              <a:rPr lang="en-GB" b="1" i="0" dirty="0">
                <a:solidFill>
                  <a:srgbClr val="273239"/>
                </a:solidFill>
                <a:effectLst/>
                <a:highlight>
                  <a:srgbClr val="FFFFFF"/>
                </a:highlight>
                <a:latin typeface="Nunito" pitchFamily="2" charset="0"/>
              </a:rPr>
            </a:br>
            <a:endParaRPr lang="en-IN" dirty="0"/>
          </a:p>
        </p:txBody>
      </p:sp>
      <p:pic>
        <p:nvPicPr>
          <p:cNvPr id="5" name="Picture 4">
            <a:extLst>
              <a:ext uri="{FF2B5EF4-FFF2-40B4-BE49-F238E27FC236}">
                <a16:creationId xmlns:a16="http://schemas.microsoft.com/office/drawing/2014/main" id="{FB284D76-671F-40AA-D53A-883DDF14538E}"/>
              </a:ext>
            </a:extLst>
          </p:cNvPr>
          <p:cNvPicPr>
            <a:picLocks noChangeAspect="1"/>
          </p:cNvPicPr>
          <p:nvPr/>
        </p:nvPicPr>
        <p:blipFill>
          <a:blip r:embed="rId2"/>
          <a:stretch>
            <a:fillRect/>
          </a:stretch>
        </p:blipFill>
        <p:spPr>
          <a:xfrm>
            <a:off x="518327" y="3210598"/>
            <a:ext cx="5440195" cy="2502490"/>
          </a:xfrm>
          <a:custGeom>
            <a:avLst/>
            <a:gdLst/>
            <a:ahLst/>
            <a:cxnLst/>
            <a:rect l="l" t="t" r="r" b="b"/>
            <a:pathLst>
              <a:path w="4643496" h="5550370">
                <a:moveTo>
                  <a:pt x="81586" y="0"/>
                </a:moveTo>
                <a:lnTo>
                  <a:pt x="4561910" y="0"/>
                </a:lnTo>
                <a:cubicBezTo>
                  <a:pt x="4606969" y="0"/>
                  <a:pt x="4643496" y="36527"/>
                  <a:pt x="4643496" y="81586"/>
                </a:cubicBezTo>
                <a:lnTo>
                  <a:pt x="4643496" y="5468784"/>
                </a:lnTo>
                <a:cubicBezTo>
                  <a:pt x="4643496" y="5513843"/>
                  <a:pt x="4606969" y="5550370"/>
                  <a:pt x="4561910" y="5550370"/>
                </a:cubicBezTo>
                <a:lnTo>
                  <a:pt x="81586" y="5550370"/>
                </a:lnTo>
                <a:cubicBezTo>
                  <a:pt x="36527" y="5550370"/>
                  <a:pt x="0" y="5513843"/>
                  <a:pt x="0" y="5468784"/>
                </a:cubicBezTo>
                <a:lnTo>
                  <a:pt x="0" y="81586"/>
                </a:lnTo>
                <a:cubicBezTo>
                  <a:pt x="0" y="36527"/>
                  <a:pt x="36527" y="0"/>
                  <a:pt x="81586" y="0"/>
                </a:cubicBezTo>
                <a:close/>
              </a:path>
            </a:pathLst>
          </a:custGeom>
        </p:spPr>
      </p:pic>
      <p:sp>
        <p:nvSpPr>
          <p:cNvPr id="12" name="Arc 11">
            <a:extLst>
              <a:ext uri="{FF2B5EF4-FFF2-40B4-BE49-F238E27FC236}">
                <a16:creationId xmlns:a16="http://schemas.microsoft.com/office/drawing/2014/main" id="{A2C34835-4F79-4934-B151-D68E79764C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269068">
            <a:off x="8717845" y="3339275"/>
            <a:ext cx="2987899" cy="2987899"/>
          </a:xfrm>
          <a:prstGeom prst="arc">
            <a:avLst>
              <a:gd name="adj1" fmla="val 14441841"/>
              <a:gd name="adj2" fmla="val 0"/>
            </a:avLst>
          </a:prstGeom>
          <a:ln w="127000" cap="rnd">
            <a:solidFill>
              <a:schemeClr val="accent4">
                <a:alpha val="95000"/>
              </a:schemeClr>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19A5D8C6-B952-7906-25CF-CC49429525F7}"/>
              </a:ext>
            </a:extLst>
          </p:cNvPr>
          <p:cNvSpPr>
            <a:spLocks noGrp="1"/>
          </p:cNvSpPr>
          <p:nvPr>
            <p:ph idx="1"/>
          </p:nvPr>
        </p:nvSpPr>
        <p:spPr>
          <a:xfrm>
            <a:off x="6769570" y="1825625"/>
            <a:ext cx="4771178" cy="4388908"/>
          </a:xfrm>
        </p:spPr>
        <p:txBody>
          <a:bodyPr>
            <a:normAutofit/>
          </a:bodyPr>
          <a:lstStyle/>
          <a:p>
            <a:pPr algn="l" fontAlgn="base">
              <a:buFont typeface="Arial" panose="020B0604020202020204" pitchFamily="34" charset="0"/>
              <a:buChar char="•"/>
            </a:pPr>
            <a:r>
              <a:rPr lang="en-GB" b="0" i="0" dirty="0">
                <a:solidFill>
                  <a:srgbClr val="273239"/>
                </a:solidFill>
                <a:effectLst/>
                <a:highlight>
                  <a:srgbClr val="FFFFFF"/>
                </a:highlight>
                <a:latin typeface="Nunito" pitchFamily="2" charset="0"/>
              </a:rPr>
              <a:t>Loading opcode 4EH from memory 2000H. (Operation Code Loading Machine Cycle)</a:t>
            </a:r>
          </a:p>
          <a:p>
            <a:pPr algn="l" fontAlgn="base">
              <a:buFont typeface="Arial" panose="020B0604020202020204" pitchFamily="34" charset="0"/>
              <a:buChar char="•"/>
            </a:pPr>
            <a:r>
              <a:rPr lang="en-GB" b="0" i="0" dirty="0">
                <a:solidFill>
                  <a:srgbClr val="273239"/>
                </a:solidFill>
                <a:effectLst/>
                <a:highlight>
                  <a:srgbClr val="FFFFFF"/>
                </a:highlight>
                <a:latin typeface="Nunito" pitchFamily="2" charset="0"/>
              </a:rPr>
              <a:t>Read (move) data 45H from memory 2001H. (memory reading).</a:t>
            </a:r>
          </a:p>
          <a:p>
            <a:endParaRPr lang="en-IN" dirty="0"/>
          </a:p>
        </p:txBody>
      </p:sp>
      <p:pic>
        <p:nvPicPr>
          <p:cNvPr id="7" name="Picture 6">
            <a:extLst>
              <a:ext uri="{FF2B5EF4-FFF2-40B4-BE49-F238E27FC236}">
                <a16:creationId xmlns:a16="http://schemas.microsoft.com/office/drawing/2014/main" id="{C5F4E89C-D41E-23C6-6E11-5280CE1DF6EC}"/>
              </a:ext>
            </a:extLst>
          </p:cNvPr>
          <p:cNvPicPr>
            <a:picLocks noChangeAspect="1"/>
          </p:cNvPicPr>
          <p:nvPr/>
        </p:nvPicPr>
        <p:blipFill>
          <a:blip r:embed="rId3"/>
          <a:stretch>
            <a:fillRect/>
          </a:stretch>
        </p:blipFill>
        <p:spPr>
          <a:xfrm>
            <a:off x="651252" y="895350"/>
            <a:ext cx="5124450" cy="1995334"/>
          </a:xfrm>
          <a:prstGeom prst="rect">
            <a:avLst/>
          </a:prstGeom>
        </p:spPr>
      </p:pic>
    </p:spTree>
    <p:extLst>
      <p:ext uri="{BB962C8B-B14F-4D97-AF65-F5344CB8AC3E}">
        <p14:creationId xmlns:p14="http://schemas.microsoft.com/office/powerpoint/2010/main" val="113900718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5199994-21AE-49A2-BA0D-12E295989A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 name="Title 1">
            <a:extLst>
              <a:ext uri="{FF2B5EF4-FFF2-40B4-BE49-F238E27FC236}">
                <a16:creationId xmlns:a16="http://schemas.microsoft.com/office/drawing/2014/main" id="{CBEBDBCF-4091-9D6D-47F4-6B8A168C8747}"/>
              </a:ext>
            </a:extLst>
          </p:cNvPr>
          <p:cNvSpPr>
            <a:spLocks noGrp="1"/>
          </p:cNvSpPr>
          <p:nvPr>
            <p:ph type="title"/>
          </p:nvPr>
        </p:nvSpPr>
        <p:spPr>
          <a:xfrm>
            <a:off x="6769570" y="530578"/>
            <a:ext cx="4771178" cy="1160110"/>
          </a:xfrm>
        </p:spPr>
        <p:txBody>
          <a:bodyPr>
            <a:normAutofit/>
          </a:bodyPr>
          <a:lstStyle/>
          <a:p>
            <a:r>
              <a:rPr lang="en-IN" sz="2400" b="1" i="0">
                <a:effectLst/>
                <a:highlight>
                  <a:srgbClr val="FFFFFF"/>
                </a:highlight>
                <a:latin typeface="Nunito" pitchFamily="2" charset="0"/>
              </a:rPr>
              <a:t>Timing Diagram of STA 8000H</a:t>
            </a:r>
            <a:br>
              <a:rPr lang="en-IN" sz="2400" b="1" i="0">
                <a:effectLst/>
                <a:highlight>
                  <a:srgbClr val="FFFFFF"/>
                </a:highlight>
                <a:latin typeface="Nunito" pitchFamily="2" charset="0"/>
              </a:rPr>
            </a:br>
            <a:endParaRPr lang="en-IN" sz="2400"/>
          </a:p>
        </p:txBody>
      </p:sp>
      <p:pic>
        <p:nvPicPr>
          <p:cNvPr id="5" name="Picture 4">
            <a:extLst>
              <a:ext uri="{FF2B5EF4-FFF2-40B4-BE49-F238E27FC236}">
                <a16:creationId xmlns:a16="http://schemas.microsoft.com/office/drawing/2014/main" id="{4BA79173-3306-C68C-29CC-9FC248301430}"/>
              </a:ext>
            </a:extLst>
          </p:cNvPr>
          <p:cNvPicPr>
            <a:picLocks noChangeAspect="1"/>
          </p:cNvPicPr>
          <p:nvPr/>
        </p:nvPicPr>
        <p:blipFill>
          <a:blip r:embed="rId2"/>
          <a:stretch>
            <a:fillRect/>
          </a:stretch>
        </p:blipFill>
        <p:spPr>
          <a:xfrm>
            <a:off x="274501" y="2239317"/>
            <a:ext cx="6220569" cy="2379366"/>
          </a:xfrm>
          <a:custGeom>
            <a:avLst/>
            <a:gdLst/>
            <a:ahLst/>
            <a:cxnLst/>
            <a:rect l="l" t="t" r="r" b="b"/>
            <a:pathLst>
              <a:path w="4643496" h="5550370">
                <a:moveTo>
                  <a:pt x="81586" y="0"/>
                </a:moveTo>
                <a:lnTo>
                  <a:pt x="4561910" y="0"/>
                </a:lnTo>
                <a:cubicBezTo>
                  <a:pt x="4606969" y="0"/>
                  <a:pt x="4643496" y="36527"/>
                  <a:pt x="4643496" y="81586"/>
                </a:cubicBezTo>
                <a:lnTo>
                  <a:pt x="4643496" y="5468784"/>
                </a:lnTo>
                <a:cubicBezTo>
                  <a:pt x="4643496" y="5513843"/>
                  <a:pt x="4606969" y="5550370"/>
                  <a:pt x="4561910" y="5550370"/>
                </a:cubicBezTo>
                <a:lnTo>
                  <a:pt x="81586" y="5550370"/>
                </a:lnTo>
                <a:cubicBezTo>
                  <a:pt x="36527" y="5550370"/>
                  <a:pt x="0" y="5513843"/>
                  <a:pt x="0" y="5468784"/>
                </a:cubicBezTo>
                <a:lnTo>
                  <a:pt x="0" y="81586"/>
                </a:lnTo>
                <a:cubicBezTo>
                  <a:pt x="0" y="36527"/>
                  <a:pt x="36527" y="0"/>
                  <a:pt x="81586" y="0"/>
                </a:cubicBezTo>
                <a:close/>
              </a:path>
            </a:pathLst>
          </a:custGeom>
        </p:spPr>
      </p:pic>
      <p:sp>
        <p:nvSpPr>
          <p:cNvPr id="12" name="Arc 11">
            <a:extLst>
              <a:ext uri="{FF2B5EF4-FFF2-40B4-BE49-F238E27FC236}">
                <a16:creationId xmlns:a16="http://schemas.microsoft.com/office/drawing/2014/main" id="{A2C34835-4F79-4934-B151-D68E79764C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269068">
            <a:off x="8717845" y="3339275"/>
            <a:ext cx="2987899" cy="2987899"/>
          </a:xfrm>
          <a:prstGeom prst="arc">
            <a:avLst>
              <a:gd name="adj1" fmla="val 14441841"/>
              <a:gd name="adj2" fmla="val 0"/>
            </a:avLst>
          </a:prstGeom>
          <a:ln w="127000" cap="rnd">
            <a:solidFill>
              <a:schemeClr val="accent4">
                <a:alpha val="95000"/>
              </a:schemeClr>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077F1C7D-9611-CBB0-9006-ACBBE3B596ED}"/>
              </a:ext>
            </a:extLst>
          </p:cNvPr>
          <p:cNvSpPr>
            <a:spLocks noGrp="1"/>
          </p:cNvSpPr>
          <p:nvPr>
            <p:ph idx="1"/>
          </p:nvPr>
        </p:nvSpPr>
        <p:spPr>
          <a:xfrm>
            <a:off x="6769570" y="1825624"/>
            <a:ext cx="5024640" cy="4501797"/>
          </a:xfrm>
        </p:spPr>
        <p:txBody>
          <a:bodyPr>
            <a:normAutofit fontScale="92500" lnSpcReduction="20000"/>
          </a:bodyPr>
          <a:lstStyle/>
          <a:p>
            <a:pPr fontAlgn="base">
              <a:buFont typeface="Arial" panose="020B0604020202020204" pitchFamily="34" charset="0"/>
              <a:buChar char="•"/>
            </a:pPr>
            <a:r>
              <a:rPr lang="en-GB" sz="1800" b="0" i="0" dirty="0">
                <a:effectLst/>
                <a:highlight>
                  <a:srgbClr val="FFFFFF"/>
                </a:highlight>
                <a:latin typeface="Nunito" pitchFamily="2" charset="0"/>
              </a:rPr>
              <a:t>STA stands for Store Accumulator – the contents of the accumulator are stored at (1000H).</a:t>
            </a:r>
          </a:p>
          <a:p>
            <a:pPr fontAlgn="base">
              <a:buFont typeface="Arial" panose="020B0604020202020204" pitchFamily="34" charset="0"/>
              <a:buChar char="•"/>
            </a:pPr>
            <a:r>
              <a:rPr lang="en-GB" sz="1800" b="0" i="0" dirty="0">
                <a:effectLst/>
                <a:highlight>
                  <a:srgbClr val="FFFFFF"/>
                </a:highlight>
                <a:latin typeface="Nunito" pitchFamily="2" charset="0"/>
              </a:rPr>
              <a:t>The transaction code of STA indicates 32H.</a:t>
            </a:r>
          </a:p>
          <a:p>
            <a:pPr fontAlgn="base">
              <a:buFont typeface="Arial" panose="020B0604020202020204" pitchFamily="34" charset="0"/>
              <a:buChar char="•"/>
            </a:pPr>
            <a:r>
              <a:rPr lang="en-GB" sz="1800" b="0" i="0" dirty="0">
                <a:effectLst/>
                <a:highlight>
                  <a:srgbClr val="FFFFFF"/>
                </a:highlight>
                <a:latin typeface="Nunito" pitchFamily="2" charset="0"/>
              </a:rPr>
              <a:t> It is provided by 1000H memory (assumed) – In the machine cycle.</a:t>
            </a:r>
          </a:p>
          <a:p>
            <a:pPr fontAlgn="base">
              <a:buFont typeface="Arial" panose="020B0604020202020204" pitchFamily="34" charset="0"/>
              <a:buChar char="•"/>
            </a:pPr>
            <a:r>
              <a:rPr lang="en-GB" sz="1800" b="0" i="0" dirty="0">
                <a:effectLst/>
                <a:highlight>
                  <a:srgbClr val="FFFFFF"/>
                </a:highlight>
                <a:latin typeface="Nunito" pitchFamily="2" charset="0"/>
              </a:rPr>
              <a:t>Then read the sub address (00). – Memory reading machine cycle</a:t>
            </a:r>
          </a:p>
          <a:p>
            <a:pPr fontAlgn="base">
              <a:buFont typeface="Arial" panose="020B0604020202020204" pitchFamily="34" charset="0"/>
              <a:buChar char="•"/>
            </a:pPr>
            <a:r>
              <a:rPr lang="en-GB" sz="1800" b="0" i="0" dirty="0">
                <a:effectLst/>
                <a:highlight>
                  <a:srgbClr val="FFFFFF"/>
                </a:highlight>
                <a:latin typeface="Nunito" pitchFamily="2" charset="0"/>
              </a:rPr>
              <a:t>Read higher memory location (80) – Memory read machine cycle.</a:t>
            </a:r>
          </a:p>
          <a:p>
            <a:pPr fontAlgn="base">
              <a:buFont typeface="Arial" panose="020B0604020202020204" pitchFamily="34" charset="0"/>
              <a:buChar char="•"/>
            </a:pPr>
            <a:r>
              <a:rPr lang="en-GB" sz="1800" b="0" i="0" dirty="0">
                <a:effectLst/>
                <a:highlight>
                  <a:srgbClr val="FFFFFF"/>
                </a:highlight>
                <a:latin typeface="Nunito" pitchFamily="2" charset="0"/>
              </a:rPr>
              <a:t>Consider the combination of the two addresses and write the details of the accumulator for 8000. </a:t>
            </a:r>
          </a:p>
          <a:p>
            <a:pPr fontAlgn="base">
              <a:buFont typeface="Arial" panose="020B0604020202020204" pitchFamily="34" charset="0"/>
              <a:buChar char="•"/>
            </a:pPr>
            <a:r>
              <a:rPr lang="en-GB" sz="1800" b="0" i="0" dirty="0">
                <a:effectLst/>
                <a:highlight>
                  <a:srgbClr val="FFFFFF"/>
                </a:highlight>
                <a:latin typeface="Nunito" pitchFamily="2" charset="0"/>
              </a:rPr>
              <a:t>Assume the memory address for the instruction and let the content of accumulator is C7H. </a:t>
            </a:r>
          </a:p>
          <a:p>
            <a:pPr fontAlgn="base">
              <a:buFont typeface="Arial" panose="020B0604020202020204" pitchFamily="34" charset="0"/>
              <a:buChar char="•"/>
            </a:pPr>
            <a:r>
              <a:rPr lang="en-GB" sz="1800" b="0" i="0" dirty="0">
                <a:effectLst/>
                <a:highlight>
                  <a:srgbClr val="FFFFFF"/>
                </a:highlight>
                <a:latin typeface="Nunito" pitchFamily="2" charset="0"/>
              </a:rPr>
              <a:t>So, C7H from accumulator is now stored in 8000H.</a:t>
            </a:r>
          </a:p>
          <a:p>
            <a:endParaRPr lang="en-IN" sz="1800" dirty="0"/>
          </a:p>
        </p:txBody>
      </p:sp>
    </p:spTree>
    <p:extLst>
      <p:ext uri="{BB962C8B-B14F-4D97-AF65-F5344CB8AC3E}">
        <p14:creationId xmlns:p14="http://schemas.microsoft.com/office/powerpoint/2010/main" val="210058918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32AEEBC8-9D30-42EF-95F2-386C2653FB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F8596A8-E893-5E8B-D513-FA41D7D3C2F7}"/>
              </a:ext>
            </a:extLst>
          </p:cNvPr>
          <p:cNvSpPr>
            <a:spLocks noGrp="1"/>
          </p:cNvSpPr>
          <p:nvPr>
            <p:ph type="title"/>
          </p:nvPr>
        </p:nvSpPr>
        <p:spPr>
          <a:xfrm>
            <a:off x="630936" y="502920"/>
            <a:ext cx="3419856" cy="1463040"/>
          </a:xfrm>
        </p:spPr>
        <p:txBody>
          <a:bodyPr anchor="ctr">
            <a:normAutofit/>
          </a:bodyPr>
          <a:lstStyle/>
          <a:p>
            <a:endParaRPr lang="en-IN" sz="4800"/>
          </a:p>
        </p:txBody>
      </p:sp>
      <p:sp>
        <p:nvSpPr>
          <p:cNvPr id="18" name="sketch line">
            <a:extLst>
              <a:ext uri="{FF2B5EF4-FFF2-40B4-BE49-F238E27FC236}">
                <a16:creationId xmlns:a16="http://schemas.microsoft.com/office/drawing/2014/main" id="{2E92FA66-67D7-4CB4-94D3-E643A9AD47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566159" y="1225296"/>
            <a:ext cx="1554480" cy="18288"/>
          </a:xfrm>
          <a:custGeom>
            <a:avLst/>
            <a:gdLst>
              <a:gd name="connsiteX0" fmla="*/ 0 w 1554480"/>
              <a:gd name="connsiteY0" fmla="*/ 0 h 18288"/>
              <a:gd name="connsiteX1" fmla="*/ 549250 w 1554480"/>
              <a:gd name="connsiteY1" fmla="*/ 0 h 18288"/>
              <a:gd name="connsiteX2" fmla="*/ 1082954 w 1554480"/>
              <a:gd name="connsiteY2" fmla="*/ 0 h 18288"/>
              <a:gd name="connsiteX3" fmla="*/ 1554480 w 1554480"/>
              <a:gd name="connsiteY3" fmla="*/ 0 h 18288"/>
              <a:gd name="connsiteX4" fmla="*/ 1554480 w 1554480"/>
              <a:gd name="connsiteY4" fmla="*/ 18288 h 18288"/>
              <a:gd name="connsiteX5" fmla="*/ 1067410 w 1554480"/>
              <a:gd name="connsiteY5" fmla="*/ 18288 h 18288"/>
              <a:gd name="connsiteX6" fmla="*/ 549250 w 1554480"/>
              <a:gd name="connsiteY6" fmla="*/ 18288 h 18288"/>
              <a:gd name="connsiteX7" fmla="*/ 0 w 1554480"/>
              <a:gd name="connsiteY7" fmla="*/ 18288 h 18288"/>
              <a:gd name="connsiteX8" fmla="*/ 0 w 1554480"/>
              <a:gd name="connsiteY8"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54480" h="18288" fill="none" extrusionOk="0">
                <a:moveTo>
                  <a:pt x="0" y="0"/>
                </a:moveTo>
                <a:cubicBezTo>
                  <a:pt x="114141" y="-19864"/>
                  <a:pt x="345055" y="-1657"/>
                  <a:pt x="549250" y="0"/>
                </a:cubicBezTo>
                <a:cubicBezTo>
                  <a:pt x="753445" y="1657"/>
                  <a:pt x="862292" y="-5674"/>
                  <a:pt x="1082954" y="0"/>
                </a:cubicBezTo>
                <a:cubicBezTo>
                  <a:pt x="1303616" y="5674"/>
                  <a:pt x="1363530" y="4537"/>
                  <a:pt x="1554480" y="0"/>
                </a:cubicBezTo>
                <a:cubicBezTo>
                  <a:pt x="1554963" y="7176"/>
                  <a:pt x="1553909" y="13682"/>
                  <a:pt x="1554480" y="18288"/>
                </a:cubicBezTo>
                <a:cubicBezTo>
                  <a:pt x="1338847" y="6127"/>
                  <a:pt x="1215066" y="37851"/>
                  <a:pt x="1067410" y="18288"/>
                </a:cubicBezTo>
                <a:cubicBezTo>
                  <a:pt x="919754" y="-1275"/>
                  <a:pt x="800465" y="3080"/>
                  <a:pt x="549250" y="18288"/>
                </a:cubicBezTo>
                <a:cubicBezTo>
                  <a:pt x="298035" y="33496"/>
                  <a:pt x="158868" y="22769"/>
                  <a:pt x="0" y="18288"/>
                </a:cubicBezTo>
                <a:cubicBezTo>
                  <a:pt x="-655" y="13237"/>
                  <a:pt x="709" y="4645"/>
                  <a:pt x="0" y="0"/>
                </a:cubicBezTo>
                <a:close/>
              </a:path>
              <a:path w="1554480" h="18288" stroke="0" extrusionOk="0">
                <a:moveTo>
                  <a:pt x="0" y="0"/>
                </a:moveTo>
                <a:cubicBezTo>
                  <a:pt x="249941" y="-58"/>
                  <a:pt x="367334" y="23448"/>
                  <a:pt x="502615" y="0"/>
                </a:cubicBezTo>
                <a:cubicBezTo>
                  <a:pt x="637897" y="-23448"/>
                  <a:pt x="813653" y="-20418"/>
                  <a:pt x="974141" y="0"/>
                </a:cubicBezTo>
                <a:cubicBezTo>
                  <a:pt x="1134629" y="20418"/>
                  <a:pt x="1268772" y="6288"/>
                  <a:pt x="1554480" y="0"/>
                </a:cubicBezTo>
                <a:cubicBezTo>
                  <a:pt x="1554917" y="7222"/>
                  <a:pt x="1555359" y="13299"/>
                  <a:pt x="1554480" y="18288"/>
                </a:cubicBezTo>
                <a:cubicBezTo>
                  <a:pt x="1336087" y="12172"/>
                  <a:pt x="1310024" y="19759"/>
                  <a:pt x="1067410" y="18288"/>
                </a:cubicBezTo>
                <a:cubicBezTo>
                  <a:pt x="824796" y="16818"/>
                  <a:pt x="787902" y="34647"/>
                  <a:pt x="518160" y="18288"/>
                </a:cubicBezTo>
                <a:cubicBezTo>
                  <a:pt x="248418" y="1930"/>
                  <a:pt x="133160" y="9205"/>
                  <a:pt x="0" y="18288"/>
                </a:cubicBezTo>
                <a:cubicBezTo>
                  <a:pt x="-643" y="9451"/>
                  <a:pt x="-340" y="7114"/>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5AFAB5A2-5B62-FDD2-C862-196643609E56}"/>
              </a:ext>
            </a:extLst>
          </p:cNvPr>
          <p:cNvSpPr>
            <a:spLocks noGrp="1"/>
          </p:cNvSpPr>
          <p:nvPr>
            <p:ph idx="1"/>
          </p:nvPr>
        </p:nvSpPr>
        <p:spPr>
          <a:xfrm>
            <a:off x="4654295" y="502920"/>
            <a:ext cx="6894576" cy="1463040"/>
          </a:xfrm>
        </p:spPr>
        <p:txBody>
          <a:bodyPr anchor="ctr">
            <a:normAutofit/>
          </a:bodyPr>
          <a:lstStyle/>
          <a:p>
            <a:endParaRPr lang="en-IN" sz="2200" dirty="0"/>
          </a:p>
        </p:txBody>
      </p:sp>
      <p:pic>
        <p:nvPicPr>
          <p:cNvPr id="6" name="Picture 5">
            <a:extLst>
              <a:ext uri="{FF2B5EF4-FFF2-40B4-BE49-F238E27FC236}">
                <a16:creationId xmlns:a16="http://schemas.microsoft.com/office/drawing/2014/main" id="{896F3B2B-D5FC-C524-8858-C4BA1EC2CE72}"/>
              </a:ext>
            </a:extLst>
          </p:cNvPr>
          <p:cNvPicPr>
            <a:picLocks noChangeAspect="1"/>
          </p:cNvPicPr>
          <p:nvPr/>
        </p:nvPicPr>
        <p:blipFill>
          <a:blip r:embed="rId2"/>
          <a:stretch>
            <a:fillRect/>
          </a:stretch>
        </p:blipFill>
        <p:spPr>
          <a:xfrm>
            <a:off x="1261426" y="2290936"/>
            <a:ext cx="9656956" cy="3959352"/>
          </a:xfrm>
          <a:prstGeom prst="rect">
            <a:avLst/>
          </a:prstGeom>
        </p:spPr>
      </p:pic>
    </p:spTree>
    <p:extLst>
      <p:ext uri="{BB962C8B-B14F-4D97-AF65-F5344CB8AC3E}">
        <p14:creationId xmlns:p14="http://schemas.microsoft.com/office/powerpoint/2010/main" val="42627050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170</TotalTime>
  <Words>2143</Words>
  <Application>Microsoft Office PowerPoint</Application>
  <PresentationFormat>Widescreen</PresentationFormat>
  <Paragraphs>171</Paragraphs>
  <Slides>26</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26</vt:i4>
      </vt:variant>
    </vt:vector>
  </HeadingPairs>
  <TitlesOfParts>
    <vt:vector size="32" baseType="lpstr">
      <vt:lpstr>Aptos</vt:lpstr>
      <vt:lpstr>Arial</vt:lpstr>
      <vt:lpstr>Calibri</vt:lpstr>
      <vt:lpstr>Calibri Light</vt:lpstr>
      <vt:lpstr>Nunito</vt:lpstr>
      <vt:lpstr>Office Theme</vt:lpstr>
      <vt:lpstr>8085 Instruction Types &amp; Execution</vt:lpstr>
      <vt:lpstr>8085 - Instruction Word Size</vt:lpstr>
      <vt:lpstr>PowerPoint Presentation</vt:lpstr>
      <vt:lpstr>Opcode Format</vt:lpstr>
      <vt:lpstr>Opcodes for instructions</vt:lpstr>
      <vt:lpstr>Program stored in Memory</vt:lpstr>
      <vt:lpstr>Addressing Modes - 8085</vt:lpstr>
      <vt:lpstr>Timing &amp; Control</vt:lpstr>
      <vt:lpstr>Timing Diagram</vt:lpstr>
      <vt:lpstr>Signals</vt:lpstr>
      <vt:lpstr>Control Signals</vt:lpstr>
      <vt:lpstr>ALE</vt:lpstr>
      <vt:lpstr>Read/Write</vt:lpstr>
      <vt:lpstr>8085 Machine Cycles</vt:lpstr>
      <vt:lpstr>Opcode Fetch Machine Cycle of 8085</vt:lpstr>
      <vt:lpstr>PowerPoint Presentation</vt:lpstr>
      <vt:lpstr>PowerPoint Presentation</vt:lpstr>
      <vt:lpstr>PowerPoint Presentation</vt:lpstr>
      <vt:lpstr>Memory R/W</vt:lpstr>
      <vt:lpstr>PowerPoint Presentation</vt:lpstr>
      <vt:lpstr>I/O R &amp; W</vt:lpstr>
      <vt:lpstr>PowerPoint Presentation</vt:lpstr>
      <vt:lpstr>Timing Diagram of MOV A,B</vt:lpstr>
      <vt:lpstr>Timing Diagram of MVI A,45H </vt:lpstr>
      <vt:lpstr>Timing Diagram of STA 8000H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 Swapna M P</dc:creator>
  <cp:lastModifiedBy>Dr. Swapna M P</cp:lastModifiedBy>
  <cp:revision>21</cp:revision>
  <dcterms:created xsi:type="dcterms:W3CDTF">2024-05-20T02:45:28Z</dcterms:created>
  <dcterms:modified xsi:type="dcterms:W3CDTF">2024-05-21T04:32:05Z</dcterms:modified>
</cp:coreProperties>
</file>